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embeddedFontLst>
    <p:embeddedFont>
      <p:font typeface="Cambria" panose="02040503050406030204" pitchFamily="18" charset="0"/>
      <p:regular r:id="rId26"/>
      <p:bold r:id="rId27"/>
      <p:italic r:id="rId28"/>
      <p:boldItalic r:id="rId29"/>
    </p:embeddedFont>
    <p:embeddedFont>
      <p:font typeface="Consolas" panose="020B0609020204030204" pitchFamily="49" charset="0"/>
      <p:regular r:id="rId30"/>
      <p:bold r:id="rId31"/>
      <p:italic r:id="rId32"/>
      <p:boldItalic r:id="rId33"/>
    </p:embeddedFont>
    <p:embeddedFont>
      <p:font typeface="Segoe UI" panose="020B0502040204020203" pitchFamily="34" charset="0"/>
      <p:regular r:id="rId34"/>
      <p:bold r:id="rId35"/>
      <p:italic r:id="rId36"/>
      <p:boldItalic r:id="rId37"/>
    </p:embeddedFont>
    <p:embeddedFont>
      <p:font typeface="Segoe UI Light" panose="020B0502040204020203" pitchFamily="34" charset="0"/>
      <p:regular r:id="rId38"/>
      <p:italic r:id="rId39"/>
    </p:embeddedFont>
    <p:embeddedFont>
      <p:font typeface="Segoe UI Semibold" panose="020B0702040204020203" pitchFamily="34" charset="0"/>
      <p:bold r:id="rId40"/>
      <p:boldItalic r:id="rId4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3B0D374-840C-4EFA-8918-CB56E6FED57B}">
          <p14:sldIdLst>
            <p14:sldId id="256"/>
            <p14:sldId id="257"/>
            <p14:sldId id="258"/>
            <p14:sldId id="259"/>
            <p14:sldId id="260"/>
            <p14:sldId id="261"/>
          </p14:sldIdLst>
        </p14:section>
        <p14:section name="System" id="{5BB7C97E-99F4-4E9C-9690-04DBC1C4F953}">
          <p14:sldIdLst>
            <p14:sldId id="262"/>
            <p14:sldId id="263"/>
          </p14:sldIdLst>
        </p14:section>
        <p14:section name="Method and implementation" id="{02320DD8-8749-4DC4-A93A-A50115E1B304}">
          <p14:sldIdLst>
            <p14:sldId id="264"/>
            <p14:sldId id="265"/>
            <p14:sldId id="266"/>
            <p14:sldId id="267"/>
            <p14:sldId id="268"/>
          </p14:sldIdLst>
        </p14:section>
        <p14:section name="Key features and live demo" id="{1163D06C-0042-453D-8FBE-FBB9312D753B}">
          <p14:sldIdLst>
            <p14:sldId id="269"/>
            <p14:sldId id="270"/>
            <p14:sldId id="271"/>
          </p14:sldIdLst>
        </p14:section>
        <p14:section name="Results" id="{7AF1BC8F-6F37-458B-9459-E19852E5B310}">
          <p14:sldIdLst>
            <p14:sldId id="272"/>
            <p14:sldId id="273"/>
            <p14:sldId id="274"/>
          </p14:sldIdLst>
        </p14:section>
        <p14:section name="Wrap-up" id="{DB2A1299-524B-40E0-AA7D-D312F8091F25}">
          <p14:sldIdLst>
            <p14:sldId id="275"/>
            <p14:sldId id="276"/>
            <p14:sldId id="277"/>
            <p14:sldId id="27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font" Target="fonts/font3.fntdata"/><Relationship Id="rId29" Type="http://schemas.openxmlformats.org/officeDocument/2006/relationships/font" Target="fonts/font4.fntdata"/><Relationship Id="rId30" Type="http://schemas.openxmlformats.org/officeDocument/2006/relationships/font" Target="fonts/font5.fntdata"/><Relationship Id="rId31" Type="http://schemas.openxmlformats.org/officeDocument/2006/relationships/font" Target="fonts/font6.fntdata"/><Relationship Id="rId32" Type="http://schemas.openxmlformats.org/officeDocument/2006/relationships/font" Target="fonts/font7.fntdata"/><Relationship Id="rId33" Type="http://schemas.openxmlformats.org/officeDocument/2006/relationships/font" Target="fonts/font8.fntdata"/><Relationship Id="rId34" Type="http://schemas.openxmlformats.org/officeDocument/2006/relationships/font" Target="fonts/font9.fntdata"/><Relationship Id="rId35" Type="http://schemas.openxmlformats.org/officeDocument/2006/relationships/font" Target="fonts/font10.fntdata"/><Relationship Id="rId36" Type="http://schemas.openxmlformats.org/officeDocument/2006/relationships/font" Target="fonts/font11.fntdata"/><Relationship Id="rId37" Type="http://schemas.openxmlformats.org/officeDocument/2006/relationships/font" Target="fonts/font12.fntdata"/><Relationship Id="rId38" Type="http://schemas.openxmlformats.org/officeDocument/2006/relationships/font" Target="fonts/font13.fntdata"/><Relationship Id="rId39" Type="http://schemas.openxmlformats.org/officeDocument/2006/relationships/font" Target="fonts/font14.fntdata"/><Relationship Id="rId40" Type="http://schemas.openxmlformats.org/officeDocument/2006/relationships/font" Target="fonts/font15.fntdata"/><Relationship Id="rId41" Type="http://schemas.openxmlformats.org/officeDocument/2006/relationships/font" Target="fonts/font16.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Persistence · SPY</c:v>
                </c:pt>
              </c:strCache>
            </c:strRef>
          </c:tx>
          <c:spPr>
            <a:ln w="28575">
              <a:solidFill>
                <a:srgbClr val="4CC9F0"/>
              </a:solidFill>
            </a:ln>
          </c:spPr>
          <c:marker>
            <c:symbol val="circle"/>
            <c:size val="7"/>
            <c:spPr>
              <a:solidFill>
                <a:srgbClr val="4CC9F0"/>
              </a:solidFill>
              <a:ln>
                <a:solidFill>
                  <a:srgbClr val="0A0E14"/>
                </a:solidFill>
              </a:ln>
            </c:spPr>
          </c:marker>
          <c:xVal>
            <c:numRef>
              <c:f>Sheet1!$A$2:$A$6</c:f>
              <c:numCache>
                <c:formatCode>General</c:formatCode>
                <c:ptCount val="5"/>
                <c:pt idx="0">
                  <c:v>0</c:v>
                </c:pt>
                <c:pt idx="1">
                  <c:v>5</c:v>
                </c:pt>
                <c:pt idx="2">
                  <c:v>10</c:v>
                </c:pt>
                <c:pt idx="3">
                  <c:v>20</c:v>
                </c:pt>
                <c:pt idx="4">
                  <c:v>40</c:v>
                </c:pt>
              </c:numCache>
            </c:numRef>
          </c:xVal>
          <c:yVal>
            <c:numRef>
              <c:f>Sheet1!$B$2:$B$6</c:f>
              <c:numCache>
                <c:formatCode>General</c:formatCode>
                <c:ptCount val="5"/>
                <c:pt idx="0">
                  <c:v>0.25094479325735369</c:v>
                </c:pt>
                <c:pt idx="1">
                  <c:v>-0.30681957538505139</c:v>
                </c:pt>
                <c:pt idx="2">
                  <c:v>-0.86320140454182359</c:v>
                </c:pt>
                <c:pt idx="3">
                  <c:v>-1.9634523008115865</c:v>
                </c:pt>
                <c:pt idx="4">
                  <c:v>-4.0609899133574219</c:v>
                </c:pt>
              </c:numCache>
            </c:numRef>
          </c:yVal>
          <c:smooth val="0"/>
          <c:extLst>
            <c:ext xmlns:c16="http://schemas.microsoft.com/office/drawing/2014/chart" uri="{C3380CC4-5D6E-409C-BE32-E72D297353CC}">
              <c16:uniqueId val="{00000000-77CD-4807-970B-570F3B346DF5}"/>
            </c:ext>
          </c:extLst>
        </c:ser>
        <c:ser>
          <c:idx val="1"/>
          <c:order val="1"/>
          <c:tx>
            <c:strRef>
              <c:f>Sheet1!$B$8</c:f>
              <c:strCache>
                <c:ptCount val="1"/>
                <c:pt idx="0">
                  <c:v>Persistence · AAPL</c:v>
                </c:pt>
              </c:strCache>
            </c:strRef>
          </c:tx>
          <c:spPr>
            <a:ln w="28575">
              <a:solidFill>
                <a:srgbClr val="A78BFA"/>
              </a:solidFill>
            </a:ln>
          </c:spPr>
          <c:marker>
            <c:symbol val="circle"/>
            <c:size val="7"/>
            <c:spPr>
              <a:solidFill>
                <a:srgbClr val="A78BFA"/>
              </a:solidFill>
              <a:ln>
                <a:solidFill>
                  <a:srgbClr val="0A0E14"/>
                </a:solidFill>
              </a:ln>
            </c:spPr>
          </c:marker>
          <c:xVal>
            <c:numRef>
              <c:f>Sheet1!$A$9:$A$13</c:f>
              <c:numCache>
                <c:formatCode>General</c:formatCode>
                <c:ptCount val="5"/>
                <c:pt idx="0">
                  <c:v>0</c:v>
                </c:pt>
                <c:pt idx="1">
                  <c:v>5</c:v>
                </c:pt>
                <c:pt idx="2">
                  <c:v>10</c:v>
                </c:pt>
                <c:pt idx="3">
                  <c:v>20</c:v>
                </c:pt>
                <c:pt idx="4">
                  <c:v>40</c:v>
                </c:pt>
              </c:numCache>
            </c:numRef>
          </c:xVal>
          <c:yVal>
            <c:numRef>
              <c:f>Sheet1!$B$9:$B$13</c:f>
              <c:numCache>
                <c:formatCode>General</c:formatCode>
                <c:ptCount val="5"/>
                <c:pt idx="0">
                  <c:v>0.311194866714743</c:v>
                </c:pt>
                <c:pt idx="1">
                  <c:v>-1.8457266500791401E-2</c:v>
                </c:pt>
                <c:pt idx="2">
                  <c:v>-0.34829049244357729</c:v>
                </c:pt>
                <c:pt idx="3">
                  <c:v>-1.0066828845732581</c:v>
                </c:pt>
                <c:pt idx="4">
                  <c:v>-2.3059111058866444</c:v>
                </c:pt>
              </c:numCache>
            </c:numRef>
          </c:yVal>
          <c:smooth val="0"/>
          <c:extLst>
            <c:ext xmlns:c16="http://schemas.microsoft.com/office/drawing/2014/chart" uri="{C3380CC4-5D6E-409C-BE32-E72D297353CC}">
              <c16:uniqueId val="{00000001-77CD-4807-970B-570F3B346DF5}"/>
            </c:ext>
          </c:extLst>
        </c:ser>
        <c:ser>
          <c:idx val="2"/>
          <c:order val="2"/>
          <c:tx>
            <c:strRef>
              <c:f>Sheet1!$B$15</c:f>
              <c:strCache>
                <c:ptCount val="1"/>
                <c:pt idx="0">
                  <c:v>Persistence · MSFT</c:v>
                </c:pt>
              </c:strCache>
            </c:strRef>
          </c:tx>
          <c:spPr>
            <a:ln w="28575">
              <a:solidFill>
                <a:srgbClr val="3DDBB4"/>
              </a:solidFill>
            </a:ln>
          </c:spPr>
          <c:marker>
            <c:symbol val="circle"/>
            <c:size val="7"/>
            <c:spPr>
              <a:solidFill>
                <a:srgbClr val="3DDBB4"/>
              </a:solidFill>
              <a:ln>
                <a:solidFill>
                  <a:srgbClr val="0A0E14"/>
                </a:solidFill>
              </a:ln>
            </c:spPr>
          </c:marker>
          <c:xVal>
            <c:numRef>
              <c:f>Sheet1!$A$16:$A$20</c:f>
              <c:numCache>
                <c:formatCode>General</c:formatCode>
                <c:ptCount val="5"/>
                <c:pt idx="0">
                  <c:v>0</c:v>
                </c:pt>
                <c:pt idx="1">
                  <c:v>5</c:v>
                </c:pt>
                <c:pt idx="2">
                  <c:v>10</c:v>
                </c:pt>
                <c:pt idx="3">
                  <c:v>20</c:v>
                </c:pt>
                <c:pt idx="4">
                  <c:v>40</c:v>
                </c:pt>
              </c:numCache>
            </c:numRef>
          </c:xVal>
          <c:yVal>
            <c:numRef>
              <c:f>Sheet1!$B$16:$B$20</c:f>
              <c:numCache>
                <c:formatCode>General</c:formatCode>
                <c:ptCount val="5"/>
                <c:pt idx="0">
                  <c:v>0.27699657282542128</c:v>
                </c:pt>
                <c:pt idx="1">
                  <c:v>-4.5332921410528602E-2</c:v>
                </c:pt>
                <c:pt idx="2">
                  <c:v>-0.36795911068110931</c:v>
                </c:pt>
                <c:pt idx="3">
                  <c:v>-1.012486423646646</c:v>
                </c:pt>
                <c:pt idx="4">
                  <c:v>-2.2874873543963079</c:v>
                </c:pt>
              </c:numCache>
            </c:numRef>
          </c:yVal>
          <c:smooth val="0"/>
          <c:extLst>
            <c:ext xmlns:c16="http://schemas.microsoft.com/office/drawing/2014/chart" uri="{C3380CC4-5D6E-409C-BE32-E72D297353CC}">
              <c16:uniqueId val="{00000002-77CD-4807-970B-570F3B346DF5}"/>
            </c:ext>
          </c:extLst>
        </c:ser>
        <c:ser>
          <c:idx val="3"/>
          <c:order val="3"/>
          <c:tx>
            <c:strRef>
              <c:f>Sheet1!$B$22</c:f>
              <c:strCache>
                <c:ptCount val="1"/>
                <c:pt idx="0">
                  <c:v>Buy-and-hold · SPY</c:v>
                </c:pt>
              </c:strCache>
            </c:strRef>
          </c:tx>
          <c:spPr>
            <a:ln w="28575">
              <a:solidFill>
                <a:srgbClr val="EAF0F6"/>
              </a:solidFill>
              <a:prstDash val="dash"/>
            </a:ln>
          </c:spPr>
          <c:marker>
            <c:symbol val="none"/>
          </c:marker>
          <c:xVal>
            <c:numRef>
              <c:f>Sheet1!$A$23:$A$27</c:f>
              <c:numCache>
                <c:formatCode>General</c:formatCode>
                <c:ptCount val="5"/>
                <c:pt idx="0">
                  <c:v>0</c:v>
                </c:pt>
                <c:pt idx="1">
                  <c:v>5</c:v>
                </c:pt>
                <c:pt idx="2">
                  <c:v>10</c:v>
                </c:pt>
                <c:pt idx="3">
                  <c:v>20</c:v>
                </c:pt>
                <c:pt idx="4">
                  <c:v>40</c:v>
                </c:pt>
              </c:numCache>
            </c:numRef>
          </c:xVal>
          <c:yVal>
            <c:numRef>
              <c:f>Sheet1!$B$23:$B$27</c:f>
              <c:numCache>
                <c:formatCode>General</c:formatCode>
                <c:ptCount val="5"/>
                <c:pt idx="0">
                  <c:v>0.66337394982133535</c:v>
                </c:pt>
                <c:pt idx="1">
                  <c:v>0.66267716529660026</c:v>
                </c:pt>
                <c:pt idx="2">
                  <c:v>0.66197917592289179</c:v>
                </c:pt>
                <c:pt idx="3">
                  <c:v>0.66057959882792217</c:v>
                </c:pt>
                <c:pt idx="4">
                  <c:v>0.65776616573274771</c:v>
                </c:pt>
              </c:numCache>
            </c:numRef>
          </c:yVal>
          <c:smooth val="0"/>
          <c:extLst>
            <c:ext xmlns:c16="http://schemas.microsoft.com/office/drawing/2014/chart" uri="{C3380CC4-5D6E-409C-BE32-E72D297353CC}">
              <c16:uniqueId val="{00000003-77CD-4807-970B-570F3B346DF5}"/>
            </c:ext>
          </c:extLst>
        </c:ser>
        <c:dLbls>
          <c:showLegendKey val="0"/>
          <c:showVal val="0"/>
          <c:showCatName val="0"/>
          <c:showSerName val="0"/>
          <c:showPercent val="0"/>
          <c:showBubbleSize val="0"/>
        </c:dLbls>
        <c:axId val="-2128940872"/>
        <c:axId val="-2129643912"/>
      </c:scatterChart>
      <c:valAx>
        <c:axId val="-2128940872"/>
        <c:scaling>
          <c:orientation val="minMax"/>
          <c:max val="40"/>
          <c:min val="0"/>
        </c:scaling>
        <c:delete val="0"/>
        <c:axPos val="b"/>
        <c:title>
          <c:tx>
            <c:rich>
              <a:bodyPr/>
              <a:lstStyle/>
              <a:p>
                <a:r>
                  <a:rPr sz="1100" b="0">
                    <a:solidFill>
                      <a:srgbClr val="8291A2"/>
                    </a:solidFill>
                    <a:latin typeface="Segoe UI"/>
                  </a:rPr>
                  <a:t>one-way cost per unit turnover (bps)</a:t>
                </a:r>
              </a:p>
            </c:rich>
          </c:tx>
          <c:overlay val="0"/>
        </c:title>
        <c:numFmt formatCode="0" sourceLinked="0"/>
        <c:majorTickMark val="none"/>
        <c:minorTickMark val="none"/>
        <c:tickLblPos val="low"/>
        <c:spPr>
          <a:ln w="15875">
            <a:solidFill>
              <a:srgbClr val="3A4D63"/>
            </a:solidFill>
          </a:ln>
        </c:spPr>
        <c:txPr>
          <a:bodyPr/>
          <a:lstStyle/>
          <a:p>
            <a:pPr>
              <a:defRPr sz="1200">
                <a:solidFill>
                  <a:srgbClr val="AAB6C3"/>
                </a:solidFill>
              </a:defRPr>
            </a:pPr>
            <a:endParaRPr lang="en-US"/>
          </a:p>
        </c:txPr>
        <c:crossAx val="-2129643912"/>
        <c:crosses val="autoZero"/>
        <c:crossBetween val="midCat"/>
        <c:majorUnit val="10"/>
      </c:valAx>
      <c:valAx>
        <c:axId val="-2129643912"/>
        <c:scaling>
          <c:orientation val="minMax"/>
          <c:max val="1"/>
          <c:min val="-5"/>
        </c:scaling>
        <c:delete val="0"/>
        <c:axPos val="l"/>
        <c:majorGridlines>
          <c:spPr>
            <a:ln w="9525">
              <a:solidFill>
                <a:srgbClr val="243245"/>
              </a:solidFill>
            </a:ln>
          </c:spPr>
        </c:majorGridlines>
        <c:numFmt formatCode="0" sourceLinked="0"/>
        <c:majorTickMark val="none"/>
        <c:minorTickMark val="none"/>
        <c:tickLblPos val="nextTo"/>
        <c:spPr>
          <a:ln>
            <a:noFill/>
          </a:ln>
        </c:spPr>
        <c:txPr>
          <a:bodyPr/>
          <a:lstStyle/>
          <a:p>
            <a:pPr>
              <a:defRPr sz="1100">
                <a:solidFill>
                  <a:srgbClr val="8291A2"/>
                </a:solidFill>
              </a:defRPr>
            </a:pPr>
            <a:endParaRPr lang="en-US"/>
          </a:p>
        </c:txPr>
        <c:crossAx val="-2128940872"/>
        <c:crosses val="autoZero"/>
        <c:crossBetween val="midCat"/>
        <c:majorUnit val="1"/>
      </c:valAx>
      <c:spPr>
        <a:noFill/>
        <a:ln>
          <a:noFill/>
        </a:ln>
      </c:spPr>
    </c:plotArea>
    <c:legend>
      <c:legendPos val="r"/>
      <c:overlay val="0"/>
      <c:txPr>
        <a:bodyPr/>
        <a:lstStyle/>
        <a:p>
          <a:pPr>
            <a:defRPr sz="1200">
              <a:solidFill>
                <a:srgbClr val="AAB6C3"/>
              </a:solidFill>
            </a:defRPr>
          </a:pPr>
          <a:endParaRPr lang="en-US"/>
        </a:p>
      </c:txPr>
    </c:legend>
    <c:plotVisOnly val="1"/>
    <c:dispBlanksAs val="gap"/>
    <c:showDLblsOverMax val="0"/>
  </c:chart>
  <c:spPr>
    <a:noFill/>
    <a:ln>
      <a:noFill/>
    </a:ln>
  </c:spPr>
  <c:txPr>
    <a:bodyPr/>
    <a:lstStyle/>
    <a:p>
      <a:pPr>
        <a:defRPr sz="1200">
          <a:solidFill>
            <a:srgbClr val="AAB6C3"/>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SPY</c:v>
                </c:pt>
              </c:strCache>
            </c:strRef>
          </c:tx>
          <c:spPr>
            <a:solidFill>
              <a:srgbClr val="4CC9F0"/>
            </a:solidFill>
            <a:ln>
              <a:noFill/>
            </a:ln>
          </c:spPr>
          <c:invertIfNegative val="0"/>
          <c:errBars>
            <c:errBarType val="both"/>
            <c:errValType val="cust"/>
            <c:noEndCap val="0"/>
            <c:plus>
              <c:numLit>
                <c:formatCode>General</c:formatCode>
                <c:ptCount val="5"/>
                <c:pt idx="0">
                  <c:v>0.49950049950050002</c:v>
                </c:pt>
                <c:pt idx="1">
                  <c:v>9.9900099900100015E-2</c:v>
                </c:pt>
                <c:pt idx="2">
                  <c:v>1.4985014985014999</c:v>
                </c:pt>
                <c:pt idx="3">
                  <c:v>0.89910089910088997</c:v>
                </c:pt>
                <c:pt idx="4">
                  <c:v>0.29970029970030004</c:v>
                </c:pt>
              </c:numLit>
            </c:plus>
            <c:minus>
              <c:numLit>
                <c:formatCode>General</c:formatCode>
                <c:ptCount val="5"/>
                <c:pt idx="0">
                  <c:v>0.39960039960038002</c:v>
                </c:pt>
                <c:pt idx="1">
                  <c:v>0.19980019980019997</c:v>
                </c:pt>
                <c:pt idx="2">
                  <c:v>1.6983016983016901</c:v>
                </c:pt>
                <c:pt idx="3">
                  <c:v>0.99900099900098993</c:v>
                </c:pt>
                <c:pt idx="4">
                  <c:v>0.39960039960039007</c:v>
                </c:pt>
              </c:numLit>
            </c:minus>
            <c:spPr>
              <a:ln w="12700">
                <a:solidFill>
                  <a:srgbClr val="9AA8B7"/>
                </a:solidFill>
              </a:ln>
            </c:spPr>
          </c:errBars>
          <c:cat>
            <c:strRef>
              <c:f>Sheet1!$A$2:$A$6</c:f>
              <c:strCache>
                <c:ptCount val="5"/>
                <c:pt idx="0">
                  <c:v>LR</c:v>
                </c:pt>
                <c:pt idx="1">
                  <c:v>RF</c:v>
                </c:pt>
                <c:pt idx="2">
                  <c:v>XGB</c:v>
                </c:pt>
                <c:pt idx="3">
                  <c:v>LSTM</c:v>
                </c:pt>
                <c:pt idx="4">
                  <c:v>Ens</c:v>
                </c:pt>
              </c:strCache>
            </c:strRef>
          </c:cat>
          <c:val>
            <c:numRef>
              <c:f>Sheet1!$B$2:$B$6</c:f>
              <c:numCache>
                <c:formatCode>0.0</c:formatCode>
                <c:ptCount val="5"/>
                <c:pt idx="0">
                  <c:v>0.2</c:v>
                </c:pt>
                <c:pt idx="1">
                  <c:v>-0.1</c:v>
                </c:pt>
                <c:pt idx="2">
                  <c:v>-2.2999999999999998</c:v>
                </c:pt>
                <c:pt idx="3">
                  <c:v>-0.2</c:v>
                </c:pt>
                <c:pt idx="4">
                  <c:v>-0.2</c:v>
                </c:pt>
              </c:numCache>
            </c:numRef>
          </c:val>
          <c:extLst>
            <c:ext xmlns:c16="http://schemas.microsoft.com/office/drawing/2014/chart" uri="{C3380CC4-5D6E-409C-BE32-E72D297353CC}">
              <c16:uniqueId val="{00000000-C3ED-44B8-9008-B1B09E6CF2B1}"/>
            </c:ext>
          </c:extLst>
        </c:ser>
        <c:ser>
          <c:idx val="1"/>
          <c:order val="1"/>
          <c:tx>
            <c:strRef>
              <c:f>Sheet1!$C$1</c:f>
              <c:strCache>
                <c:ptCount val="1"/>
                <c:pt idx="0">
                  <c:v>AAPL</c:v>
                </c:pt>
              </c:strCache>
            </c:strRef>
          </c:tx>
          <c:spPr>
            <a:solidFill>
              <a:srgbClr val="A78BFA"/>
            </a:solidFill>
            <a:ln>
              <a:noFill/>
            </a:ln>
          </c:spPr>
          <c:invertIfNegative val="0"/>
          <c:errBars>
            <c:errBarType val="both"/>
            <c:errValType val="cust"/>
            <c:noEndCap val="0"/>
            <c:plus>
              <c:numLit>
                <c:formatCode>General</c:formatCode>
                <c:ptCount val="5"/>
                <c:pt idx="0">
                  <c:v>3.0969030969031004</c:v>
                </c:pt>
                <c:pt idx="1">
                  <c:v>1.6983016983016901</c:v>
                </c:pt>
                <c:pt idx="2">
                  <c:v>2.5974025974025898</c:v>
                </c:pt>
                <c:pt idx="3">
                  <c:v>2.6973026973026801</c:v>
                </c:pt>
                <c:pt idx="4">
                  <c:v>2.19780219780219</c:v>
                </c:pt>
              </c:numLit>
            </c:plus>
            <c:minus>
              <c:numLit>
                <c:formatCode>General</c:formatCode>
                <c:ptCount val="5"/>
                <c:pt idx="0">
                  <c:v>2.7972027972027904</c:v>
                </c:pt>
                <c:pt idx="1">
                  <c:v>1.7007992007991901</c:v>
                </c:pt>
                <c:pt idx="2">
                  <c:v>2.4975024975025</c:v>
                </c:pt>
                <c:pt idx="3">
                  <c:v>2.5974025974025996</c:v>
                </c:pt>
                <c:pt idx="4">
                  <c:v>2.0979020979021001</c:v>
                </c:pt>
              </c:numLit>
            </c:minus>
            <c:spPr>
              <a:ln w="12700">
                <a:solidFill>
                  <a:srgbClr val="9AA8B7"/>
                </a:solidFill>
              </a:ln>
            </c:spPr>
          </c:errBars>
          <c:cat>
            <c:strRef>
              <c:f>Sheet1!$A$2:$A$6</c:f>
              <c:strCache>
                <c:ptCount val="5"/>
                <c:pt idx="0">
                  <c:v>LR</c:v>
                </c:pt>
                <c:pt idx="1">
                  <c:v>RF</c:v>
                </c:pt>
                <c:pt idx="2">
                  <c:v>XGB</c:v>
                </c:pt>
                <c:pt idx="3">
                  <c:v>LSTM</c:v>
                </c:pt>
                <c:pt idx="4">
                  <c:v>Ens</c:v>
                </c:pt>
              </c:strCache>
            </c:strRef>
          </c:cat>
          <c:val>
            <c:numRef>
              <c:f>Sheet1!$C$2:$C$6</c:f>
              <c:numCache>
                <c:formatCode>0.0</c:formatCode>
                <c:ptCount val="5"/>
                <c:pt idx="0">
                  <c:v>-2.2000000000000002</c:v>
                </c:pt>
                <c:pt idx="1">
                  <c:v>-0.2</c:v>
                </c:pt>
                <c:pt idx="2">
                  <c:v>-0.6</c:v>
                </c:pt>
                <c:pt idx="3">
                  <c:v>-1</c:v>
                </c:pt>
                <c:pt idx="4">
                  <c:v>-0.1</c:v>
                </c:pt>
              </c:numCache>
            </c:numRef>
          </c:val>
          <c:extLst>
            <c:ext xmlns:c16="http://schemas.microsoft.com/office/drawing/2014/chart" uri="{C3380CC4-5D6E-409C-BE32-E72D297353CC}">
              <c16:uniqueId val="{00000001-C3ED-44B8-9008-B1B09E6CF2B1}"/>
            </c:ext>
          </c:extLst>
        </c:ser>
        <c:ser>
          <c:idx val="2"/>
          <c:order val="2"/>
          <c:tx>
            <c:strRef>
              <c:f>Sheet1!$D$1</c:f>
              <c:strCache>
                <c:ptCount val="1"/>
                <c:pt idx="0">
                  <c:v>MSFT</c:v>
                </c:pt>
              </c:strCache>
            </c:strRef>
          </c:tx>
          <c:spPr>
            <a:solidFill>
              <a:srgbClr val="3DDBB4"/>
            </a:solidFill>
            <a:ln>
              <a:noFill/>
            </a:ln>
          </c:spPr>
          <c:invertIfNegative val="0"/>
          <c:errBars>
            <c:errBarType val="both"/>
            <c:errValType val="cust"/>
            <c:noEndCap val="0"/>
            <c:plus>
              <c:numLit>
                <c:formatCode>General</c:formatCode>
                <c:ptCount val="5"/>
                <c:pt idx="0">
                  <c:v>2.9970029970030003</c:v>
                </c:pt>
                <c:pt idx="1">
                  <c:v>3.09690309690308</c:v>
                </c:pt>
                <c:pt idx="2">
                  <c:v>3.1968031968031898</c:v>
                </c:pt>
                <c:pt idx="3">
                  <c:v>3.39910089910087</c:v>
                </c:pt>
                <c:pt idx="4">
                  <c:v>2.89710289710289</c:v>
                </c:pt>
              </c:numLit>
            </c:plus>
            <c:minus>
              <c:numLit>
                <c:formatCode>General</c:formatCode>
                <c:ptCount val="5"/>
                <c:pt idx="0">
                  <c:v>3.0969030969030897</c:v>
                </c:pt>
                <c:pt idx="1">
                  <c:v>3.0994005994006004</c:v>
                </c:pt>
                <c:pt idx="2">
                  <c:v>3.1968031968031898</c:v>
                </c:pt>
                <c:pt idx="3">
                  <c:v>3.6963036963036897</c:v>
                </c:pt>
                <c:pt idx="4">
                  <c:v>3.0969030969030897</c:v>
                </c:pt>
              </c:numLit>
            </c:minus>
            <c:spPr>
              <a:ln w="12700">
                <a:solidFill>
                  <a:srgbClr val="9AA8B7"/>
                </a:solidFill>
              </a:ln>
            </c:spPr>
          </c:errBars>
          <c:cat>
            <c:strRef>
              <c:f>Sheet1!$A$2:$A$6</c:f>
              <c:strCache>
                <c:ptCount val="5"/>
                <c:pt idx="0">
                  <c:v>LR</c:v>
                </c:pt>
                <c:pt idx="1">
                  <c:v>RF</c:v>
                </c:pt>
                <c:pt idx="2">
                  <c:v>XGB</c:v>
                </c:pt>
                <c:pt idx="3">
                  <c:v>LSTM</c:v>
                </c:pt>
                <c:pt idx="4">
                  <c:v>Ens</c:v>
                </c:pt>
              </c:strCache>
            </c:strRef>
          </c:cat>
          <c:val>
            <c:numRef>
              <c:f>Sheet1!$D$2:$D$6</c:f>
              <c:numCache>
                <c:formatCode>0.0</c:formatCode>
                <c:ptCount val="5"/>
                <c:pt idx="0">
                  <c:v>0.8</c:v>
                </c:pt>
                <c:pt idx="1">
                  <c:v>-0.2</c:v>
                </c:pt>
                <c:pt idx="2">
                  <c:v>0.5</c:v>
                </c:pt>
                <c:pt idx="3">
                  <c:v>-0.2</c:v>
                </c:pt>
                <c:pt idx="4">
                  <c:v>0.3</c:v>
                </c:pt>
              </c:numCache>
            </c:numRef>
          </c:val>
          <c:extLst>
            <c:ext xmlns:c16="http://schemas.microsoft.com/office/drawing/2014/chart" uri="{C3380CC4-5D6E-409C-BE32-E72D297353CC}">
              <c16:uniqueId val="{00000002-C3ED-44B8-9008-B1B09E6CF2B1}"/>
            </c:ext>
          </c:extLst>
        </c:ser>
        <c:dLbls>
          <c:showLegendKey val="0"/>
          <c:showVal val="0"/>
          <c:showCatName val="0"/>
          <c:showSerName val="0"/>
          <c:showPercent val="0"/>
          <c:showBubbleSize val="0"/>
        </c:dLbls>
        <c:gapWidth val="70"/>
        <c:overlap val="-8"/>
        <c:axId val="-2068027336"/>
        <c:axId val="-2113994440"/>
      </c:barChart>
      <c:catAx>
        <c:axId val="-2068027336"/>
        <c:scaling>
          <c:orientation val="minMax"/>
        </c:scaling>
        <c:delete val="0"/>
        <c:axPos val="b"/>
        <c:numFmt formatCode="General" sourceLinked="0"/>
        <c:majorTickMark val="none"/>
        <c:minorTickMark val="none"/>
        <c:tickLblPos val="low"/>
        <c:spPr>
          <a:ln w="15875">
            <a:solidFill>
              <a:srgbClr val="3A4D63"/>
            </a:solidFill>
          </a:ln>
        </c:spPr>
        <c:txPr>
          <a:bodyPr/>
          <a:lstStyle/>
          <a:p>
            <a:pPr>
              <a:defRPr sz="1200">
                <a:solidFill>
                  <a:srgbClr val="AAB6C3"/>
                </a:solidFill>
              </a:defRPr>
            </a:pPr>
            <a:endParaRPr lang="en-US"/>
          </a:p>
        </c:txPr>
        <c:crossAx val="-2113994440"/>
        <c:crosses val="autoZero"/>
        <c:auto val="1"/>
        <c:lblAlgn val="ctr"/>
        <c:lblOffset val="100"/>
        <c:noMultiLvlLbl val="0"/>
      </c:catAx>
      <c:valAx>
        <c:axId val="-2113994440"/>
        <c:scaling>
          <c:orientation val="minMax"/>
          <c:max val="4"/>
          <c:min val="-5"/>
        </c:scaling>
        <c:delete val="0"/>
        <c:axPos val="l"/>
        <c:majorGridlines>
          <c:spPr>
            <a:ln w="9525">
              <a:solidFill>
                <a:srgbClr val="243245"/>
              </a:solidFill>
            </a:ln>
          </c:spPr>
        </c:majorGridlines>
        <c:numFmt formatCode="\+0;\-0;0" sourceLinked="0"/>
        <c:majorTickMark val="none"/>
        <c:minorTickMark val="none"/>
        <c:tickLblPos val="nextTo"/>
        <c:spPr>
          <a:ln>
            <a:noFill/>
          </a:ln>
        </c:spPr>
        <c:txPr>
          <a:bodyPr/>
          <a:lstStyle/>
          <a:p>
            <a:pPr>
              <a:defRPr sz="1100">
                <a:solidFill>
                  <a:srgbClr val="8291A2"/>
                </a:solidFill>
              </a:defRPr>
            </a:pPr>
            <a:endParaRPr lang="en-US"/>
          </a:p>
        </c:txPr>
        <c:crossAx val="-2068027336"/>
        <c:crosses val="autoZero"/>
        <c:crossBetween val="between"/>
        <c:majorUnit val="1"/>
      </c:valAx>
      <c:spPr>
        <a:noFill/>
        <a:ln>
          <a:noFill/>
        </a:ln>
      </c:spPr>
    </c:plotArea>
    <c:legend>
      <c:legendPos val="t"/>
      <c:overlay val="0"/>
      <c:txPr>
        <a:bodyPr/>
        <a:lstStyle/>
        <a:p>
          <a:pPr>
            <a:defRPr sz="1200">
              <a:solidFill>
                <a:srgbClr val="AAB6C3"/>
              </a:solidFill>
            </a:defRPr>
          </a:pPr>
          <a:endParaRPr lang="en-US"/>
        </a:p>
      </c:txPr>
    </c:legend>
    <c:plotVisOnly val="1"/>
    <c:dispBlanksAs val="gap"/>
    <c:showDLblsOverMax val="1"/>
  </c:chart>
  <c:spPr>
    <a:noFill/>
    <a:ln>
      <a:noFill/>
    </a:ln>
  </c:spPr>
  <c:txPr>
    <a:bodyPr/>
    <a:lstStyle/>
    <a:p>
      <a:pPr>
        <a:defRPr sz="1200">
          <a:solidFill>
            <a:srgbClr val="AAB6C3"/>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Sheet1!$C$1</c:f>
              <c:strCache>
                <c:ptCount val="1"/>
                <c:pt idx="0">
                  <c:v>Sharpe − buy-and-hold</c:v>
                </c:pt>
              </c:strCache>
            </c:strRef>
          </c:tx>
          <c:spPr>
            <a:solidFill>
              <a:srgbClr val="FFB547"/>
            </a:solidFill>
            <a:ln>
              <a:noFill/>
            </a:ln>
          </c:spPr>
          <c:invertIfNegative val="0"/>
          <c:dPt>
            <c:idx val="2"/>
            <c:invertIfNegative val="0"/>
            <c:bubble3D val="0"/>
            <c:spPr>
              <a:solidFill>
                <a:srgbClr val="FF6B6B"/>
              </a:solidFill>
            </c:spPr>
            <c:extLst>
              <c:ext xmlns:c16="http://schemas.microsoft.com/office/drawing/2014/chart" uri="{C3380CC4-5D6E-409C-BE32-E72D297353CC}">
                <c16:uniqueId val="{00000001-4673-428C-A7DB-D329FC63D97C}"/>
              </c:ext>
            </c:extLst>
          </c:dPt>
          <c:dLbls>
            <c:dLbl>
              <c:idx val="0"/>
              <c:tx>
                <c:rich>
                  <a:bodyPr/>
                  <a:lstStyle/>
                  <a:p>
                    <a:r>
                      <a:rPr sz="1000">
                        <a:solidFill>
                          <a:srgbClr val="8291A2"/>
                        </a:solidFill>
                        <a:latin typeface="Segoe UI"/>
                      </a:rPr>
                      <a:t>= buy-and-hold</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4673-428C-A7DB-D329FC63D97C}"/>
                </c:ext>
              </c:extLst>
            </c:dLbl>
            <c:dLbl>
              <c:idx val="1"/>
              <c:tx>
                <c:rich>
                  <a:bodyPr/>
                  <a:lstStyle/>
                  <a:p>
                    <a:r>
                      <a:rPr sz="1000">
                        <a:solidFill>
                          <a:srgbClr val="8291A2"/>
                        </a:solidFill>
                        <a:latin typeface="Segoe UI"/>
                      </a:rPr>
                      <a:t>= buy-and-hold</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4673-428C-A7DB-D329FC63D97C}"/>
                </c:ext>
              </c:extLst>
            </c:dLbl>
            <c:dLbl>
              <c:idx val="4"/>
              <c:tx>
                <c:rich>
                  <a:bodyPr/>
                  <a:lstStyle/>
                  <a:p>
                    <a:r>
                      <a:rPr sz="1000">
                        <a:solidFill>
                          <a:srgbClr val="8291A2"/>
                        </a:solidFill>
                        <a:latin typeface="Segoe UI"/>
                      </a:rPr>
                      <a:t>= buy-and-hold</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4673-428C-A7DB-D329FC63D97C}"/>
                </c:ext>
              </c:extLst>
            </c:dLbl>
            <c:dLbl>
              <c:idx val="11"/>
              <c:tx>
                <c:rich>
                  <a:bodyPr/>
                  <a:lstStyle/>
                  <a:p>
                    <a:r>
                      <a:rPr sz="1000">
                        <a:solidFill>
                          <a:srgbClr val="8291A2"/>
                        </a:solidFill>
                        <a:latin typeface="Segoe UI"/>
                      </a:rPr>
                      <a:t>= buy-and-hold</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4673-428C-A7DB-D329FC63D97C}"/>
                </c:ext>
              </c:extLst>
            </c:dLbl>
            <c:dLbl>
              <c:idx val="13"/>
              <c:tx>
                <c:rich>
                  <a:bodyPr/>
                  <a:lstStyle/>
                  <a:p>
                    <a:r>
                      <a:rPr sz="1000">
                        <a:solidFill>
                          <a:srgbClr val="8291A2"/>
                        </a:solidFill>
                        <a:latin typeface="Segoe UI"/>
                      </a:rPr>
                      <a:t>= buy-and-hold</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4673-428C-A7DB-D329FC63D97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errBars>
            <c:errBarType val="both"/>
            <c:errValType val="cust"/>
            <c:noEndCap val="0"/>
            <c:plus>
              <c:numLit>
                <c:formatCode>General</c:formatCode>
                <c:ptCount val="15"/>
                <c:pt idx="0">
                  <c:v>0</c:v>
                </c:pt>
                <c:pt idx="1">
                  <c:v>0</c:v>
                </c:pt>
                <c:pt idx="2">
                  <c:v>5.2549167766446206E-2</c:v>
                </c:pt>
                <c:pt idx="3">
                  <c:v>2.5263581362299878E-2</c:v>
                </c:pt>
                <c:pt idx="4">
                  <c:v>0</c:v>
                </c:pt>
                <c:pt idx="5">
                  <c:v>0.34369504472848522</c:v>
                </c:pt>
                <c:pt idx="6">
                  <c:v>0.1751001894927518</c:v>
                </c:pt>
                <c:pt idx="7">
                  <c:v>0.1195778079503098</c:v>
                </c:pt>
                <c:pt idx="8">
                  <c:v>0.1244390214967647</c:v>
                </c:pt>
                <c:pt idx="9">
                  <c:v>0.11334913495428919</c:v>
                </c:pt>
                <c:pt idx="10">
                  <c:v>8.1703576681611198E-2</c:v>
                </c:pt>
                <c:pt idx="11">
                  <c:v>0</c:v>
                </c:pt>
                <c:pt idx="12">
                  <c:v>5.23582830434259E-2</c:v>
                </c:pt>
                <c:pt idx="13">
                  <c:v>0</c:v>
                </c:pt>
                <c:pt idx="14">
                  <c:v>0.14504213539090549</c:v>
                </c:pt>
              </c:numLit>
            </c:plus>
            <c:minus>
              <c:numLit>
                <c:formatCode>General</c:formatCode>
                <c:ptCount val="15"/>
                <c:pt idx="0">
                  <c:v>0</c:v>
                </c:pt>
                <c:pt idx="1">
                  <c:v>0</c:v>
                </c:pt>
                <c:pt idx="2">
                  <c:v>7.1122262859951199E-2</c:v>
                </c:pt>
                <c:pt idx="3">
                  <c:v>6.2393526392316295E-2</c:v>
                </c:pt>
                <c:pt idx="4">
                  <c:v>0</c:v>
                </c:pt>
                <c:pt idx="5">
                  <c:v>0.35487314013604937</c:v>
                </c:pt>
                <c:pt idx="6">
                  <c:v>0.1653283717010357</c:v>
                </c:pt>
                <c:pt idx="7">
                  <c:v>9.8843039953091294E-2</c:v>
                </c:pt>
                <c:pt idx="8">
                  <c:v>0.13664199343533451</c:v>
                </c:pt>
                <c:pt idx="9">
                  <c:v>0.100185570855911</c:v>
                </c:pt>
                <c:pt idx="10">
                  <c:v>8.8781113754447E-2</c:v>
                </c:pt>
                <c:pt idx="11">
                  <c:v>0</c:v>
                </c:pt>
                <c:pt idx="12">
                  <c:v>5.0790448571842103E-2</c:v>
                </c:pt>
                <c:pt idx="13">
                  <c:v>0</c:v>
                </c:pt>
                <c:pt idx="14">
                  <c:v>0.15806911182500391</c:v>
                </c:pt>
              </c:numLit>
            </c:minus>
            <c:spPr>
              <a:ln w="12700">
                <a:solidFill>
                  <a:srgbClr val="9AA8B7"/>
                </a:solidFill>
              </a:ln>
            </c:spPr>
          </c:errBars>
          <c:cat>
            <c:multiLvlStrRef>
              <c:f>Sheet1!$A$2:$B$16</c:f>
              <c:multiLvlStrCache>
                <c:ptCount val="15"/>
                <c:lvl>
                  <c:pt idx="0">
                    <c:v>LR</c:v>
                  </c:pt>
                  <c:pt idx="1">
                    <c:v>RF</c:v>
                  </c:pt>
                  <c:pt idx="2">
                    <c:v>XGB</c:v>
                  </c:pt>
                  <c:pt idx="3">
                    <c:v>LSTM</c:v>
                  </c:pt>
                  <c:pt idx="4">
                    <c:v>Ens</c:v>
                  </c:pt>
                  <c:pt idx="5">
                    <c:v>LR</c:v>
                  </c:pt>
                  <c:pt idx="6">
                    <c:v>RF</c:v>
                  </c:pt>
                  <c:pt idx="7">
                    <c:v>XGB</c:v>
                  </c:pt>
                  <c:pt idx="8">
                    <c:v>LSTM</c:v>
                  </c:pt>
                  <c:pt idx="9">
                    <c:v>Ens</c:v>
                  </c:pt>
                  <c:pt idx="10">
                    <c:v>LR</c:v>
                  </c:pt>
                  <c:pt idx="11">
                    <c:v>RF</c:v>
                  </c:pt>
                  <c:pt idx="12">
                    <c:v>XGB</c:v>
                  </c:pt>
                  <c:pt idx="13">
                    <c:v>LSTM</c:v>
                  </c:pt>
                  <c:pt idx="14">
                    <c:v>Ens</c:v>
                  </c:pt>
                </c:lvl>
                <c:lvl>
                  <c:pt idx="0">
                    <c:v>SPY</c:v>
                  </c:pt>
                  <c:pt idx="5">
                    <c:v>AAPL</c:v>
                  </c:pt>
                  <c:pt idx="10">
                    <c:v>MSFT</c:v>
                  </c:pt>
                </c:lvl>
              </c:multiLvlStrCache>
            </c:multiLvlStrRef>
          </c:cat>
          <c:val>
            <c:numRef>
              <c:f>Sheet1!$C$2:$C$16</c:f>
              <c:numCache>
                <c:formatCode>0.00</c:formatCode>
                <c:ptCount val="15"/>
                <c:pt idx="0">
                  <c:v>0</c:v>
                </c:pt>
                <c:pt idx="1">
                  <c:v>0</c:v>
                </c:pt>
                <c:pt idx="2">
                  <c:v>-5.7099999999999998E-2</c:v>
                </c:pt>
                <c:pt idx="3">
                  <c:v>-2.53E-2</c:v>
                </c:pt>
                <c:pt idx="4">
                  <c:v>0</c:v>
                </c:pt>
                <c:pt idx="5">
                  <c:v>-4.4699999999999997E-2</c:v>
                </c:pt>
                <c:pt idx="6">
                  <c:v>5.1499999999999997E-2</c:v>
                </c:pt>
                <c:pt idx="7">
                  <c:v>1.32E-2</c:v>
                </c:pt>
                <c:pt idx="8">
                  <c:v>-8.0399999999999999E-2</c:v>
                </c:pt>
                <c:pt idx="9">
                  <c:v>2.2800000000000001E-2</c:v>
                </c:pt>
                <c:pt idx="10">
                  <c:v>-2.2100000000000002E-2</c:v>
                </c:pt>
                <c:pt idx="11">
                  <c:v>0</c:v>
                </c:pt>
                <c:pt idx="12">
                  <c:v>9.7000000000000003E-3</c:v>
                </c:pt>
                <c:pt idx="13">
                  <c:v>0</c:v>
                </c:pt>
                <c:pt idx="14">
                  <c:v>-0.14299999999999999</c:v>
                </c:pt>
              </c:numCache>
            </c:numRef>
          </c:val>
          <c:extLst>
            <c:ext xmlns:c16="http://schemas.microsoft.com/office/drawing/2014/chart" uri="{C3380CC4-5D6E-409C-BE32-E72D297353CC}">
              <c16:uniqueId val="{00000007-4673-428C-A7DB-D329FC63D97C}"/>
            </c:ext>
          </c:extLst>
        </c:ser>
        <c:dLbls>
          <c:showLegendKey val="0"/>
          <c:showVal val="0"/>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none"/>
        <c:minorTickMark val="none"/>
        <c:tickLblPos val="low"/>
        <c:spPr>
          <a:ln w="15875">
            <a:solidFill>
              <a:srgbClr val="3A4D63"/>
            </a:solidFill>
          </a:ln>
        </c:spPr>
        <c:txPr>
          <a:bodyPr/>
          <a:lstStyle/>
          <a:p>
            <a:pPr>
              <a:defRPr sz="1100">
                <a:solidFill>
                  <a:srgbClr val="AAB6C3"/>
                </a:solidFill>
              </a:defRPr>
            </a:pPr>
            <a:endParaRPr lang="en-US"/>
          </a:p>
        </c:txPr>
        <c:crossAx val="-2113994440"/>
        <c:crosses val="autoZero"/>
        <c:auto val="1"/>
        <c:lblAlgn val="ctr"/>
        <c:lblOffset val="100"/>
        <c:noMultiLvlLbl val="0"/>
      </c:catAx>
      <c:valAx>
        <c:axId val="-2113994440"/>
        <c:scaling>
          <c:orientation val="minMax"/>
          <c:max val="0.35"/>
          <c:min val="-0.45"/>
        </c:scaling>
        <c:delete val="0"/>
        <c:axPos val="b"/>
        <c:majorGridlines>
          <c:spPr>
            <a:ln w="9525">
              <a:solidFill>
                <a:srgbClr val="243245"/>
              </a:solidFill>
            </a:ln>
          </c:spPr>
        </c:majorGridlines>
        <c:numFmt formatCode="\+0.00;\-0.00;0" sourceLinked="0"/>
        <c:majorTickMark val="none"/>
        <c:minorTickMark val="none"/>
        <c:tickLblPos val="nextTo"/>
        <c:spPr>
          <a:ln>
            <a:noFill/>
          </a:ln>
        </c:spPr>
        <c:txPr>
          <a:bodyPr/>
          <a:lstStyle/>
          <a:p>
            <a:pPr>
              <a:defRPr sz="1100">
                <a:solidFill>
                  <a:srgbClr val="8291A2"/>
                </a:solidFill>
              </a:defRPr>
            </a:pPr>
            <a:endParaRPr lang="en-US"/>
          </a:p>
        </c:txPr>
        <c:crossAx val="-2068027336"/>
        <c:crosses val="max"/>
        <c:crossBetween val="between"/>
        <c:majorUnit val="0.15"/>
      </c:valAx>
      <c:spPr>
        <a:noFill/>
        <a:ln>
          <a:noFill/>
        </a:ln>
      </c:spPr>
    </c:plotArea>
    <c:plotVisOnly val="1"/>
    <c:dispBlanksAs val="gap"/>
    <c:showDLblsOverMax val="1"/>
  </c:chart>
  <c:spPr>
    <a:noFill/>
    <a:ln>
      <a:noFill/>
    </a:ln>
  </c:spPr>
  <c:txPr>
    <a:bodyPr/>
    <a:lstStyle/>
    <a:p>
      <a:pPr>
        <a:defRPr sz="1200">
          <a:solidFill>
            <a:srgbClr val="AAB6C3"/>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Buy-and-hold</c:v>
                </c:pt>
              </c:strCache>
            </c:strRef>
          </c:tx>
          <c:spPr>
            <a:solidFill>
              <a:srgbClr val="EAF0F6"/>
            </a:solidFill>
            <a:ln>
              <a:noFill/>
            </a:ln>
          </c:spPr>
          <c:invertIfNegative val="0"/>
          <c:dLbls>
            <c:numFmt formatCode="0.00" sourceLinked="0"/>
            <c:spPr>
              <a:noFill/>
              <a:ln>
                <a:noFill/>
              </a:ln>
              <a:effectLst/>
            </c:spPr>
            <c:txPr>
              <a:bodyPr/>
              <a:lstStyle/>
              <a:p>
                <a:pPr>
                  <a:defRPr sz="1100">
                    <a:solidFill>
                      <a:srgbClr val="EAF0F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SPY</c:v>
                </c:pt>
                <c:pt idx="1">
                  <c:v>AAPL</c:v>
                </c:pt>
                <c:pt idx="2">
                  <c:v>MSFT</c:v>
                </c:pt>
              </c:strCache>
            </c:strRef>
          </c:cat>
          <c:val>
            <c:numRef>
              <c:f>Sheet1!$B$2:$B$4</c:f>
              <c:numCache>
                <c:formatCode>0.00</c:formatCode>
                <c:ptCount val="3"/>
                <c:pt idx="0">
                  <c:v>0.89550967639118817</c:v>
                </c:pt>
                <c:pt idx="1">
                  <c:v>0.98130507310139836</c:v>
                </c:pt>
                <c:pt idx="2">
                  <c:v>1.0324690964120855</c:v>
                </c:pt>
              </c:numCache>
            </c:numRef>
          </c:val>
          <c:extLst>
            <c:ext xmlns:c16="http://schemas.microsoft.com/office/drawing/2014/chart" uri="{C3380CC4-5D6E-409C-BE32-E72D297353CC}">
              <c16:uniqueId val="{00000000-8A6D-4A9D-95DD-9BE9CA292B66}"/>
            </c:ext>
          </c:extLst>
        </c:ser>
        <c:ser>
          <c:idx val="1"/>
          <c:order val="1"/>
          <c:tx>
            <c:strRef>
              <c:f>Sheet1!$C$1</c:f>
              <c:strCache>
                <c:ptCount val="1"/>
                <c:pt idx="0">
                  <c:v>MA crossover (10/50)</c:v>
                </c:pt>
              </c:strCache>
            </c:strRef>
          </c:tx>
          <c:spPr>
            <a:solidFill>
              <a:srgbClr val="6E7D8C"/>
            </a:solidFill>
            <a:ln>
              <a:noFill/>
            </a:ln>
          </c:spPr>
          <c:invertIfNegative val="0"/>
          <c:dLbls>
            <c:numFmt formatCode="0.00" sourceLinked="0"/>
            <c:spPr>
              <a:noFill/>
              <a:ln>
                <a:noFill/>
              </a:ln>
              <a:effectLst/>
            </c:spPr>
            <c:txPr>
              <a:bodyPr/>
              <a:lstStyle/>
              <a:p>
                <a:pPr>
                  <a:defRPr sz="1100">
                    <a:solidFill>
                      <a:srgbClr val="EAF0F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SPY</c:v>
                </c:pt>
                <c:pt idx="1">
                  <c:v>AAPL</c:v>
                </c:pt>
                <c:pt idx="2">
                  <c:v>MSFT</c:v>
                </c:pt>
              </c:strCache>
            </c:strRef>
          </c:cat>
          <c:val>
            <c:numRef>
              <c:f>Sheet1!$C$2:$C$4</c:f>
              <c:numCache>
                <c:formatCode>0.00</c:formatCode>
                <c:ptCount val="3"/>
                <c:pt idx="0">
                  <c:v>0.74359384297898812</c:v>
                </c:pt>
                <c:pt idx="1">
                  <c:v>0.87451666517394244</c:v>
                </c:pt>
                <c:pt idx="2">
                  <c:v>0.70459094550925983</c:v>
                </c:pt>
              </c:numCache>
            </c:numRef>
          </c:val>
          <c:extLst>
            <c:ext xmlns:c16="http://schemas.microsoft.com/office/drawing/2014/chart" uri="{C3380CC4-5D6E-409C-BE32-E72D297353CC}">
              <c16:uniqueId val="{00000001-8A6D-4A9D-95DD-9BE9CA292B66}"/>
            </c:ext>
          </c:extLst>
        </c:ser>
        <c:ser>
          <c:idx val="2"/>
          <c:order val="2"/>
          <c:tx>
            <c:strRef>
              <c:f>Sheet1!$D$1</c:f>
              <c:strCache>
                <c:ptCount val="1"/>
                <c:pt idx="0">
                  <c:v>Best ML model, picked in hindsight</c:v>
                </c:pt>
              </c:strCache>
            </c:strRef>
          </c:tx>
          <c:spPr>
            <a:solidFill>
              <a:srgbClr val="FFB547"/>
            </a:solidFill>
            <a:ln>
              <a:noFill/>
            </a:ln>
          </c:spPr>
          <c:invertIfNegative val="0"/>
          <c:dLbls>
            <c:numFmt formatCode="0.00" sourceLinked="0"/>
            <c:spPr>
              <a:noFill/>
              <a:ln>
                <a:noFill/>
              </a:ln>
              <a:effectLst/>
            </c:spPr>
            <c:txPr>
              <a:bodyPr/>
              <a:lstStyle/>
              <a:p>
                <a:pPr>
                  <a:defRPr sz="1100">
                    <a:solidFill>
                      <a:srgbClr val="EAF0F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SPY</c:v>
                </c:pt>
                <c:pt idx="1">
                  <c:v>AAPL</c:v>
                </c:pt>
                <c:pt idx="2">
                  <c:v>MSFT</c:v>
                </c:pt>
              </c:strCache>
            </c:strRef>
          </c:cat>
          <c:val>
            <c:numRef>
              <c:f>Sheet1!$D$2:$D$4</c:f>
              <c:numCache>
                <c:formatCode>0.00</c:formatCode>
                <c:ptCount val="3"/>
                <c:pt idx="0">
                  <c:v>0.70172246738215882</c:v>
                </c:pt>
                <c:pt idx="1">
                  <c:v>0.89454997085464449</c:v>
                </c:pt>
                <c:pt idx="2">
                  <c:v>0.75862777654576208</c:v>
                </c:pt>
              </c:numCache>
            </c:numRef>
          </c:val>
          <c:extLst>
            <c:ext xmlns:c16="http://schemas.microsoft.com/office/drawing/2014/chart" uri="{C3380CC4-5D6E-409C-BE32-E72D297353CC}">
              <c16:uniqueId val="{00000002-8A6D-4A9D-95DD-9BE9CA292B66}"/>
            </c:ext>
          </c:extLst>
        </c:ser>
        <c:dLbls>
          <c:dLblPos val="outEnd"/>
          <c:showLegendKey val="0"/>
          <c:showVal val="1"/>
          <c:showCatName val="0"/>
          <c:showSerName val="0"/>
          <c:showPercent val="0"/>
          <c:showBubbleSize val="0"/>
        </c:dLbls>
        <c:gapWidth val="60"/>
        <c:overlap val="-6"/>
        <c:axId val="-2068027336"/>
        <c:axId val="-2113994440"/>
      </c:barChart>
      <c:catAx>
        <c:axId val="-2068027336"/>
        <c:scaling>
          <c:orientation val="minMax"/>
        </c:scaling>
        <c:delete val="0"/>
        <c:axPos val="b"/>
        <c:numFmt formatCode="General" sourceLinked="0"/>
        <c:majorTickMark val="none"/>
        <c:minorTickMark val="none"/>
        <c:tickLblPos val="low"/>
        <c:spPr>
          <a:ln w="15875">
            <a:solidFill>
              <a:srgbClr val="3A4D63"/>
            </a:solidFill>
          </a:ln>
        </c:spPr>
        <c:txPr>
          <a:bodyPr/>
          <a:lstStyle/>
          <a:p>
            <a:pPr>
              <a:defRPr sz="1300">
                <a:solidFill>
                  <a:srgbClr val="AAB6C3"/>
                </a:solidFill>
              </a:defRPr>
            </a:pPr>
            <a:endParaRPr lang="en-US"/>
          </a:p>
        </c:txPr>
        <c:crossAx val="-2113994440"/>
        <c:crosses val="autoZero"/>
        <c:auto val="1"/>
        <c:lblAlgn val="ctr"/>
        <c:lblOffset val="100"/>
        <c:noMultiLvlLbl val="0"/>
      </c:catAx>
      <c:valAx>
        <c:axId val="-2113994440"/>
        <c:scaling>
          <c:orientation val="minMax"/>
          <c:max val="1.2"/>
          <c:min val="0"/>
        </c:scaling>
        <c:delete val="0"/>
        <c:axPos val="l"/>
        <c:numFmt formatCode="0.0" sourceLinked="0"/>
        <c:majorTickMark val="none"/>
        <c:minorTickMark val="none"/>
        <c:tickLblPos val="nextTo"/>
        <c:spPr>
          <a:ln>
            <a:noFill/>
          </a:ln>
        </c:spPr>
        <c:txPr>
          <a:bodyPr/>
          <a:lstStyle/>
          <a:p>
            <a:pPr>
              <a:defRPr sz="1100">
                <a:solidFill>
                  <a:srgbClr val="8291A2"/>
                </a:solidFill>
              </a:defRPr>
            </a:pPr>
            <a:endParaRPr lang="en-US"/>
          </a:p>
        </c:txPr>
        <c:crossAx val="-2068027336"/>
        <c:crosses val="autoZero"/>
        <c:crossBetween val="between"/>
        <c:majorUnit val="0.2"/>
      </c:valAx>
      <c:spPr>
        <a:noFill/>
        <a:ln>
          <a:noFill/>
        </a:ln>
      </c:spPr>
    </c:plotArea>
    <c:legend>
      <c:legendPos val="t"/>
      <c:overlay val="0"/>
      <c:txPr>
        <a:bodyPr/>
        <a:lstStyle/>
        <a:p>
          <a:pPr>
            <a:defRPr sz="1200">
              <a:solidFill>
                <a:srgbClr val="AAB6C3"/>
              </a:solidFill>
            </a:defRPr>
          </a:pPr>
          <a:endParaRPr lang="en-US"/>
        </a:p>
      </c:txPr>
    </c:legend>
    <c:plotVisOnly val="1"/>
    <c:dispBlanksAs val="gap"/>
    <c:showDLblsOverMax val="1"/>
  </c:chart>
  <c:spPr>
    <a:noFill/>
    <a:ln>
      <a:noFill/>
    </a:ln>
  </c:spPr>
  <c:txPr>
    <a:bodyPr/>
    <a:lstStyle/>
    <a:p>
      <a:pPr>
        <a:defRPr sz="1200">
          <a:solidFill>
            <a:srgbClr val="AAB6C3"/>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1980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We are Ishan Singh and Kenneth Martin, and our mini-project asks a simple question: can machine learning produce better trading signals than the simple rules traders have used for decades? The amber line is real data: the daily SPY price from 2010 to 2025, the same data our models were trained and tested on. Over the next fifteen minutes we will show how we built the system, how we tested it honestly, a live demo, and what the evidence actually says.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core idea. On the left is a rule a human writes once: buy when the 10-day average is above the 50-day average. On the right, instead of a fixed rule, a model looks at 42 features and estimates the probability that the next move is up, and we invest only when that probability clears a threshold tau. The important design decision is fairness: both approaches get exactly the same data, the same execution timing and the same trading costs, so any difference really comes from the signal. We test this on three liquid instruments: SPY, an exchange-traded fund that tracks the S&amp;P 500, plus Apple and Microsoft, using daily prices from 2010 to 2025.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is this hard? Because a trading backtest is very easy to get wrong in ways that make results look better than they are. First, look-ahead bias, where some feature or label secretly uses future data. Second, random cross-validation on time series, which lets the model learn from the future of the days it is tested on. Third, ignoring trading costs and execution timing. And fourth, weak baselines: a model at 51 percent sounds better than a coin flip, but simply predicting 'up' every day already scores 49.5% on SPY. Our framework was designed to close all four of these traps.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why this matters, using our own results. The chart shows a naive 'tomorrow repeats today' strategy. A quick definition first: the Sharpe ratio is the annualised return divided by the annualised volatility, so it measures return per unit of risk, and a basis point is a hundredth of a percent. With zero costs this strategy actually has a positive Sharpe ratio on all three tickers; at realistic costs it becomes deeply negative. On the right: the same Random Forest on Apple goes from a Sharpe of 0.58 to 0.01 just by changing the assumed fill price from the next open to the same day's close. And the 95 percent interval on buy-and-hold's own Sharpe ratio runs from −0.21 to 1.58. Four years of data is a small sample, so we need statistics, not single numbers.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four objectives from our synopsis. The first three are delivered in full: technical baselines in one cost-aware backtester, technical-indicator features for XGBoost and an LSTM, and a comparison on both prediction and trading metrics. The fourth, a news-sentiment layer built with retrieval-augmented generation, or RAG, was a stretch goal. We deliberately did not implement it, because doing it correctly needs a time-stamped news archive for 2010 to 2025; fake or leaky sentiment would invalidate the whole comparison. We return to it in future scope. We also went beyond the synopsis with three extra models, walk-forward testing, bootstrap intervals and a live dashboard.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solution maps one safeguard to each trap. Against look-ahead bias, every feature is a point-in-time, scale-invariant ratio, and our tests recompute features on truncated data and require identical values. Against leaky validation, splits are strictly chronological with a two-day purge, and tuning uses purged time-series cross-validation for the tabular models and a purged hold-out slice for the LSTM. Against free trading, we decide at the close, fill at the next open, and charge 15 basis points on every unit of turnover. Against weak baselines, we compare with four baselines and report bootstrap confidence intervals.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architecture; each box maps to modules in our src folder. The first row prepares the data: download and validate daily prices from Yahoo Finance, compute 42 point-in-time features, build the Down, Neutral, Up target, and split chronologically with a purge. [click] The second row is learning and verification: five model families produce probabilities, a threshold rule turns them into positions, the backtester simulates next-open fills with costs, and the evaluation module computes metrics, bootstrap intervals and calibration; the experiment runner also drives the walk-forward and robustness runs. [click] Everything ends in generated outputs: tables, figures, reports and the dashboard. Nothing in the results is typed by hand.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stack is entirely open source. pandas and NumPy for data, scikit-learn for Logistic Regression and Random Forest, XGBoost for gradient boosting and PyTorch for the LSTM. Evaluation uses SciPy and matplotlib, and the code is covered by 301 pytest tests. For delivery we built a Streamlit dashboard with Plotly charts, executed Jupyter notebooks, and a script that generates the IEEE report. The versions shown are exactly those recorded for the reported run.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only flows forward, so our splits do too. We train on 2011 to 2019, which is 2,243 trading days, validate on 2020 and 2021, and keep 1,001 test days from 2022 to 2025 that are never used for fitting or for choosing anything. Hyperparameters are tuned inside the training period only: purged time-series cross-validation for the tabular models, and a purged hold-out slice for the LSTM. The validation period chooses the trading threshold and the ensemble members. Because each label looks two opens ahead, we purge the last two rows before each boundary so no label overlaps the next segment.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single split could just be lucky, so we also ran a walk-forward test. The bars you just saw move to the bottom row and become one of 10 folds. For every test year from 2016 to 2025, we retrain on all data up to two years before it, choose the threshold and the ensemble on the year just before it, and then trade the test year out-of-sample. The tabular models are re-tuned in every fold; the LSTM keeps its architecture and re-tunes only its class weighting. The training window grows each year, like a real trader who keeps learning. This gives ten years of out-of-sample trading for each ticker.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left are the 42 features in five groups: returns, technical indicators such as RSI, MACD and Bollinger bands, volatility, volume and market regime. All of them are ratios rather than price levels, so adjusted prices cannot leak future information, and a test checks this. On the right is the target. After the close on day t we compute features and predict; we can only trade at the next open, t plus one, and the position is held until the following open. So the return we predict is open t+2 over open t+1, split into Down, Neutral and Up with a plus or minus 0.1 percent band.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trained five model families: Logistic Regression, Random Forest, XGBoost, a small LSTM in PyTorch, and a soft-vote ensemble whose two members are chosen on the validation set. All tuning used log loss inside the training period: purged time-series cross-validation for the tabular models, and a purged hold-out slice for the LSTM. The selected values are telling: Logistic Regression chose C = 0.001, the strongest regularisation in its grid, the trees chose depth 2 or 3, and the LSTM chose a short window. When tuning keeps choosing the simplest model, it usually means there is little stable signal to learn, which already hints at the results. We also built four baselines.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how a probability becomes a trade. If the model's probability of an up move is at least tau, we go long at the next open; otherwise we hold cash. Tau is picked from 14 values using validation Sharpe only; the test set never influences it. The backtester on the right charges costs on every change in position, 15 basis points per unit of turnover, before applying the day's return, and it compounds equity day by day. Every strategy, baselines included, goes through exactly this code, and we report the full set of metrics for each.</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built this like research software rather than a one-off notebook. There are 301 automated tests, including tests that check that features never use future data. One command reproduces every result, figure and the experiment report, and the IEEE report has its own build script. The full run takes about 24 minutes on a CPU and is seeded, so it is repeatable. It generates 46 figures and the reports, there is a six-tab dashboard, and every confidence interval uses 2,000 block-bootstrap resamples.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working system: a Streamlit dashboard, and these are real screenshots of it running. The large view is the interactive backtest. You pick a model, move the threshold, change costs or turn on volatility sizing, and our own backtester recomputes every number from the saved out-of-sample probabilities. On the right are the walk-forward tab, where buy-and-hold finishes above all five ML strategies, and the live-training tab, which the next slide opens. There are six tabs in total, and if time permits I can switch to the running app now.</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 runs the core pipeline live for one model. It downloads fresh data, builds the features, splits the data, trains XGBoost with the hyperparameters we tuned in the study, picks tau on validation and backtests, all in about 8 seconds because nothing is re-tuned. Because the data are current, the test window now runs to 21 Oct 2026, which adds 204 test days beyond our study's test set. Over the whole window XGBoost reached a Sharpe ratio of 0.68 against 0.71 for buy-and-hold, and its accuracy was 1.9 points below the majority class, consistent with the results we show next. This is one live run, kept separate from the reported results.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results, starting with prediction. Each bar is a model's test accuracy minus the accuracy of always predicting up, which is the most common class, with 95 percent bootstrap intervals. The models scored between 47.2 and 51.0%, while the trivial majority-class predictor scored 49.5 to 50.2%. Almost every interval crosses zero. The only model that is reliably different is SPY XGBoost, and it is worse. At a daily horizon, none of our models predicted direction reliably better than the base rate.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Trading results. Each bar is how much a strategy's Sharpe ratio beat or trailed buy-and-hold over the test period, with bootstrap intervals. 4 of the 15 ML strategies had a slightly higher Sharpe, but every one of those intervals includes zero. 5 strategies were literally identical to buy-and-hold, because the threshold chosen on the bullish 2020-21 validation period kept them invested every day. The only reliable difference is SPY XGBoost, in red, which was worse. For contrast, the naive persistence baseline lost 48 percent on SPY once costs were included. One caveat, shown under the chart: with the simpler argmax rule, 2 of 15 strategies were above buy-and-hold, both Logistic Regression, but we did not compute intervals for that rule, so we make no claim either way.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walk-forward test tells the same story over ten years. Buy-and-hold is the white bar, the moving-average crossover is grey, and amber is the best ML model for each ticker, picked with hindsight. Even with that cherry-picking, ML never beat buy-and-hold: 0 of 15. The robustness checks on the right use the 2022 to 2025 hold-out test, and they agree. With zero costs, 7 strategies edge ahead, but at 40 basis points none do. Volatility targeting cut drawdowns by 21 to 44 percent at a similar Sharpe ratio, simply by holding less when markets are volatile; that is risk control, not prediction. And changing the target or the fill price changes which strategies 'win', a classic sign of noise.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left, the main engineering challenges we handled. Leakage can creep in at every step, so we built tests that fail on any look-ahead. Thresholds chosen on a bull-market validation period often collapse to buy-and-hold, and we report that honestly. The LSTM is unstable with only about 2,200 training days, so we kept it small. Live data can include today's unfinished bar, which we now drop. On the right are the limitations we state openly: a weak daily signal, survivorship bias from choosing successful stocks, many comparisons without a multiple-testing correction, a simple cost model, and price data only.</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Future work starts with the stretch goal. A correct news-sentiment layer needs time-stamped articles, retrieval that only sees documents published before the decision time, a financial sentiment model such as FinBERT, daily features lagged by one bar, and then exactly the same evaluation protocol. Beyond that: a broader universe including delisted stocks, stronger statistics such as the deflated Sharpe ratio, and moving from backtest to paper trading on live data.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three claims we can defend. First, at a daily horizon, machine learning did not reliably beat simple baselines, either on accuracy or on risk-adjusted returns, which is consistent with how efficient liquid large caps are. Second, our real contribution is the framework: leakage-safe, cost-aware, tested and reproducible, so a negative result here is trustworthy. Third, position sizing mattered more than prediction: volatility targeting cut drawdowns by a fifth to almost a half at a similar Sharpe ratio, simply by holding less when markets are volatile.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The code, results and reports are in our repository, and the dashboard runs with a single Streamlit command. We are happy to take questions, and we can open the live dashboard to explore any result in more detail.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Hero">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40080" y="1188720"/>
            <a:ext cx="9144000" cy="1783080"/>
          </a:xfrm>
        </p:spPr>
        <p:txBody>
          <a:bodyPr/>
          <a:lstStyle/>
          <a:p>
            <a:r>
              <a:rPr lang="en-US"/>
              <a:t>Click to edit Master title style</a:t>
            </a:r>
          </a:p>
        </p:txBody>
      </p:sp>
      <p:sp>
        <p:nvSpPr>
          <p:cNvPr id="3" name="Subtitle 2"/>
          <p:cNvSpPr>
            <a:spLocks noGrp="1"/>
          </p:cNvSpPr>
          <p:nvPr>
            <p:ph type="subTitle" idx="1"/>
          </p:nvPr>
        </p:nvSpPr>
        <p:spPr>
          <a:xfrm>
            <a:off x="640080" y="3017520"/>
            <a:ext cx="8686800" cy="54864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0080" y="749808"/>
            <a:ext cx="10911535" cy="731520"/>
          </a:xfrm>
        </p:spPr>
        <p:txBody>
          <a:bodyPr/>
          <a:lstStyle/>
          <a:p>
            <a:r>
              <a:rPr lang="en-US"/>
              <a:t>Click to edit Master title style</a:t>
            </a:r>
          </a:p>
        </p:txBody>
      </p:sp>
      <p:sp>
        <p:nvSpPr>
          <p:cNvPr id="3" name="Content Placeholder 2"/>
          <p:cNvSpPr>
            <a:spLocks noGrp="1"/>
          </p:cNvSpPr>
          <p:nvPr>
            <p:ph idx="1"/>
          </p:nvPr>
        </p:nvSpPr>
        <p:spPr>
          <a:xfrm>
            <a:off x="640080" y="1783080"/>
            <a:ext cx="10911535" cy="42976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cNvSpPr txBox="1"/>
          <p:nvPr userDrawn="1"/>
        </p:nvSpPr>
        <p:spPr>
          <a:xfrm>
            <a:off x="640080" y="6400800"/>
            <a:ext cx="5486400" cy="201168"/>
          </a:xfrm>
          <a:prstGeom prst="rect">
            <a:avLst/>
          </a:prstGeom>
          <a:noFill/>
        </p:spPr>
        <p:txBody>
          <a:bodyPr wrap="none" lIns="0" tIns="0" rIns="0" bIns="0" anchor="t"/>
          <a:lstStyle/>
          <a:p>
            <a:r>
              <a:rPr lang="en-US" sz="1000" spc="150">
                <a:solidFill>
                  <a:srgbClr val="8291A2"/>
                </a:solidFill>
                <a:latin typeface="Consolas"/>
              </a:rPr>
              <a:t>ML TRADING SIGNALS · MIT MANIPAL · 2026</a:t>
            </a:r>
          </a:p>
        </p:txBody>
      </p:sp>
      <p:sp>
        <p:nvSpPr>
          <p:cNvPr id="5" name="Slide number"/>
          <p:cNvSpPr txBox="1"/>
          <p:nvPr userDrawn="1"/>
        </p:nvSpPr>
        <p:spPr>
          <a:xfrm>
            <a:off x="10637215" y="6400800"/>
            <a:ext cx="914400" cy="201168"/>
          </a:xfrm>
          <a:prstGeom prst="rect">
            <a:avLst/>
          </a:prstGeom>
          <a:noFill/>
        </p:spPr>
        <p:txBody>
          <a:bodyPr wrap="none" lIns="0" tIns="0" rIns="0" bIns="0" anchor="t"/>
          <a:lstStyle/>
          <a:p>
            <a:pPr algn="r"/>
            <a:fld id="{B6F15528-21DE-4FAA-801E-634DDDAF4B2B}" type="slidenum">
              <a:rPr lang="en-US" sz="1000">
                <a:solidFill>
                  <a:srgbClr val="8291A2"/>
                </a:solidFill>
                <a:latin typeface="Consolas"/>
              </a:rPr>
              <a:t>‹#›</a:t>
            </a:fld>
            <a:endParaRPr lang="en-US" sz="1000">
              <a:solidFill>
                <a:srgbClr val="8291A2"/>
              </a:solidFill>
              <a:latin typeface="Consolas"/>
            </a:endParaRP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Content (title only)">
    <p:spTree>
      <p:nvGrpSpPr>
        <p:cNvPr id="1" name=""/>
        <p:cNvGrpSpPr/>
        <p:nvPr/>
      </p:nvGrpSpPr>
      <p:grpSpPr>
        <a:xfrm>
          <a:off x="0" y="0"/>
          <a:ext cx="0" cy="0"/>
          <a:chOff x="0" y="0"/>
          <a:chExt cx="0" cy="0"/>
        </a:xfrm>
      </p:grpSpPr>
      <p:sp>
        <p:nvSpPr>
          <p:cNvPr id="2" name="Title 1"/>
          <p:cNvSpPr>
            <a:spLocks noGrp="1"/>
          </p:cNvSpPr>
          <p:nvPr>
            <p:ph type="title"/>
          </p:nvPr>
        </p:nvSpPr>
        <p:spPr>
          <a:xfrm>
            <a:off x="640080" y="749808"/>
            <a:ext cx="10911535" cy="731520"/>
          </a:xfrm>
        </p:spPr>
        <p:txBody>
          <a:bodyPr/>
          <a:lstStyle/>
          <a:p>
            <a:r>
              <a:rPr lang="en-US"/>
              <a:t>Click to edit Master title style</a:t>
            </a:r>
          </a:p>
        </p:txBody>
      </p:sp>
      <p:sp>
        <p:nvSpPr>
          <p:cNvPr id="3" name="Footer"/>
          <p:cNvSpPr txBox="1"/>
          <p:nvPr userDrawn="1"/>
        </p:nvSpPr>
        <p:spPr>
          <a:xfrm>
            <a:off x="640080" y="6400800"/>
            <a:ext cx="5486400" cy="201168"/>
          </a:xfrm>
          <a:prstGeom prst="rect">
            <a:avLst/>
          </a:prstGeom>
          <a:noFill/>
        </p:spPr>
        <p:txBody>
          <a:bodyPr wrap="none" lIns="0" tIns="0" rIns="0" bIns="0" anchor="t"/>
          <a:lstStyle/>
          <a:p>
            <a:r>
              <a:rPr lang="en-US" sz="1000" spc="150">
                <a:solidFill>
                  <a:srgbClr val="8291A2"/>
                </a:solidFill>
                <a:latin typeface="Consolas"/>
              </a:rPr>
              <a:t>ML TRADING SIGNALS · MIT MANIPAL · 2026</a:t>
            </a:r>
          </a:p>
        </p:txBody>
      </p:sp>
      <p:sp>
        <p:nvSpPr>
          <p:cNvPr id="4" name="Slide number"/>
          <p:cNvSpPr txBox="1"/>
          <p:nvPr userDrawn="1"/>
        </p:nvSpPr>
        <p:spPr>
          <a:xfrm>
            <a:off x="10637215" y="6400800"/>
            <a:ext cx="914400" cy="201168"/>
          </a:xfrm>
          <a:prstGeom prst="rect">
            <a:avLst/>
          </a:prstGeom>
          <a:noFill/>
        </p:spPr>
        <p:txBody>
          <a:bodyPr wrap="none" lIns="0" tIns="0" rIns="0" bIns="0" anchor="t"/>
          <a:lstStyle/>
          <a:p>
            <a:pPr algn="r"/>
            <a:fld id="{B6F15528-21DE-4FAA-801E-634DDDAF4B2B}" type="slidenum">
              <a:rPr lang="en-US" sz="1000">
                <a:solidFill>
                  <a:srgbClr val="8291A2"/>
                </a:solidFill>
                <a:latin typeface="Consolas"/>
              </a:rPr>
              <a:t>‹#›</a:t>
            </a:fld>
            <a:endParaRPr lang="en-US" sz="1000">
              <a:solidFill>
                <a:srgbClr val="8291A2"/>
              </a:solidFill>
              <a:latin typeface="Consolas"/>
            </a:endParaRPr>
          </a:p>
        </p:txBody>
      </p:sp>
    </p:spTree>
    <p:extLst>
      <p:ext uri="{BB962C8B-B14F-4D97-AF65-F5344CB8AC3E}">
        <p14:creationId xmlns:p14="http://schemas.microsoft.com/office/powerpoint/2010/main" val="727027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749808"/>
            <a:ext cx="10911535"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640080" y="1783080"/>
            <a:ext cx="10911535" cy="42976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4" r:id="rId3"/>
    <p:sldLayoutId id="2147483655" r:id="rId4"/>
  </p:sldLayoutIdLst>
  <p:txStyles>
    <p:titleStyle>
      <a:lvl1pPr algn="l"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chart" Target="../charts/char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chart" Target="../charts/char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chart" Target="../charts/char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ctrTitle"/>
          </p:nvPr>
        </p:nvSpPr>
        <p:spPr/>
        <p:txBody>
          <a:bodyPr lIns="0" tIns="0" rIns="0" anchor="t"/>
          <a:lstStyle/>
          <a:p>
            <a:pPr algn="l">
              <a:lnSpc>
                <a:spcPct val="92000"/>
              </a:lnSpc>
              <a:spcAft>
                <a:spcPts val="0"/>
              </a:spcAft>
            </a:pPr>
            <a:r>
              <a:rPr sz="6000" b="0" i="0">
                <a:solidFill>
                  <a:srgbClr val="EAF0F6"/>
                </a:solidFill>
                <a:latin typeface="Segoe UI Semibold"/>
              </a:rPr>
              <a:t>Machine-Learning</a:t>
            </a:r>
          </a:p>
          <a:p>
            <a:pPr algn="l">
              <a:lnSpc>
                <a:spcPct val="92000"/>
              </a:lnSpc>
              <a:spcAft>
                <a:spcPts val="0"/>
              </a:spcAft>
            </a:pPr>
            <a:r>
              <a:rPr sz="6000" b="0" i="0">
                <a:solidFill>
                  <a:srgbClr val="EAF0F6"/>
                </a:solidFill>
                <a:latin typeface="Segoe UI Semibold"/>
              </a:rPr>
              <a:t>Trading Signals</a:t>
            </a:r>
          </a:p>
        </p:txBody>
      </p:sp>
      <p:sp>
        <p:nvSpPr>
          <p:cNvPr id="3" name="subtitle"/>
          <p:cNvSpPr>
            <a:spLocks noGrp="1"/>
          </p:cNvSpPr>
          <p:nvPr>
            <p:ph type="subTitle" idx="1"/>
          </p:nvPr>
        </p:nvSpPr>
        <p:spPr/>
        <p:txBody>
          <a:bodyPr lIns="0" tIns="0" anchor="t"/>
          <a:lstStyle/>
          <a:p>
            <a:pPr algn="l">
              <a:spcAft>
                <a:spcPts val="0"/>
              </a:spcAft>
            </a:pPr>
            <a:r>
              <a:rPr sz="2400" b="0" i="0">
                <a:solidFill>
                  <a:srgbClr val="AAB6C3"/>
                </a:solidFill>
                <a:latin typeface="Segoe UI Light"/>
              </a:rPr>
              <a:t>A comparative study against technical baseline strategies</a:t>
            </a:r>
          </a:p>
        </p:txBody>
      </p:sp>
      <p:sp>
        <p:nvSpPr>
          <p:cNvPr id="4" name="eyebrow"/>
          <p:cNvSpPr txBox="1"/>
          <p:nvPr/>
        </p:nvSpPr>
        <p:spPr>
          <a:xfrm>
            <a:off x="640080" y="731520"/>
            <a:ext cx="10515600" cy="274320"/>
          </a:xfrm>
          <a:prstGeom prst="rect">
            <a:avLst/>
          </a:prstGeom>
          <a:noFill/>
        </p:spPr>
        <p:txBody>
          <a:bodyPr wrap="square" lIns="0" tIns="0" rIns="0" bIns="0" anchor="t">
            <a:noAutofit/>
          </a:bodyPr>
          <a:lstStyle/>
          <a:p>
            <a:pPr algn="l">
              <a:spcAft>
                <a:spcPts val="0"/>
              </a:spcAft>
            </a:pPr>
            <a:r>
              <a:rPr sz="1200" b="0" i="0" spc="150">
                <a:solidFill>
                  <a:srgbClr val="FFB547"/>
                </a:solidFill>
                <a:latin typeface="Consolas"/>
              </a:rPr>
              <a:t>MINI-PROJECT  ·  B.TECH CSE (AI &amp; ML)  ·  MANIPAL INSTITUTE OF TECHNOLOGY</a:t>
            </a:r>
          </a:p>
        </p:txBody>
      </p:sp>
      <p:sp>
        <p:nvSpPr>
          <p:cNvPr id="5" name="people"/>
          <p:cNvSpPr txBox="1"/>
          <p:nvPr/>
        </p:nvSpPr>
        <p:spPr>
          <a:xfrm>
            <a:off x="640080" y="3931920"/>
            <a:ext cx="6217920" cy="1188720"/>
          </a:xfrm>
          <a:prstGeom prst="rect">
            <a:avLst/>
          </a:prstGeom>
          <a:noFill/>
        </p:spPr>
        <p:txBody>
          <a:bodyPr wrap="square" lIns="0" tIns="0" rIns="0" bIns="0" anchor="t">
            <a:noAutofit/>
          </a:bodyPr>
          <a:lstStyle/>
          <a:p>
            <a:pPr algn="l">
              <a:spcAft>
                <a:spcPts val="600"/>
              </a:spcAft>
            </a:pPr>
            <a:r>
              <a:rPr sz="1800" b="0" i="0">
                <a:solidFill>
                  <a:srgbClr val="EAF0F6"/>
                </a:solidFill>
                <a:latin typeface="Segoe UI Semibold"/>
              </a:rPr>
              <a:t>Ishan Singh  ·  Kenneth Martin</a:t>
            </a:r>
          </a:p>
          <a:p>
            <a:pPr algn="l">
              <a:spcAft>
                <a:spcPts val="400"/>
              </a:spcAft>
            </a:pPr>
            <a:r>
              <a:rPr sz="1100" b="0" i="0">
                <a:solidFill>
                  <a:srgbClr val="8291A2"/>
                </a:solidFill>
                <a:latin typeface="Consolas"/>
              </a:rPr>
              <a:t>Mentors   </a:t>
            </a:r>
            <a:r>
              <a:rPr sz="1400" b="0" i="0">
                <a:solidFill>
                  <a:srgbClr val="AAB6C3"/>
                </a:solidFill>
                <a:latin typeface="Segoe UI"/>
              </a:rPr>
              <a:t>Dr. Narendra V G  ·  Dr. Ashwath Rao B</a:t>
            </a:r>
          </a:p>
          <a:p>
            <a:pPr algn="l">
              <a:spcAft>
                <a:spcPts val="0"/>
              </a:spcAft>
            </a:pPr>
            <a:r>
              <a:rPr sz="1200" b="0" i="0">
                <a:solidFill>
                  <a:srgbClr val="8291A2"/>
                </a:solidFill>
                <a:latin typeface="Segoe UI"/>
              </a:rPr>
              <a:t>School of Computer Engineering  ·  2026</a:t>
            </a:r>
          </a:p>
        </p:txBody>
      </p:sp>
      <p:sp>
        <p:nvSpPr>
          <p:cNvPr id="6" name="!!trace"/>
          <p:cNvSpPr/>
          <p:nvPr/>
        </p:nvSpPr>
        <p:spPr>
          <a:xfrm>
            <a:off x="640080" y="4343400"/>
            <a:ext cx="10911535" cy="1920240"/>
          </a:xfrm>
          <a:custGeom>
            <a:avLst/>
            <a:gdLst/>
            <a:ahLst/>
            <a:cxnLst/>
            <a:rect l="l" t="t" r="r" b="b"/>
            <a:pathLst>
              <a:path w="10911535" h="1920240">
                <a:moveTo>
                  <a:pt x="0" y="1837313"/>
                </a:moveTo>
                <a:lnTo>
                  <a:pt x="13555" y="1826544"/>
                </a:lnTo>
                <a:lnTo>
                  <a:pt x="27109" y="1824017"/>
                </a:lnTo>
                <a:lnTo>
                  <a:pt x="40664" y="1868998"/>
                </a:lnTo>
                <a:lnTo>
                  <a:pt x="54219" y="1860453"/>
                </a:lnTo>
                <a:lnTo>
                  <a:pt x="67774" y="1885934"/>
                </a:lnTo>
                <a:lnTo>
                  <a:pt x="81328" y="1861409"/>
                </a:lnTo>
                <a:lnTo>
                  <a:pt x="94883" y="1856965"/>
                </a:lnTo>
                <a:lnTo>
                  <a:pt x="108438" y="1845325"/>
                </a:lnTo>
                <a:lnTo>
                  <a:pt x="121992" y="1824709"/>
                </a:lnTo>
                <a:lnTo>
                  <a:pt x="135547" y="1808599"/>
                </a:lnTo>
                <a:lnTo>
                  <a:pt x="149102" y="1806945"/>
                </a:lnTo>
                <a:lnTo>
                  <a:pt x="162656" y="1805750"/>
                </a:lnTo>
                <a:lnTo>
                  <a:pt x="176211" y="1792571"/>
                </a:lnTo>
                <a:lnTo>
                  <a:pt x="189766" y="1774157"/>
                </a:lnTo>
                <a:lnTo>
                  <a:pt x="203321" y="1776110"/>
                </a:lnTo>
                <a:lnTo>
                  <a:pt x="216875" y="1777273"/>
                </a:lnTo>
                <a:lnTo>
                  <a:pt x="230430" y="1836734"/>
                </a:lnTo>
                <a:lnTo>
                  <a:pt x="243985" y="1813350"/>
                </a:lnTo>
                <a:lnTo>
                  <a:pt x="257539" y="1879715"/>
                </a:lnTo>
                <a:lnTo>
                  <a:pt x="271094" y="1853830"/>
                </a:lnTo>
                <a:lnTo>
                  <a:pt x="284649" y="1885609"/>
                </a:lnTo>
                <a:lnTo>
                  <a:pt x="298203" y="1862428"/>
                </a:lnTo>
                <a:lnTo>
                  <a:pt x="311758" y="1842020"/>
                </a:lnTo>
                <a:lnTo>
                  <a:pt x="325313" y="1872863"/>
                </a:lnTo>
                <a:lnTo>
                  <a:pt x="338868" y="1920240"/>
                </a:lnTo>
                <a:lnTo>
                  <a:pt x="352422" y="1871567"/>
                </a:lnTo>
                <a:lnTo>
                  <a:pt x="365977" y="1877591"/>
                </a:lnTo>
                <a:lnTo>
                  <a:pt x="379532" y="1843353"/>
                </a:lnTo>
                <a:lnTo>
                  <a:pt x="393086" y="1833968"/>
                </a:lnTo>
                <a:lnTo>
                  <a:pt x="406641" y="1832178"/>
                </a:lnTo>
                <a:lnTo>
                  <a:pt x="420196" y="1869699"/>
                </a:lnTo>
                <a:lnTo>
                  <a:pt x="433750" y="1878988"/>
                </a:lnTo>
                <a:lnTo>
                  <a:pt x="447305" y="1893936"/>
                </a:lnTo>
                <a:lnTo>
                  <a:pt x="460860" y="1858582"/>
                </a:lnTo>
                <a:lnTo>
                  <a:pt x="474415" y="1834825"/>
                </a:lnTo>
                <a:lnTo>
                  <a:pt x="487969" y="1819845"/>
                </a:lnTo>
                <a:lnTo>
                  <a:pt x="501524" y="1814546"/>
                </a:lnTo>
                <a:lnTo>
                  <a:pt x="515079" y="1804127"/>
                </a:lnTo>
                <a:lnTo>
                  <a:pt x="528633" y="1796825"/>
                </a:lnTo>
                <a:lnTo>
                  <a:pt x="542188" y="1798922"/>
                </a:lnTo>
                <a:lnTo>
                  <a:pt x="555743" y="1784091"/>
                </a:lnTo>
                <a:lnTo>
                  <a:pt x="569297" y="1778568"/>
                </a:lnTo>
                <a:lnTo>
                  <a:pt x="582852" y="1762994"/>
                </a:lnTo>
                <a:lnTo>
                  <a:pt x="596407" y="1788246"/>
                </a:lnTo>
                <a:lnTo>
                  <a:pt x="609962" y="1786092"/>
                </a:lnTo>
                <a:lnTo>
                  <a:pt x="623516" y="1767333"/>
                </a:lnTo>
                <a:lnTo>
                  <a:pt x="637071" y="1751025"/>
                </a:lnTo>
                <a:lnTo>
                  <a:pt x="650626" y="1745208"/>
                </a:lnTo>
                <a:lnTo>
                  <a:pt x="664180" y="1728813"/>
                </a:lnTo>
                <a:lnTo>
                  <a:pt x="677735" y="1729232"/>
                </a:lnTo>
                <a:lnTo>
                  <a:pt x="691290" y="1717650"/>
                </a:lnTo>
                <a:lnTo>
                  <a:pt x="704845" y="1710925"/>
                </a:lnTo>
                <a:lnTo>
                  <a:pt x="718399" y="1710925"/>
                </a:lnTo>
                <a:lnTo>
                  <a:pt x="731954" y="1715380"/>
                </a:lnTo>
                <a:lnTo>
                  <a:pt x="745509" y="1692129"/>
                </a:lnTo>
                <a:lnTo>
                  <a:pt x="759063" y="1679117"/>
                </a:lnTo>
                <a:lnTo>
                  <a:pt x="772618" y="1669804"/>
                </a:lnTo>
                <a:lnTo>
                  <a:pt x="786173" y="1678853"/>
                </a:lnTo>
                <a:lnTo>
                  <a:pt x="799727" y="1690257"/>
                </a:lnTo>
                <a:lnTo>
                  <a:pt x="813282" y="1699521"/>
                </a:lnTo>
                <a:lnTo>
                  <a:pt x="826837" y="1697813"/>
                </a:lnTo>
                <a:lnTo>
                  <a:pt x="840392" y="1689463"/>
                </a:lnTo>
                <a:lnTo>
                  <a:pt x="853946" y="1674324"/>
                </a:lnTo>
                <a:lnTo>
                  <a:pt x="867501" y="1679608"/>
                </a:lnTo>
                <a:lnTo>
                  <a:pt x="881056" y="1692285"/>
                </a:lnTo>
                <a:lnTo>
                  <a:pt x="894610" y="1664312"/>
                </a:lnTo>
                <a:lnTo>
                  <a:pt x="908165" y="1658211"/>
                </a:lnTo>
                <a:lnTo>
                  <a:pt x="921720" y="1657310"/>
                </a:lnTo>
                <a:lnTo>
                  <a:pt x="935274" y="1674915"/>
                </a:lnTo>
                <a:lnTo>
                  <a:pt x="948829" y="1682994"/>
                </a:lnTo>
                <a:lnTo>
                  <a:pt x="962384" y="1683524"/>
                </a:lnTo>
                <a:lnTo>
                  <a:pt x="975939" y="1706787"/>
                </a:lnTo>
                <a:lnTo>
                  <a:pt x="989493" y="1716404"/>
                </a:lnTo>
                <a:lnTo>
                  <a:pt x="1003048" y="1700736"/>
                </a:lnTo>
                <a:lnTo>
                  <a:pt x="1016603" y="1686873"/>
                </a:lnTo>
                <a:lnTo>
                  <a:pt x="1030157" y="1656267"/>
                </a:lnTo>
                <a:lnTo>
                  <a:pt x="1043712" y="1685462"/>
                </a:lnTo>
                <a:lnTo>
                  <a:pt x="1057267" y="1661924"/>
                </a:lnTo>
                <a:lnTo>
                  <a:pt x="1070821" y="1690235"/>
                </a:lnTo>
                <a:lnTo>
                  <a:pt x="1084376" y="1760041"/>
                </a:lnTo>
                <a:lnTo>
                  <a:pt x="1097931" y="1781683"/>
                </a:lnTo>
                <a:lnTo>
                  <a:pt x="1111486" y="1803029"/>
                </a:lnTo>
                <a:lnTo>
                  <a:pt x="1125040" y="1789566"/>
                </a:lnTo>
                <a:lnTo>
                  <a:pt x="1138595" y="1755098"/>
                </a:lnTo>
                <a:lnTo>
                  <a:pt x="1152150" y="1792287"/>
                </a:lnTo>
                <a:lnTo>
                  <a:pt x="1165704" y="1746370"/>
                </a:lnTo>
                <a:lnTo>
                  <a:pt x="1179259" y="1805962"/>
                </a:lnTo>
                <a:lnTo>
                  <a:pt x="1192814" y="1808981"/>
                </a:lnTo>
                <a:lnTo>
                  <a:pt x="1206368" y="1789350"/>
                </a:lnTo>
                <a:lnTo>
                  <a:pt x="1219923" y="1738825"/>
                </a:lnTo>
                <a:lnTo>
                  <a:pt x="1233478" y="1728860"/>
                </a:lnTo>
                <a:lnTo>
                  <a:pt x="1247033" y="1696691"/>
                </a:lnTo>
                <a:lnTo>
                  <a:pt x="1260587" y="1718232"/>
                </a:lnTo>
                <a:lnTo>
                  <a:pt x="1274142" y="1710021"/>
                </a:lnTo>
                <a:lnTo>
                  <a:pt x="1287697" y="1743054"/>
                </a:lnTo>
                <a:lnTo>
                  <a:pt x="1301251" y="1759535"/>
                </a:lnTo>
                <a:lnTo>
                  <a:pt x="1314806" y="1713077"/>
                </a:lnTo>
                <a:lnTo>
                  <a:pt x="1328361" y="1727163"/>
                </a:lnTo>
                <a:lnTo>
                  <a:pt x="1341916" y="1749746"/>
                </a:lnTo>
                <a:lnTo>
                  <a:pt x="1355470" y="1705653"/>
                </a:lnTo>
                <a:lnTo>
                  <a:pt x="1369025" y="1697304"/>
                </a:lnTo>
                <a:lnTo>
                  <a:pt x="1382580" y="1687058"/>
                </a:lnTo>
                <a:lnTo>
                  <a:pt x="1396134" y="1671843"/>
                </a:lnTo>
                <a:lnTo>
                  <a:pt x="1409689" y="1669043"/>
                </a:lnTo>
                <a:lnTo>
                  <a:pt x="1423244" y="1663736"/>
                </a:lnTo>
                <a:lnTo>
                  <a:pt x="1436798" y="1646197"/>
                </a:lnTo>
                <a:lnTo>
                  <a:pt x="1450353" y="1641735"/>
                </a:lnTo>
                <a:lnTo>
                  <a:pt x="1463908" y="1636073"/>
                </a:lnTo>
                <a:lnTo>
                  <a:pt x="1477463" y="1633642"/>
                </a:lnTo>
                <a:lnTo>
                  <a:pt x="1491017" y="1631982"/>
                </a:lnTo>
                <a:lnTo>
                  <a:pt x="1504572" y="1610908"/>
                </a:lnTo>
                <a:lnTo>
                  <a:pt x="1518127" y="1614985"/>
                </a:lnTo>
                <a:lnTo>
                  <a:pt x="1531681" y="1607722"/>
                </a:lnTo>
                <a:lnTo>
                  <a:pt x="1545236" y="1624013"/>
                </a:lnTo>
                <a:lnTo>
                  <a:pt x="1558791" y="1631468"/>
                </a:lnTo>
                <a:lnTo>
                  <a:pt x="1572345" y="1633135"/>
                </a:lnTo>
                <a:lnTo>
                  <a:pt x="1585900" y="1613603"/>
                </a:lnTo>
                <a:lnTo>
                  <a:pt x="1599455" y="1631149"/>
                </a:lnTo>
                <a:lnTo>
                  <a:pt x="1613010" y="1650498"/>
                </a:lnTo>
                <a:lnTo>
                  <a:pt x="1626564" y="1664608"/>
                </a:lnTo>
                <a:lnTo>
                  <a:pt x="1640119" y="1653182"/>
                </a:lnTo>
                <a:lnTo>
                  <a:pt x="1653674" y="1684106"/>
                </a:lnTo>
                <a:lnTo>
                  <a:pt x="1667228" y="1658318"/>
                </a:lnTo>
                <a:lnTo>
                  <a:pt x="1680783" y="1635620"/>
                </a:lnTo>
                <a:lnTo>
                  <a:pt x="1694338" y="1660008"/>
                </a:lnTo>
                <a:lnTo>
                  <a:pt x="1707892" y="1624632"/>
                </a:lnTo>
                <a:lnTo>
                  <a:pt x="1721447" y="1645633"/>
                </a:lnTo>
                <a:lnTo>
                  <a:pt x="1735002" y="1624894"/>
                </a:lnTo>
                <a:lnTo>
                  <a:pt x="1748557" y="1646945"/>
                </a:lnTo>
                <a:lnTo>
                  <a:pt x="1762111" y="1623490"/>
                </a:lnTo>
                <a:lnTo>
                  <a:pt x="1775666" y="1605186"/>
                </a:lnTo>
                <a:lnTo>
                  <a:pt x="1789221" y="1602316"/>
                </a:lnTo>
                <a:lnTo>
                  <a:pt x="1802775" y="1596922"/>
                </a:lnTo>
                <a:lnTo>
                  <a:pt x="1816330" y="1598839"/>
                </a:lnTo>
                <a:lnTo>
                  <a:pt x="1829885" y="1584937"/>
                </a:lnTo>
                <a:lnTo>
                  <a:pt x="1843439" y="1567896"/>
                </a:lnTo>
                <a:lnTo>
                  <a:pt x="1856994" y="1567180"/>
                </a:lnTo>
                <a:lnTo>
                  <a:pt x="1870549" y="1574972"/>
                </a:lnTo>
                <a:lnTo>
                  <a:pt x="1884104" y="1565981"/>
                </a:lnTo>
                <a:lnTo>
                  <a:pt x="1897658" y="1582775"/>
                </a:lnTo>
                <a:lnTo>
                  <a:pt x="1911213" y="1567845"/>
                </a:lnTo>
                <a:lnTo>
                  <a:pt x="1924768" y="1594664"/>
                </a:lnTo>
                <a:lnTo>
                  <a:pt x="1938322" y="1592066"/>
                </a:lnTo>
                <a:lnTo>
                  <a:pt x="1951877" y="1614488"/>
                </a:lnTo>
                <a:lnTo>
                  <a:pt x="1965432" y="1609053"/>
                </a:lnTo>
                <a:lnTo>
                  <a:pt x="1978987" y="1601517"/>
                </a:lnTo>
                <a:lnTo>
                  <a:pt x="1992541" y="1595782"/>
                </a:lnTo>
                <a:lnTo>
                  <a:pt x="2006096" y="1582283"/>
                </a:lnTo>
                <a:lnTo>
                  <a:pt x="2019651" y="1570559"/>
                </a:lnTo>
                <a:lnTo>
                  <a:pt x="2033205" y="1586485"/>
                </a:lnTo>
                <a:lnTo>
                  <a:pt x="2046760" y="1562184"/>
                </a:lnTo>
                <a:lnTo>
                  <a:pt x="2060315" y="1554097"/>
                </a:lnTo>
                <a:lnTo>
                  <a:pt x="2073869" y="1548626"/>
                </a:lnTo>
                <a:lnTo>
                  <a:pt x="2087424" y="1535392"/>
                </a:lnTo>
                <a:lnTo>
                  <a:pt x="2100979" y="1529627"/>
                </a:lnTo>
                <a:lnTo>
                  <a:pt x="2114534" y="1526383"/>
                </a:lnTo>
                <a:lnTo>
                  <a:pt x="2128088" y="1524594"/>
                </a:lnTo>
                <a:lnTo>
                  <a:pt x="2141643" y="1542717"/>
                </a:lnTo>
                <a:lnTo>
                  <a:pt x="2155198" y="1519932"/>
                </a:lnTo>
                <a:lnTo>
                  <a:pt x="2168752" y="1502268"/>
                </a:lnTo>
                <a:lnTo>
                  <a:pt x="2182307" y="1504355"/>
                </a:lnTo>
                <a:lnTo>
                  <a:pt x="2195862" y="1504469"/>
                </a:lnTo>
                <a:lnTo>
                  <a:pt x="2209416" y="1493948"/>
                </a:lnTo>
                <a:lnTo>
                  <a:pt x="2222971" y="1494339"/>
                </a:lnTo>
                <a:lnTo>
                  <a:pt x="2236526" y="1490650"/>
                </a:lnTo>
                <a:lnTo>
                  <a:pt x="2250081" y="1488590"/>
                </a:lnTo>
                <a:lnTo>
                  <a:pt x="2263635" y="1478087"/>
                </a:lnTo>
                <a:lnTo>
                  <a:pt x="2277190" y="1462188"/>
                </a:lnTo>
                <a:lnTo>
                  <a:pt x="2290745" y="1448113"/>
                </a:lnTo>
                <a:lnTo>
                  <a:pt x="2304299" y="1437870"/>
                </a:lnTo>
                <a:lnTo>
                  <a:pt x="2317854" y="1448169"/>
                </a:lnTo>
                <a:lnTo>
                  <a:pt x="2331409" y="1469398"/>
                </a:lnTo>
                <a:lnTo>
                  <a:pt x="2344963" y="1466788"/>
                </a:lnTo>
                <a:lnTo>
                  <a:pt x="2358518" y="1457617"/>
                </a:lnTo>
                <a:lnTo>
                  <a:pt x="2372073" y="1470933"/>
                </a:lnTo>
                <a:lnTo>
                  <a:pt x="2385628" y="1464715"/>
                </a:lnTo>
                <a:lnTo>
                  <a:pt x="2399182" y="1431825"/>
                </a:lnTo>
                <a:lnTo>
                  <a:pt x="2412737" y="1424363"/>
                </a:lnTo>
                <a:lnTo>
                  <a:pt x="2426292" y="1424056"/>
                </a:lnTo>
                <a:lnTo>
                  <a:pt x="2439846" y="1415113"/>
                </a:lnTo>
                <a:lnTo>
                  <a:pt x="2453401" y="1419549"/>
                </a:lnTo>
                <a:lnTo>
                  <a:pt x="2466956" y="1437397"/>
                </a:lnTo>
                <a:lnTo>
                  <a:pt x="2480510" y="1439090"/>
                </a:lnTo>
                <a:lnTo>
                  <a:pt x="2494065" y="1449127"/>
                </a:lnTo>
                <a:lnTo>
                  <a:pt x="2507620" y="1439195"/>
                </a:lnTo>
                <a:lnTo>
                  <a:pt x="2521175" y="1421977"/>
                </a:lnTo>
                <a:lnTo>
                  <a:pt x="2534729" y="1410538"/>
                </a:lnTo>
                <a:lnTo>
                  <a:pt x="2548284" y="1419892"/>
                </a:lnTo>
                <a:lnTo>
                  <a:pt x="2561839" y="1419996"/>
                </a:lnTo>
                <a:lnTo>
                  <a:pt x="2575393" y="1412909"/>
                </a:lnTo>
                <a:lnTo>
                  <a:pt x="2588948" y="1391880"/>
                </a:lnTo>
                <a:lnTo>
                  <a:pt x="2602503" y="1384068"/>
                </a:lnTo>
                <a:lnTo>
                  <a:pt x="2616058" y="1382771"/>
                </a:lnTo>
                <a:lnTo>
                  <a:pt x="2629612" y="1377410"/>
                </a:lnTo>
                <a:lnTo>
                  <a:pt x="2643167" y="1363854"/>
                </a:lnTo>
                <a:lnTo>
                  <a:pt x="2656722" y="1360159"/>
                </a:lnTo>
                <a:lnTo>
                  <a:pt x="2670276" y="1361520"/>
                </a:lnTo>
                <a:lnTo>
                  <a:pt x="2683831" y="1357301"/>
                </a:lnTo>
                <a:lnTo>
                  <a:pt x="2697386" y="1367909"/>
                </a:lnTo>
                <a:lnTo>
                  <a:pt x="2710940" y="1347106"/>
                </a:lnTo>
                <a:lnTo>
                  <a:pt x="2724495" y="1336780"/>
                </a:lnTo>
                <a:lnTo>
                  <a:pt x="2738050" y="1342357"/>
                </a:lnTo>
                <a:lnTo>
                  <a:pt x="2751605" y="1336924"/>
                </a:lnTo>
                <a:lnTo>
                  <a:pt x="2765159" y="1345858"/>
                </a:lnTo>
                <a:lnTo>
                  <a:pt x="2778714" y="1363113"/>
                </a:lnTo>
                <a:lnTo>
                  <a:pt x="2792269" y="1371720"/>
                </a:lnTo>
                <a:lnTo>
                  <a:pt x="2805823" y="1344801"/>
                </a:lnTo>
                <a:lnTo>
                  <a:pt x="2819378" y="1340592"/>
                </a:lnTo>
                <a:lnTo>
                  <a:pt x="2832933" y="1329216"/>
                </a:lnTo>
                <a:lnTo>
                  <a:pt x="2846487" y="1319987"/>
                </a:lnTo>
                <a:lnTo>
                  <a:pt x="2860042" y="1336924"/>
                </a:lnTo>
                <a:lnTo>
                  <a:pt x="2873597" y="1325776"/>
                </a:lnTo>
                <a:lnTo>
                  <a:pt x="2887152" y="1329127"/>
                </a:lnTo>
                <a:lnTo>
                  <a:pt x="2900706" y="1324831"/>
                </a:lnTo>
                <a:lnTo>
                  <a:pt x="2914261" y="1348156"/>
                </a:lnTo>
                <a:lnTo>
                  <a:pt x="2927816" y="1321828"/>
                </a:lnTo>
                <a:lnTo>
                  <a:pt x="2941370" y="1322579"/>
                </a:lnTo>
                <a:lnTo>
                  <a:pt x="2954925" y="1315377"/>
                </a:lnTo>
                <a:lnTo>
                  <a:pt x="2968480" y="1309022"/>
                </a:lnTo>
                <a:lnTo>
                  <a:pt x="2982034" y="1313888"/>
                </a:lnTo>
                <a:lnTo>
                  <a:pt x="2995589" y="1301058"/>
                </a:lnTo>
                <a:lnTo>
                  <a:pt x="3009144" y="1295216"/>
                </a:lnTo>
                <a:lnTo>
                  <a:pt x="3022699" y="1282566"/>
                </a:lnTo>
                <a:lnTo>
                  <a:pt x="3036253" y="1286028"/>
                </a:lnTo>
                <a:lnTo>
                  <a:pt x="3049808" y="1282417"/>
                </a:lnTo>
                <a:lnTo>
                  <a:pt x="3063363" y="1271982"/>
                </a:lnTo>
                <a:lnTo>
                  <a:pt x="3076917" y="1271582"/>
                </a:lnTo>
                <a:lnTo>
                  <a:pt x="3090472" y="1267847"/>
                </a:lnTo>
                <a:lnTo>
                  <a:pt x="3104027" y="1264840"/>
                </a:lnTo>
                <a:lnTo>
                  <a:pt x="3117581" y="1272203"/>
                </a:lnTo>
                <a:lnTo>
                  <a:pt x="3131136" y="1294351"/>
                </a:lnTo>
                <a:lnTo>
                  <a:pt x="3144691" y="1281788"/>
                </a:lnTo>
                <a:lnTo>
                  <a:pt x="3158246" y="1263603"/>
                </a:lnTo>
                <a:lnTo>
                  <a:pt x="3171800" y="1257760"/>
                </a:lnTo>
                <a:lnTo>
                  <a:pt x="3185355" y="1257932"/>
                </a:lnTo>
                <a:lnTo>
                  <a:pt x="3198910" y="1257537"/>
                </a:lnTo>
                <a:lnTo>
                  <a:pt x="3212464" y="1250907"/>
                </a:lnTo>
                <a:lnTo>
                  <a:pt x="3226019" y="1270965"/>
                </a:lnTo>
                <a:lnTo>
                  <a:pt x="3239574" y="1279769"/>
                </a:lnTo>
                <a:lnTo>
                  <a:pt x="3253129" y="1287203"/>
                </a:lnTo>
                <a:lnTo>
                  <a:pt x="3266683" y="1317160"/>
                </a:lnTo>
                <a:lnTo>
                  <a:pt x="3280238" y="1277291"/>
                </a:lnTo>
                <a:lnTo>
                  <a:pt x="3293793" y="1257488"/>
                </a:lnTo>
                <a:lnTo>
                  <a:pt x="3307347" y="1241052"/>
                </a:lnTo>
                <a:lnTo>
                  <a:pt x="3320902" y="1236572"/>
                </a:lnTo>
                <a:lnTo>
                  <a:pt x="3334457" y="1230620"/>
                </a:lnTo>
                <a:lnTo>
                  <a:pt x="3348011" y="1223731"/>
                </a:lnTo>
                <a:lnTo>
                  <a:pt x="3361566" y="1220350"/>
                </a:lnTo>
                <a:lnTo>
                  <a:pt x="3375121" y="1250866"/>
                </a:lnTo>
                <a:lnTo>
                  <a:pt x="3388676" y="1221789"/>
                </a:lnTo>
                <a:lnTo>
                  <a:pt x="3402230" y="1212490"/>
                </a:lnTo>
                <a:lnTo>
                  <a:pt x="3415785" y="1250722"/>
                </a:lnTo>
                <a:lnTo>
                  <a:pt x="3429340" y="1240856"/>
                </a:lnTo>
                <a:lnTo>
                  <a:pt x="3442894" y="1236523"/>
                </a:lnTo>
                <a:lnTo>
                  <a:pt x="3456449" y="1249321"/>
                </a:lnTo>
                <a:lnTo>
                  <a:pt x="3470004" y="1232300"/>
                </a:lnTo>
                <a:lnTo>
                  <a:pt x="3483558" y="1220046"/>
                </a:lnTo>
                <a:lnTo>
                  <a:pt x="3497113" y="1207212"/>
                </a:lnTo>
                <a:lnTo>
                  <a:pt x="3510668" y="1201379"/>
                </a:lnTo>
                <a:lnTo>
                  <a:pt x="3524223" y="1205208"/>
                </a:lnTo>
                <a:lnTo>
                  <a:pt x="3537777" y="1219326"/>
                </a:lnTo>
                <a:lnTo>
                  <a:pt x="3551332" y="1209217"/>
                </a:lnTo>
                <a:lnTo>
                  <a:pt x="3564887" y="1223208"/>
                </a:lnTo>
                <a:lnTo>
                  <a:pt x="3578441" y="1218220"/>
                </a:lnTo>
                <a:lnTo>
                  <a:pt x="3591996" y="1203055"/>
                </a:lnTo>
                <a:lnTo>
                  <a:pt x="3605551" y="1211828"/>
                </a:lnTo>
                <a:lnTo>
                  <a:pt x="3619105" y="1196353"/>
                </a:lnTo>
                <a:lnTo>
                  <a:pt x="3632660" y="1200215"/>
                </a:lnTo>
                <a:lnTo>
                  <a:pt x="3646215" y="1196480"/>
                </a:lnTo>
                <a:lnTo>
                  <a:pt x="3659770" y="1193084"/>
                </a:lnTo>
                <a:lnTo>
                  <a:pt x="3673324" y="1190818"/>
                </a:lnTo>
                <a:lnTo>
                  <a:pt x="3686879" y="1196682"/>
                </a:lnTo>
                <a:lnTo>
                  <a:pt x="3700434" y="1209594"/>
                </a:lnTo>
                <a:lnTo>
                  <a:pt x="3713988" y="1206947"/>
                </a:lnTo>
                <a:lnTo>
                  <a:pt x="3727543" y="1191103"/>
                </a:lnTo>
                <a:lnTo>
                  <a:pt x="3741098" y="1218307"/>
                </a:lnTo>
                <a:lnTo>
                  <a:pt x="3754652" y="1207272"/>
                </a:lnTo>
                <a:lnTo>
                  <a:pt x="3768207" y="1196125"/>
                </a:lnTo>
                <a:lnTo>
                  <a:pt x="3781762" y="1191683"/>
                </a:lnTo>
                <a:lnTo>
                  <a:pt x="3795317" y="1201766"/>
                </a:lnTo>
                <a:lnTo>
                  <a:pt x="3808871" y="1201557"/>
                </a:lnTo>
                <a:lnTo>
                  <a:pt x="3822426" y="1204538"/>
                </a:lnTo>
                <a:lnTo>
                  <a:pt x="3835981" y="1199044"/>
                </a:lnTo>
                <a:lnTo>
                  <a:pt x="3849535" y="1299469"/>
                </a:lnTo>
                <a:lnTo>
                  <a:pt x="3863090" y="1278636"/>
                </a:lnTo>
                <a:lnTo>
                  <a:pt x="3876645" y="1264927"/>
                </a:lnTo>
                <a:lnTo>
                  <a:pt x="3890200" y="1240980"/>
                </a:lnTo>
                <a:lnTo>
                  <a:pt x="3903754" y="1265754"/>
                </a:lnTo>
                <a:lnTo>
                  <a:pt x="3917309" y="1274727"/>
                </a:lnTo>
                <a:lnTo>
                  <a:pt x="3930864" y="1239812"/>
                </a:lnTo>
                <a:lnTo>
                  <a:pt x="3944418" y="1240340"/>
                </a:lnTo>
                <a:lnTo>
                  <a:pt x="3957973" y="1229140"/>
                </a:lnTo>
                <a:lnTo>
                  <a:pt x="3971528" y="1198811"/>
                </a:lnTo>
                <a:lnTo>
                  <a:pt x="3985082" y="1192911"/>
                </a:lnTo>
                <a:lnTo>
                  <a:pt x="3998637" y="1203907"/>
                </a:lnTo>
                <a:lnTo>
                  <a:pt x="4012192" y="1199736"/>
                </a:lnTo>
                <a:lnTo>
                  <a:pt x="4025747" y="1197258"/>
                </a:lnTo>
                <a:lnTo>
                  <a:pt x="4039301" y="1212947"/>
                </a:lnTo>
                <a:lnTo>
                  <a:pt x="4052856" y="1211841"/>
                </a:lnTo>
                <a:lnTo>
                  <a:pt x="4066411" y="1216156"/>
                </a:lnTo>
                <a:lnTo>
                  <a:pt x="4079965" y="1207443"/>
                </a:lnTo>
                <a:lnTo>
                  <a:pt x="4093520" y="1227550"/>
                </a:lnTo>
                <a:lnTo>
                  <a:pt x="4107075" y="1267324"/>
                </a:lnTo>
                <a:lnTo>
                  <a:pt x="4120629" y="1286018"/>
                </a:lnTo>
                <a:lnTo>
                  <a:pt x="4134184" y="1276091"/>
                </a:lnTo>
                <a:lnTo>
                  <a:pt x="4147739" y="1276276"/>
                </a:lnTo>
                <a:lnTo>
                  <a:pt x="4161294" y="1298377"/>
                </a:lnTo>
                <a:lnTo>
                  <a:pt x="4174848" y="1263817"/>
                </a:lnTo>
                <a:lnTo>
                  <a:pt x="4188403" y="1262363"/>
                </a:lnTo>
                <a:lnTo>
                  <a:pt x="4201958" y="1236413"/>
                </a:lnTo>
                <a:lnTo>
                  <a:pt x="4215512" y="1234738"/>
                </a:lnTo>
                <a:lnTo>
                  <a:pt x="4229067" y="1217484"/>
                </a:lnTo>
                <a:lnTo>
                  <a:pt x="4242622" y="1213528"/>
                </a:lnTo>
                <a:lnTo>
                  <a:pt x="4256176" y="1203613"/>
                </a:lnTo>
                <a:lnTo>
                  <a:pt x="4269731" y="1210341"/>
                </a:lnTo>
                <a:lnTo>
                  <a:pt x="4283286" y="1193046"/>
                </a:lnTo>
                <a:lnTo>
                  <a:pt x="4296841" y="1189006"/>
                </a:lnTo>
                <a:lnTo>
                  <a:pt x="4310395" y="1195411"/>
                </a:lnTo>
                <a:lnTo>
                  <a:pt x="4323950" y="1205964"/>
                </a:lnTo>
                <a:lnTo>
                  <a:pt x="4337505" y="1199184"/>
                </a:lnTo>
                <a:lnTo>
                  <a:pt x="4351059" y="1209268"/>
                </a:lnTo>
                <a:lnTo>
                  <a:pt x="4364614" y="1187457"/>
                </a:lnTo>
                <a:lnTo>
                  <a:pt x="4378169" y="1183525"/>
                </a:lnTo>
                <a:lnTo>
                  <a:pt x="4391723" y="1184400"/>
                </a:lnTo>
                <a:lnTo>
                  <a:pt x="4405278" y="1194803"/>
                </a:lnTo>
                <a:lnTo>
                  <a:pt x="4418833" y="1208848"/>
                </a:lnTo>
                <a:lnTo>
                  <a:pt x="4432388" y="1180478"/>
                </a:lnTo>
                <a:lnTo>
                  <a:pt x="4445942" y="1166052"/>
                </a:lnTo>
                <a:lnTo>
                  <a:pt x="4459497" y="1153765"/>
                </a:lnTo>
                <a:lnTo>
                  <a:pt x="4473052" y="1152791"/>
                </a:lnTo>
                <a:lnTo>
                  <a:pt x="4486606" y="1151618"/>
                </a:lnTo>
                <a:lnTo>
                  <a:pt x="4500161" y="1147140"/>
                </a:lnTo>
                <a:lnTo>
                  <a:pt x="4513716" y="1142963"/>
                </a:lnTo>
                <a:lnTo>
                  <a:pt x="4527271" y="1145209"/>
                </a:lnTo>
                <a:lnTo>
                  <a:pt x="4540825" y="1145895"/>
                </a:lnTo>
                <a:lnTo>
                  <a:pt x="4554380" y="1143206"/>
                </a:lnTo>
                <a:lnTo>
                  <a:pt x="4567935" y="1166750"/>
                </a:lnTo>
                <a:lnTo>
                  <a:pt x="4581489" y="1161548"/>
                </a:lnTo>
                <a:lnTo>
                  <a:pt x="4595044" y="1152755"/>
                </a:lnTo>
                <a:lnTo>
                  <a:pt x="4608599" y="1156386"/>
                </a:lnTo>
                <a:lnTo>
                  <a:pt x="4622153" y="1161508"/>
                </a:lnTo>
                <a:lnTo>
                  <a:pt x="4635708" y="1160359"/>
                </a:lnTo>
                <a:lnTo>
                  <a:pt x="4649263" y="1158471"/>
                </a:lnTo>
                <a:lnTo>
                  <a:pt x="4662818" y="1171514"/>
                </a:lnTo>
                <a:lnTo>
                  <a:pt x="4676372" y="1158718"/>
                </a:lnTo>
                <a:lnTo>
                  <a:pt x="4689927" y="1141795"/>
                </a:lnTo>
                <a:lnTo>
                  <a:pt x="4703482" y="1132599"/>
                </a:lnTo>
                <a:lnTo>
                  <a:pt x="4717036" y="1133393"/>
                </a:lnTo>
                <a:lnTo>
                  <a:pt x="4730591" y="1116750"/>
                </a:lnTo>
                <a:lnTo>
                  <a:pt x="4744146" y="1111767"/>
                </a:lnTo>
                <a:lnTo>
                  <a:pt x="4757700" y="1107037"/>
                </a:lnTo>
                <a:lnTo>
                  <a:pt x="4771255" y="1112573"/>
                </a:lnTo>
                <a:lnTo>
                  <a:pt x="4784810" y="1101459"/>
                </a:lnTo>
                <a:lnTo>
                  <a:pt x="4798365" y="1102078"/>
                </a:lnTo>
                <a:lnTo>
                  <a:pt x="4811919" y="1105561"/>
                </a:lnTo>
                <a:lnTo>
                  <a:pt x="4825474" y="1100148"/>
                </a:lnTo>
                <a:lnTo>
                  <a:pt x="4839029" y="1094844"/>
                </a:lnTo>
                <a:lnTo>
                  <a:pt x="4852583" y="1080249"/>
                </a:lnTo>
                <a:lnTo>
                  <a:pt x="4866138" y="1066337"/>
                </a:lnTo>
                <a:lnTo>
                  <a:pt x="4879693" y="1066413"/>
                </a:lnTo>
                <a:lnTo>
                  <a:pt x="4893247" y="1064448"/>
                </a:lnTo>
                <a:lnTo>
                  <a:pt x="4906802" y="1064819"/>
                </a:lnTo>
                <a:lnTo>
                  <a:pt x="4920357" y="1072828"/>
                </a:lnTo>
                <a:lnTo>
                  <a:pt x="4933912" y="1066880"/>
                </a:lnTo>
                <a:lnTo>
                  <a:pt x="4947466" y="1066286"/>
                </a:lnTo>
                <a:lnTo>
                  <a:pt x="4961021" y="1067850"/>
                </a:lnTo>
                <a:lnTo>
                  <a:pt x="4974576" y="1073919"/>
                </a:lnTo>
                <a:lnTo>
                  <a:pt x="4988130" y="1055473"/>
                </a:lnTo>
                <a:lnTo>
                  <a:pt x="5001685" y="1055178"/>
                </a:lnTo>
                <a:lnTo>
                  <a:pt x="5015240" y="1050077"/>
                </a:lnTo>
                <a:lnTo>
                  <a:pt x="5028794" y="1065019"/>
                </a:lnTo>
                <a:lnTo>
                  <a:pt x="5042349" y="1047378"/>
                </a:lnTo>
                <a:lnTo>
                  <a:pt x="5055904" y="1037408"/>
                </a:lnTo>
                <a:lnTo>
                  <a:pt x="5069459" y="1035893"/>
                </a:lnTo>
                <a:lnTo>
                  <a:pt x="5083013" y="1035928"/>
                </a:lnTo>
                <a:lnTo>
                  <a:pt x="5096568" y="1035014"/>
                </a:lnTo>
                <a:lnTo>
                  <a:pt x="5110123" y="1040413"/>
                </a:lnTo>
                <a:lnTo>
                  <a:pt x="5123677" y="1037654"/>
                </a:lnTo>
                <a:lnTo>
                  <a:pt x="5137232" y="1025241"/>
                </a:lnTo>
                <a:lnTo>
                  <a:pt x="5150787" y="1020539"/>
                </a:lnTo>
                <a:lnTo>
                  <a:pt x="5164342" y="1020432"/>
                </a:lnTo>
                <a:lnTo>
                  <a:pt x="5177896" y="1018657"/>
                </a:lnTo>
                <a:lnTo>
                  <a:pt x="5191451" y="1030402"/>
                </a:lnTo>
                <a:lnTo>
                  <a:pt x="5205006" y="1035485"/>
                </a:lnTo>
                <a:lnTo>
                  <a:pt x="5218560" y="1028823"/>
                </a:lnTo>
                <a:lnTo>
                  <a:pt x="5232115" y="1017133"/>
                </a:lnTo>
                <a:lnTo>
                  <a:pt x="5245670" y="1012296"/>
                </a:lnTo>
                <a:lnTo>
                  <a:pt x="5259224" y="1006161"/>
                </a:lnTo>
                <a:lnTo>
                  <a:pt x="5272779" y="1008941"/>
                </a:lnTo>
                <a:lnTo>
                  <a:pt x="5286334" y="997073"/>
                </a:lnTo>
                <a:lnTo>
                  <a:pt x="5299889" y="991425"/>
                </a:lnTo>
                <a:lnTo>
                  <a:pt x="5313443" y="986807"/>
                </a:lnTo>
                <a:lnTo>
                  <a:pt x="5326998" y="983993"/>
                </a:lnTo>
                <a:lnTo>
                  <a:pt x="5340553" y="981803"/>
                </a:lnTo>
                <a:lnTo>
                  <a:pt x="5354107" y="974655"/>
                </a:lnTo>
                <a:lnTo>
                  <a:pt x="5367662" y="976419"/>
                </a:lnTo>
                <a:lnTo>
                  <a:pt x="5381217" y="976521"/>
                </a:lnTo>
                <a:lnTo>
                  <a:pt x="5394771" y="961135"/>
                </a:lnTo>
                <a:lnTo>
                  <a:pt x="5408326" y="960066"/>
                </a:lnTo>
                <a:lnTo>
                  <a:pt x="5421881" y="948181"/>
                </a:lnTo>
                <a:lnTo>
                  <a:pt x="5435436" y="942426"/>
                </a:lnTo>
                <a:lnTo>
                  <a:pt x="5448990" y="941933"/>
                </a:lnTo>
                <a:lnTo>
                  <a:pt x="5462545" y="927968"/>
                </a:lnTo>
                <a:lnTo>
                  <a:pt x="5476100" y="913517"/>
                </a:lnTo>
                <a:lnTo>
                  <a:pt x="5489654" y="899990"/>
                </a:lnTo>
                <a:lnTo>
                  <a:pt x="5503209" y="880896"/>
                </a:lnTo>
                <a:lnTo>
                  <a:pt x="5516764" y="915650"/>
                </a:lnTo>
                <a:lnTo>
                  <a:pt x="5530318" y="961245"/>
                </a:lnTo>
                <a:lnTo>
                  <a:pt x="5543873" y="923136"/>
                </a:lnTo>
                <a:lnTo>
                  <a:pt x="5557428" y="907881"/>
                </a:lnTo>
                <a:lnTo>
                  <a:pt x="5570983" y="926093"/>
                </a:lnTo>
                <a:lnTo>
                  <a:pt x="5584537" y="905925"/>
                </a:lnTo>
                <a:lnTo>
                  <a:pt x="5598092" y="928083"/>
                </a:lnTo>
                <a:lnTo>
                  <a:pt x="5611647" y="945710"/>
                </a:lnTo>
                <a:lnTo>
                  <a:pt x="5625201" y="960192"/>
                </a:lnTo>
                <a:lnTo>
                  <a:pt x="5638756" y="945577"/>
                </a:lnTo>
                <a:lnTo>
                  <a:pt x="5652311" y="929058"/>
                </a:lnTo>
                <a:lnTo>
                  <a:pt x="5665865" y="952788"/>
                </a:lnTo>
                <a:lnTo>
                  <a:pt x="5679420" y="946142"/>
                </a:lnTo>
                <a:lnTo>
                  <a:pt x="5692975" y="939741"/>
                </a:lnTo>
                <a:lnTo>
                  <a:pt x="5706530" y="926109"/>
                </a:lnTo>
                <a:lnTo>
                  <a:pt x="5720084" y="921234"/>
                </a:lnTo>
                <a:lnTo>
                  <a:pt x="5733639" y="921234"/>
                </a:lnTo>
                <a:lnTo>
                  <a:pt x="5747194" y="905952"/>
                </a:lnTo>
                <a:lnTo>
                  <a:pt x="5760748" y="903963"/>
                </a:lnTo>
                <a:lnTo>
                  <a:pt x="5774303" y="906556"/>
                </a:lnTo>
                <a:lnTo>
                  <a:pt x="5787858" y="927859"/>
                </a:lnTo>
                <a:lnTo>
                  <a:pt x="5801413" y="915696"/>
                </a:lnTo>
                <a:lnTo>
                  <a:pt x="5814967" y="895813"/>
                </a:lnTo>
                <a:lnTo>
                  <a:pt x="5828522" y="893839"/>
                </a:lnTo>
                <a:lnTo>
                  <a:pt x="5842077" y="883433"/>
                </a:lnTo>
                <a:lnTo>
                  <a:pt x="5855631" y="886381"/>
                </a:lnTo>
                <a:lnTo>
                  <a:pt x="5869186" y="878092"/>
                </a:lnTo>
                <a:lnTo>
                  <a:pt x="5882741" y="881209"/>
                </a:lnTo>
                <a:lnTo>
                  <a:pt x="5896295" y="875881"/>
                </a:lnTo>
                <a:lnTo>
                  <a:pt x="5909850" y="862142"/>
                </a:lnTo>
                <a:lnTo>
                  <a:pt x="5923405" y="870342"/>
                </a:lnTo>
                <a:lnTo>
                  <a:pt x="5936960" y="860391"/>
                </a:lnTo>
                <a:lnTo>
                  <a:pt x="5950514" y="853088"/>
                </a:lnTo>
                <a:lnTo>
                  <a:pt x="5964069" y="856911"/>
                </a:lnTo>
                <a:lnTo>
                  <a:pt x="5977624" y="865706"/>
                </a:lnTo>
                <a:lnTo>
                  <a:pt x="5991178" y="902656"/>
                </a:lnTo>
                <a:lnTo>
                  <a:pt x="6004733" y="901704"/>
                </a:lnTo>
                <a:lnTo>
                  <a:pt x="6018288" y="937090"/>
                </a:lnTo>
                <a:lnTo>
                  <a:pt x="6031842" y="915662"/>
                </a:lnTo>
                <a:lnTo>
                  <a:pt x="6045397" y="896921"/>
                </a:lnTo>
                <a:lnTo>
                  <a:pt x="6058952" y="909745"/>
                </a:lnTo>
                <a:lnTo>
                  <a:pt x="6072507" y="929943"/>
                </a:lnTo>
                <a:lnTo>
                  <a:pt x="6086061" y="892071"/>
                </a:lnTo>
                <a:lnTo>
                  <a:pt x="6099616" y="941067"/>
                </a:lnTo>
                <a:lnTo>
                  <a:pt x="6113171" y="971653"/>
                </a:lnTo>
                <a:lnTo>
                  <a:pt x="6126725" y="997703"/>
                </a:lnTo>
                <a:lnTo>
                  <a:pt x="6140280" y="1004753"/>
                </a:lnTo>
                <a:lnTo>
                  <a:pt x="6153835" y="953573"/>
                </a:lnTo>
                <a:lnTo>
                  <a:pt x="6167389" y="939852"/>
                </a:lnTo>
                <a:lnTo>
                  <a:pt x="6180944" y="930495"/>
                </a:lnTo>
                <a:lnTo>
                  <a:pt x="6194499" y="916479"/>
                </a:lnTo>
                <a:lnTo>
                  <a:pt x="6208054" y="915147"/>
                </a:lnTo>
                <a:lnTo>
                  <a:pt x="6221608" y="893046"/>
                </a:lnTo>
                <a:lnTo>
                  <a:pt x="6235163" y="886271"/>
                </a:lnTo>
                <a:lnTo>
                  <a:pt x="6248718" y="886648"/>
                </a:lnTo>
                <a:lnTo>
                  <a:pt x="6262272" y="889667"/>
                </a:lnTo>
                <a:lnTo>
                  <a:pt x="6275827" y="873641"/>
                </a:lnTo>
                <a:lnTo>
                  <a:pt x="6289382" y="883924"/>
                </a:lnTo>
                <a:lnTo>
                  <a:pt x="6302936" y="862829"/>
                </a:lnTo>
                <a:lnTo>
                  <a:pt x="6316491" y="853792"/>
                </a:lnTo>
                <a:lnTo>
                  <a:pt x="6330046" y="850213"/>
                </a:lnTo>
                <a:lnTo>
                  <a:pt x="6343601" y="841453"/>
                </a:lnTo>
                <a:lnTo>
                  <a:pt x="6357155" y="838045"/>
                </a:lnTo>
                <a:lnTo>
                  <a:pt x="6370710" y="856406"/>
                </a:lnTo>
                <a:lnTo>
                  <a:pt x="6384265" y="870321"/>
                </a:lnTo>
                <a:lnTo>
                  <a:pt x="6397819" y="860745"/>
                </a:lnTo>
                <a:lnTo>
                  <a:pt x="6411374" y="886349"/>
                </a:lnTo>
                <a:lnTo>
                  <a:pt x="6424929" y="871683"/>
                </a:lnTo>
                <a:lnTo>
                  <a:pt x="6438484" y="855008"/>
                </a:lnTo>
                <a:lnTo>
                  <a:pt x="6452038" y="840912"/>
                </a:lnTo>
                <a:lnTo>
                  <a:pt x="6465593" y="844445"/>
                </a:lnTo>
                <a:lnTo>
                  <a:pt x="6479148" y="819639"/>
                </a:lnTo>
                <a:lnTo>
                  <a:pt x="6492702" y="818142"/>
                </a:lnTo>
                <a:lnTo>
                  <a:pt x="6506257" y="819551"/>
                </a:lnTo>
                <a:lnTo>
                  <a:pt x="6519812" y="816123"/>
                </a:lnTo>
                <a:lnTo>
                  <a:pt x="6533366" y="831344"/>
                </a:lnTo>
                <a:lnTo>
                  <a:pt x="6546921" y="834980"/>
                </a:lnTo>
                <a:lnTo>
                  <a:pt x="6560476" y="862202"/>
                </a:lnTo>
                <a:lnTo>
                  <a:pt x="6574031" y="838756"/>
                </a:lnTo>
                <a:lnTo>
                  <a:pt x="6587585" y="838096"/>
                </a:lnTo>
                <a:lnTo>
                  <a:pt x="6601140" y="821843"/>
                </a:lnTo>
                <a:lnTo>
                  <a:pt x="6614695" y="812940"/>
                </a:lnTo>
                <a:lnTo>
                  <a:pt x="6628249" y="817124"/>
                </a:lnTo>
                <a:lnTo>
                  <a:pt x="6641804" y="825637"/>
                </a:lnTo>
                <a:lnTo>
                  <a:pt x="6655359" y="828761"/>
                </a:lnTo>
                <a:lnTo>
                  <a:pt x="6668913" y="823026"/>
                </a:lnTo>
                <a:lnTo>
                  <a:pt x="6682468" y="818037"/>
                </a:lnTo>
                <a:lnTo>
                  <a:pt x="6696023" y="807414"/>
                </a:lnTo>
                <a:lnTo>
                  <a:pt x="6709578" y="794305"/>
                </a:lnTo>
                <a:lnTo>
                  <a:pt x="6723132" y="786317"/>
                </a:lnTo>
                <a:lnTo>
                  <a:pt x="6736687" y="778261"/>
                </a:lnTo>
                <a:lnTo>
                  <a:pt x="6750242" y="780600"/>
                </a:lnTo>
                <a:lnTo>
                  <a:pt x="6763796" y="778684"/>
                </a:lnTo>
                <a:lnTo>
                  <a:pt x="6777351" y="772398"/>
                </a:lnTo>
                <a:lnTo>
                  <a:pt x="6790906" y="756829"/>
                </a:lnTo>
                <a:lnTo>
                  <a:pt x="6804460" y="747816"/>
                </a:lnTo>
                <a:lnTo>
                  <a:pt x="6818015" y="746069"/>
                </a:lnTo>
                <a:lnTo>
                  <a:pt x="6831570" y="739038"/>
                </a:lnTo>
                <a:lnTo>
                  <a:pt x="6845125" y="728982"/>
                </a:lnTo>
                <a:lnTo>
                  <a:pt x="6858679" y="719596"/>
                </a:lnTo>
                <a:lnTo>
                  <a:pt x="6872234" y="730347"/>
                </a:lnTo>
                <a:lnTo>
                  <a:pt x="6885789" y="713638"/>
                </a:lnTo>
                <a:lnTo>
                  <a:pt x="6899343" y="705585"/>
                </a:lnTo>
                <a:lnTo>
                  <a:pt x="6912898" y="714953"/>
                </a:lnTo>
                <a:lnTo>
                  <a:pt x="6926453" y="818784"/>
                </a:lnTo>
                <a:lnTo>
                  <a:pt x="6940007" y="815236"/>
                </a:lnTo>
                <a:lnTo>
                  <a:pt x="6953562" y="902426"/>
                </a:lnTo>
                <a:lnTo>
                  <a:pt x="6967117" y="1040339"/>
                </a:lnTo>
                <a:lnTo>
                  <a:pt x="6980672" y="950672"/>
                </a:lnTo>
                <a:lnTo>
                  <a:pt x="6994226" y="968969"/>
                </a:lnTo>
                <a:lnTo>
                  <a:pt x="7007781" y="876870"/>
                </a:lnTo>
                <a:lnTo>
                  <a:pt x="7021336" y="858195"/>
                </a:lnTo>
                <a:lnTo>
                  <a:pt x="7034890" y="841346"/>
                </a:lnTo>
                <a:lnTo>
                  <a:pt x="7048445" y="852049"/>
                </a:lnTo>
                <a:lnTo>
                  <a:pt x="7062000" y="824845"/>
                </a:lnTo>
                <a:lnTo>
                  <a:pt x="7075555" y="817379"/>
                </a:lnTo>
                <a:lnTo>
                  <a:pt x="7089109" y="805327"/>
                </a:lnTo>
                <a:lnTo>
                  <a:pt x="7102664" y="779317"/>
                </a:lnTo>
                <a:lnTo>
                  <a:pt x="7116219" y="743846"/>
                </a:lnTo>
                <a:lnTo>
                  <a:pt x="7129773" y="765526"/>
                </a:lnTo>
                <a:lnTo>
                  <a:pt x="7143328" y="764229"/>
                </a:lnTo>
                <a:lnTo>
                  <a:pt x="7156883" y="774666"/>
                </a:lnTo>
                <a:lnTo>
                  <a:pt x="7170437" y="752693"/>
                </a:lnTo>
                <a:lnTo>
                  <a:pt x="7183992" y="737101"/>
                </a:lnTo>
                <a:lnTo>
                  <a:pt x="7197547" y="723549"/>
                </a:lnTo>
                <a:lnTo>
                  <a:pt x="7211102" y="728231"/>
                </a:lnTo>
                <a:lnTo>
                  <a:pt x="7224656" y="709567"/>
                </a:lnTo>
                <a:lnTo>
                  <a:pt x="7238211" y="695600"/>
                </a:lnTo>
                <a:lnTo>
                  <a:pt x="7251766" y="696147"/>
                </a:lnTo>
                <a:lnTo>
                  <a:pt x="7265320" y="669649"/>
                </a:lnTo>
                <a:lnTo>
                  <a:pt x="7278875" y="644443"/>
                </a:lnTo>
                <a:lnTo>
                  <a:pt x="7292430" y="704878"/>
                </a:lnTo>
                <a:lnTo>
                  <a:pt x="7305984" y="699769"/>
                </a:lnTo>
                <a:lnTo>
                  <a:pt x="7319539" y="729108"/>
                </a:lnTo>
                <a:lnTo>
                  <a:pt x="7333094" y="693134"/>
                </a:lnTo>
                <a:lnTo>
                  <a:pt x="7346649" y="675763"/>
                </a:lnTo>
                <a:lnTo>
                  <a:pt x="7360203" y="666321"/>
                </a:lnTo>
                <a:lnTo>
                  <a:pt x="7373758" y="673648"/>
                </a:lnTo>
                <a:lnTo>
                  <a:pt x="7387313" y="711708"/>
                </a:lnTo>
                <a:lnTo>
                  <a:pt x="7400867" y="659429"/>
                </a:lnTo>
                <a:lnTo>
                  <a:pt x="7414422" y="652022"/>
                </a:lnTo>
                <a:lnTo>
                  <a:pt x="7427977" y="640743"/>
                </a:lnTo>
                <a:lnTo>
                  <a:pt x="7441531" y="626417"/>
                </a:lnTo>
                <a:lnTo>
                  <a:pt x="7455086" y="611633"/>
                </a:lnTo>
                <a:lnTo>
                  <a:pt x="7468641" y="620095"/>
                </a:lnTo>
                <a:lnTo>
                  <a:pt x="7482196" y="609492"/>
                </a:lnTo>
                <a:lnTo>
                  <a:pt x="7495750" y="602416"/>
                </a:lnTo>
                <a:lnTo>
                  <a:pt x="7509305" y="604398"/>
                </a:lnTo>
                <a:lnTo>
                  <a:pt x="7522860" y="586993"/>
                </a:lnTo>
                <a:lnTo>
                  <a:pt x="7536414" y="575213"/>
                </a:lnTo>
                <a:lnTo>
                  <a:pt x="7549969" y="597149"/>
                </a:lnTo>
                <a:lnTo>
                  <a:pt x="7563524" y="579886"/>
                </a:lnTo>
                <a:lnTo>
                  <a:pt x="7577078" y="561178"/>
                </a:lnTo>
                <a:lnTo>
                  <a:pt x="7590633" y="559741"/>
                </a:lnTo>
                <a:lnTo>
                  <a:pt x="7604188" y="578784"/>
                </a:lnTo>
                <a:lnTo>
                  <a:pt x="7617743" y="591800"/>
                </a:lnTo>
                <a:lnTo>
                  <a:pt x="7631297" y="553452"/>
                </a:lnTo>
                <a:lnTo>
                  <a:pt x="7644852" y="558035"/>
                </a:lnTo>
                <a:lnTo>
                  <a:pt x="7658407" y="559164"/>
                </a:lnTo>
                <a:lnTo>
                  <a:pt x="7671961" y="534939"/>
                </a:lnTo>
                <a:lnTo>
                  <a:pt x="7685516" y="511431"/>
                </a:lnTo>
                <a:lnTo>
                  <a:pt x="7699071" y="499213"/>
                </a:lnTo>
                <a:lnTo>
                  <a:pt x="7712626" y="500307"/>
                </a:lnTo>
                <a:lnTo>
                  <a:pt x="7726180" y="499129"/>
                </a:lnTo>
                <a:lnTo>
                  <a:pt x="7739735" y="489053"/>
                </a:lnTo>
                <a:lnTo>
                  <a:pt x="7753290" y="500644"/>
                </a:lnTo>
                <a:lnTo>
                  <a:pt x="7766844" y="504106"/>
                </a:lnTo>
                <a:lnTo>
                  <a:pt x="7780399" y="493387"/>
                </a:lnTo>
                <a:lnTo>
                  <a:pt x="7793954" y="488908"/>
                </a:lnTo>
                <a:lnTo>
                  <a:pt x="7807508" y="482552"/>
                </a:lnTo>
                <a:lnTo>
                  <a:pt x="7821063" y="488811"/>
                </a:lnTo>
                <a:lnTo>
                  <a:pt x="7834618" y="475138"/>
                </a:lnTo>
                <a:lnTo>
                  <a:pt x="7848173" y="464003"/>
                </a:lnTo>
                <a:lnTo>
                  <a:pt x="7861727" y="458628"/>
                </a:lnTo>
                <a:lnTo>
                  <a:pt x="7875282" y="467800"/>
                </a:lnTo>
                <a:lnTo>
                  <a:pt x="7888837" y="451767"/>
                </a:lnTo>
                <a:lnTo>
                  <a:pt x="7902391" y="447500"/>
                </a:lnTo>
                <a:lnTo>
                  <a:pt x="7915946" y="444464"/>
                </a:lnTo>
                <a:lnTo>
                  <a:pt x="7929501" y="441773"/>
                </a:lnTo>
                <a:lnTo>
                  <a:pt x="7943055" y="434041"/>
                </a:lnTo>
                <a:lnTo>
                  <a:pt x="7956610" y="427039"/>
                </a:lnTo>
                <a:lnTo>
                  <a:pt x="7970165" y="428302"/>
                </a:lnTo>
                <a:lnTo>
                  <a:pt x="7983720" y="434217"/>
                </a:lnTo>
                <a:lnTo>
                  <a:pt x="7997274" y="451263"/>
                </a:lnTo>
                <a:lnTo>
                  <a:pt x="8010829" y="458122"/>
                </a:lnTo>
                <a:lnTo>
                  <a:pt x="8024384" y="457213"/>
                </a:lnTo>
                <a:lnTo>
                  <a:pt x="8037938" y="456649"/>
                </a:lnTo>
                <a:lnTo>
                  <a:pt x="8051493" y="422582"/>
                </a:lnTo>
                <a:lnTo>
                  <a:pt x="8065048" y="419620"/>
                </a:lnTo>
                <a:lnTo>
                  <a:pt x="8078602" y="399028"/>
                </a:lnTo>
                <a:lnTo>
                  <a:pt x="8092157" y="401108"/>
                </a:lnTo>
                <a:lnTo>
                  <a:pt x="8105712" y="392596"/>
                </a:lnTo>
                <a:lnTo>
                  <a:pt x="8119267" y="390163"/>
                </a:lnTo>
                <a:lnTo>
                  <a:pt x="8132821" y="412958"/>
                </a:lnTo>
                <a:lnTo>
                  <a:pt x="8146376" y="395956"/>
                </a:lnTo>
                <a:lnTo>
                  <a:pt x="8159931" y="395768"/>
                </a:lnTo>
                <a:lnTo>
                  <a:pt x="8173485" y="384920"/>
                </a:lnTo>
                <a:lnTo>
                  <a:pt x="8187040" y="376828"/>
                </a:lnTo>
                <a:lnTo>
                  <a:pt x="8200595" y="393369"/>
                </a:lnTo>
                <a:lnTo>
                  <a:pt x="8214149" y="395951"/>
                </a:lnTo>
                <a:lnTo>
                  <a:pt x="8227704" y="444227"/>
                </a:lnTo>
                <a:lnTo>
                  <a:pt x="8241259" y="424367"/>
                </a:lnTo>
                <a:lnTo>
                  <a:pt x="8254814" y="429549"/>
                </a:lnTo>
                <a:lnTo>
                  <a:pt x="8268368" y="445864"/>
                </a:lnTo>
                <a:lnTo>
                  <a:pt x="8281923" y="464956"/>
                </a:lnTo>
                <a:lnTo>
                  <a:pt x="8295478" y="464119"/>
                </a:lnTo>
                <a:lnTo>
                  <a:pt x="8309032" y="492591"/>
                </a:lnTo>
                <a:lnTo>
                  <a:pt x="8322587" y="471927"/>
                </a:lnTo>
                <a:lnTo>
                  <a:pt x="8336142" y="422269"/>
                </a:lnTo>
                <a:lnTo>
                  <a:pt x="8349697" y="399236"/>
                </a:lnTo>
                <a:lnTo>
                  <a:pt x="8363251" y="419463"/>
                </a:lnTo>
                <a:lnTo>
                  <a:pt x="8376806" y="444602"/>
                </a:lnTo>
                <a:lnTo>
                  <a:pt x="8390361" y="431845"/>
                </a:lnTo>
                <a:lnTo>
                  <a:pt x="8403915" y="487722"/>
                </a:lnTo>
                <a:lnTo>
                  <a:pt x="8417470" y="463276"/>
                </a:lnTo>
                <a:lnTo>
                  <a:pt x="8431025" y="540855"/>
                </a:lnTo>
                <a:lnTo>
                  <a:pt x="8444579" y="542845"/>
                </a:lnTo>
                <a:lnTo>
                  <a:pt x="8458134" y="530594"/>
                </a:lnTo>
                <a:lnTo>
                  <a:pt x="8471689" y="487469"/>
                </a:lnTo>
                <a:lnTo>
                  <a:pt x="8485244" y="521653"/>
                </a:lnTo>
                <a:lnTo>
                  <a:pt x="8498798" y="601186"/>
                </a:lnTo>
                <a:lnTo>
                  <a:pt x="8512353" y="543057"/>
                </a:lnTo>
                <a:lnTo>
                  <a:pt x="8525908" y="563170"/>
                </a:lnTo>
                <a:lnTo>
                  <a:pt x="8539462" y="556316"/>
                </a:lnTo>
                <a:lnTo>
                  <a:pt x="8553017" y="561537"/>
                </a:lnTo>
                <a:lnTo>
                  <a:pt x="8566572" y="530795"/>
                </a:lnTo>
                <a:lnTo>
                  <a:pt x="8580126" y="497715"/>
                </a:lnTo>
                <a:lnTo>
                  <a:pt x="8593681" y="492987"/>
                </a:lnTo>
                <a:lnTo>
                  <a:pt x="8607236" y="459903"/>
                </a:lnTo>
                <a:lnTo>
                  <a:pt x="8620791" y="492221"/>
                </a:lnTo>
                <a:lnTo>
                  <a:pt x="8634345" y="515276"/>
                </a:lnTo>
                <a:lnTo>
                  <a:pt x="8647900" y="541529"/>
                </a:lnTo>
                <a:lnTo>
                  <a:pt x="8661455" y="536290"/>
                </a:lnTo>
                <a:lnTo>
                  <a:pt x="8675009" y="553038"/>
                </a:lnTo>
                <a:lnTo>
                  <a:pt x="8688564" y="601667"/>
                </a:lnTo>
                <a:lnTo>
                  <a:pt x="8702119" y="567129"/>
                </a:lnTo>
                <a:lnTo>
                  <a:pt x="8715673" y="615391"/>
                </a:lnTo>
                <a:lnTo>
                  <a:pt x="8729228" y="583153"/>
                </a:lnTo>
                <a:lnTo>
                  <a:pt x="8742783" y="551144"/>
                </a:lnTo>
                <a:lnTo>
                  <a:pt x="8756338" y="552056"/>
                </a:lnTo>
                <a:lnTo>
                  <a:pt x="8769892" y="557825"/>
                </a:lnTo>
                <a:lnTo>
                  <a:pt x="8783447" y="520747"/>
                </a:lnTo>
                <a:lnTo>
                  <a:pt x="8797002" y="517647"/>
                </a:lnTo>
                <a:lnTo>
                  <a:pt x="8810556" y="500743"/>
                </a:lnTo>
                <a:lnTo>
                  <a:pt x="8824111" y="532560"/>
                </a:lnTo>
                <a:lnTo>
                  <a:pt x="8837666" y="518746"/>
                </a:lnTo>
                <a:lnTo>
                  <a:pt x="8851220" y="544144"/>
                </a:lnTo>
                <a:lnTo>
                  <a:pt x="8864775" y="550504"/>
                </a:lnTo>
                <a:lnTo>
                  <a:pt x="8878330" y="539952"/>
                </a:lnTo>
                <a:lnTo>
                  <a:pt x="8891885" y="516704"/>
                </a:lnTo>
                <a:lnTo>
                  <a:pt x="8905439" y="512027"/>
                </a:lnTo>
                <a:lnTo>
                  <a:pt x="8918994" y="512116"/>
                </a:lnTo>
                <a:lnTo>
                  <a:pt x="8932549" y="492109"/>
                </a:lnTo>
                <a:lnTo>
                  <a:pt x="8946103" y="485710"/>
                </a:lnTo>
                <a:lnTo>
                  <a:pt x="8959658" y="515406"/>
                </a:lnTo>
                <a:lnTo>
                  <a:pt x="8973213" y="521651"/>
                </a:lnTo>
                <a:lnTo>
                  <a:pt x="8986768" y="517211"/>
                </a:lnTo>
                <a:lnTo>
                  <a:pt x="9000322" y="531738"/>
                </a:lnTo>
                <a:lnTo>
                  <a:pt x="9013877" y="512461"/>
                </a:lnTo>
                <a:lnTo>
                  <a:pt x="9027432" y="519771"/>
                </a:lnTo>
                <a:lnTo>
                  <a:pt x="9040986" y="491254"/>
                </a:lnTo>
                <a:lnTo>
                  <a:pt x="9054541" y="492585"/>
                </a:lnTo>
                <a:lnTo>
                  <a:pt x="9068096" y="479588"/>
                </a:lnTo>
                <a:lnTo>
                  <a:pt x="9081650" y="500556"/>
                </a:lnTo>
                <a:lnTo>
                  <a:pt x="9095205" y="492649"/>
                </a:lnTo>
                <a:lnTo>
                  <a:pt x="9108760" y="482325"/>
                </a:lnTo>
                <a:lnTo>
                  <a:pt x="9122315" y="477282"/>
                </a:lnTo>
                <a:lnTo>
                  <a:pt x="9135869" y="486073"/>
                </a:lnTo>
                <a:lnTo>
                  <a:pt x="9149424" y="463466"/>
                </a:lnTo>
                <a:lnTo>
                  <a:pt x="9162979" y="448393"/>
                </a:lnTo>
                <a:lnTo>
                  <a:pt x="9176533" y="421276"/>
                </a:lnTo>
                <a:lnTo>
                  <a:pt x="9190088" y="436837"/>
                </a:lnTo>
                <a:lnTo>
                  <a:pt x="9203643" y="416677"/>
                </a:lnTo>
                <a:lnTo>
                  <a:pt x="9217197" y="423871"/>
                </a:lnTo>
                <a:lnTo>
                  <a:pt x="9230752" y="401841"/>
                </a:lnTo>
                <a:lnTo>
                  <a:pt x="9244307" y="395327"/>
                </a:lnTo>
                <a:lnTo>
                  <a:pt x="9257862" y="388418"/>
                </a:lnTo>
                <a:lnTo>
                  <a:pt x="9271416" y="402094"/>
                </a:lnTo>
                <a:lnTo>
                  <a:pt x="9284971" y="407169"/>
                </a:lnTo>
                <a:lnTo>
                  <a:pt x="9298526" y="424510"/>
                </a:lnTo>
                <a:lnTo>
                  <a:pt x="9312080" y="417706"/>
                </a:lnTo>
                <a:lnTo>
                  <a:pt x="9325635" y="404959"/>
                </a:lnTo>
                <a:lnTo>
                  <a:pt x="9339190" y="411329"/>
                </a:lnTo>
                <a:lnTo>
                  <a:pt x="9352744" y="414718"/>
                </a:lnTo>
                <a:lnTo>
                  <a:pt x="9366299" y="448721"/>
                </a:lnTo>
                <a:lnTo>
                  <a:pt x="9379854" y="457603"/>
                </a:lnTo>
                <a:lnTo>
                  <a:pt x="9393409" y="431060"/>
                </a:lnTo>
                <a:lnTo>
                  <a:pt x="9406963" y="428076"/>
                </a:lnTo>
                <a:lnTo>
                  <a:pt x="9420518" y="453367"/>
                </a:lnTo>
                <a:lnTo>
                  <a:pt x="9434073" y="464686"/>
                </a:lnTo>
                <a:lnTo>
                  <a:pt x="9447627" y="426248"/>
                </a:lnTo>
                <a:lnTo>
                  <a:pt x="9461182" y="402866"/>
                </a:lnTo>
                <a:lnTo>
                  <a:pt x="9474737" y="394036"/>
                </a:lnTo>
                <a:lnTo>
                  <a:pt x="9488291" y="391445"/>
                </a:lnTo>
                <a:lnTo>
                  <a:pt x="9501846" y="391155"/>
                </a:lnTo>
                <a:lnTo>
                  <a:pt x="9515401" y="361304"/>
                </a:lnTo>
                <a:lnTo>
                  <a:pt x="9528956" y="361940"/>
                </a:lnTo>
                <a:lnTo>
                  <a:pt x="9542510" y="346286"/>
                </a:lnTo>
                <a:lnTo>
                  <a:pt x="9556065" y="362577"/>
                </a:lnTo>
                <a:lnTo>
                  <a:pt x="9569620" y="346304"/>
                </a:lnTo>
                <a:lnTo>
                  <a:pt x="9583174" y="333931"/>
                </a:lnTo>
                <a:lnTo>
                  <a:pt x="9596729" y="319853"/>
                </a:lnTo>
                <a:lnTo>
                  <a:pt x="9610284" y="317570"/>
                </a:lnTo>
                <a:lnTo>
                  <a:pt x="9623838" y="302682"/>
                </a:lnTo>
                <a:lnTo>
                  <a:pt x="9637393" y="310103"/>
                </a:lnTo>
                <a:lnTo>
                  <a:pt x="9650948" y="292323"/>
                </a:lnTo>
                <a:lnTo>
                  <a:pt x="9664503" y="291890"/>
                </a:lnTo>
                <a:lnTo>
                  <a:pt x="9678057" y="275439"/>
                </a:lnTo>
                <a:lnTo>
                  <a:pt x="9691612" y="274535"/>
                </a:lnTo>
                <a:lnTo>
                  <a:pt x="9705167" y="269277"/>
                </a:lnTo>
                <a:lnTo>
                  <a:pt x="9718721" y="268263"/>
                </a:lnTo>
                <a:lnTo>
                  <a:pt x="9732276" y="277244"/>
                </a:lnTo>
                <a:lnTo>
                  <a:pt x="9745831" y="300713"/>
                </a:lnTo>
                <a:lnTo>
                  <a:pt x="9759386" y="292235"/>
                </a:lnTo>
                <a:lnTo>
                  <a:pt x="9772940" y="301064"/>
                </a:lnTo>
                <a:lnTo>
                  <a:pt x="9786495" y="272021"/>
                </a:lnTo>
                <a:lnTo>
                  <a:pt x="9800050" y="250919"/>
                </a:lnTo>
                <a:lnTo>
                  <a:pt x="9813604" y="250837"/>
                </a:lnTo>
                <a:lnTo>
                  <a:pt x="9827159" y="262874"/>
                </a:lnTo>
                <a:lnTo>
                  <a:pt x="9840714" y="242875"/>
                </a:lnTo>
                <a:lnTo>
                  <a:pt x="9854268" y="230184"/>
                </a:lnTo>
                <a:lnTo>
                  <a:pt x="9867823" y="224033"/>
                </a:lnTo>
                <a:lnTo>
                  <a:pt x="9881378" y="224501"/>
                </a:lnTo>
                <a:lnTo>
                  <a:pt x="9894933" y="206849"/>
                </a:lnTo>
                <a:lnTo>
                  <a:pt x="9908487" y="197029"/>
                </a:lnTo>
                <a:lnTo>
                  <a:pt x="9922042" y="207845"/>
                </a:lnTo>
                <a:lnTo>
                  <a:pt x="9935597" y="223630"/>
                </a:lnTo>
                <a:lnTo>
                  <a:pt x="9949151" y="268873"/>
                </a:lnTo>
                <a:lnTo>
                  <a:pt x="9962706" y="242333"/>
                </a:lnTo>
                <a:lnTo>
                  <a:pt x="9976261" y="200033"/>
                </a:lnTo>
                <a:lnTo>
                  <a:pt x="9989815" y="198186"/>
                </a:lnTo>
                <a:lnTo>
                  <a:pt x="10003370" y="211919"/>
                </a:lnTo>
                <a:lnTo>
                  <a:pt x="10016925" y="217163"/>
                </a:lnTo>
                <a:lnTo>
                  <a:pt x="10030480" y="194626"/>
                </a:lnTo>
                <a:lnTo>
                  <a:pt x="10044034" y="179209"/>
                </a:lnTo>
                <a:lnTo>
                  <a:pt x="10057589" y="183333"/>
                </a:lnTo>
                <a:lnTo>
                  <a:pt x="10071144" y="176341"/>
                </a:lnTo>
                <a:lnTo>
                  <a:pt x="10084698" y="166281"/>
                </a:lnTo>
                <a:lnTo>
                  <a:pt x="10098253" y="160940"/>
                </a:lnTo>
                <a:lnTo>
                  <a:pt x="10111808" y="163275"/>
                </a:lnTo>
                <a:lnTo>
                  <a:pt x="10125362" y="170954"/>
                </a:lnTo>
                <a:lnTo>
                  <a:pt x="10138917" y="140749"/>
                </a:lnTo>
                <a:lnTo>
                  <a:pt x="10152472" y="150504"/>
                </a:lnTo>
                <a:lnTo>
                  <a:pt x="10166027" y="135255"/>
                </a:lnTo>
                <a:lnTo>
                  <a:pt x="10179581" y="125074"/>
                </a:lnTo>
                <a:lnTo>
                  <a:pt x="10193136" y="125364"/>
                </a:lnTo>
                <a:lnTo>
                  <a:pt x="10206691" y="156500"/>
                </a:lnTo>
                <a:lnTo>
                  <a:pt x="10220245" y="131300"/>
                </a:lnTo>
                <a:lnTo>
                  <a:pt x="10233800" y="145108"/>
                </a:lnTo>
                <a:lnTo>
                  <a:pt x="10247355" y="160900"/>
                </a:lnTo>
                <a:lnTo>
                  <a:pt x="10260909" y="128809"/>
                </a:lnTo>
                <a:lnTo>
                  <a:pt x="10274464" y="126672"/>
                </a:lnTo>
                <a:lnTo>
                  <a:pt x="10288019" y="130658"/>
                </a:lnTo>
                <a:lnTo>
                  <a:pt x="10301574" y="125527"/>
                </a:lnTo>
                <a:lnTo>
                  <a:pt x="10315128" y="114551"/>
                </a:lnTo>
                <a:lnTo>
                  <a:pt x="10328683" y="141277"/>
                </a:lnTo>
                <a:lnTo>
                  <a:pt x="10342238" y="158384"/>
                </a:lnTo>
                <a:lnTo>
                  <a:pt x="10355792" y="195560"/>
                </a:lnTo>
                <a:lnTo>
                  <a:pt x="10369347" y="182687"/>
                </a:lnTo>
                <a:lnTo>
                  <a:pt x="10382902" y="177797"/>
                </a:lnTo>
                <a:lnTo>
                  <a:pt x="10396457" y="184099"/>
                </a:lnTo>
                <a:lnTo>
                  <a:pt x="10410011" y="209166"/>
                </a:lnTo>
                <a:lnTo>
                  <a:pt x="10423566" y="246673"/>
                </a:lnTo>
                <a:lnTo>
                  <a:pt x="10437121" y="212257"/>
                </a:lnTo>
                <a:lnTo>
                  <a:pt x="10450675" y="193553"/>
                </a:lnTo>
                <a:lnTo>
                  <a:pt x="10464230" y="183261"/>
                </a:lnTo>
                <a:lnTo>
                  <a:pt x="10477785" y="144683"/>
                </a:lnTo>
                <a:lnTo>
                  <a:pt x="10491339" y="155703"/>
                </a:lnTo>
                <a:lnTo>
                  <a:pt x="10504894" y="146275"/>
                </a:lnTo>
                <a:lnTo>
                  <a:pt x="10518449" y="131880"/>
                </a:lnTo>
                <a:lnTo>
                  <a:pt x="10532004" y="135019"/>
                </a:lnTo>
                <a:lnTo>
                  <a:pt x="10545558" y="127813"/>
                </a:lnTo>
                <a:lnTo>
                  <a:pt x="10559113" y="102312"/>
                </a:lnTo>
                <a:lnTo>
                  <a:pt x="10572668" y="98783"/>
                </a:lnTo>
                <a:lnTo>
                  <a:pt x="10586222" y="96240"/>
                </a:lnTo>
                <a:lnTo>
                  <a:pt x="10599777" y="86815"/>
                </a:lnTo>
                <a:lnTo>
                  <a:pt x="10613332" y="77931"/>
                </a:lnTo>
                <a:lnTo>
                  <a:pt x="10626886" y="88058"/>
                </a:lnTo>
                <a:lnTo>
                  <a:pt x="10640441" y="67729"/>
                </a:lnTo>
                <a:lnTo>
                  <a:pt x="10653996" y="71669"/>
                </a:lnTo>
                <a:lnTo>
                  <a:pt x="10667551" y="64364"/>
                </a:lnTo>
                <a:lnTo>
                  <a:pt x="10681105" y="66297"/>
                </a:lnTo>
                <a:lnTo>
                  <a:pt x="10694660" y="54828"/>
                </a:lnTo>
                <a:lnTo>
                  <a:pt x="10708215" y="45502"/>
                </a:lnTo>
                <a:lnTo>
                  <a:pt x="10721769" y="40521"/>
                </a:lnTo>
                <a:lnTo>
                  <a:pt x="10735324" y="30821"/>
                </a:lnTo>
                <a:lnTo>
                  <a:pt x="10748879" y="24726"/>
                </a:lnTo>
                <a:lnTo>
                  <a:pt x="10762433" y="35136"/>
                </a:lnTo>
                <a:lnTo>
                  <a:pt x="10775988" y="31674"/>
                </a:lnTo>
                <a:lnTo>
                  <a:pt x="10789543" y="6308"/>
                </a:lnTo>
                <a:lnTo>
                  <a:pt x="10803098" y="18919"/>
                </a:lnTo>
                <a:lnTo>
                  <a:pt x="10816652" y="11441"/>
                </a:lnTo>
                <a:lnTo>
                  <a:pt x="10830207" y="38493"/>
                </a:lnTo>
                <a:lnTo>
                  <a:pt x="10843762" y="16203"/>
                </a:lnTo>
                <a:lnTo>
                  <a:pt x="10857316" y="10144"/>
                </a:lnTo>
                <a:lnTo>
                  <a:pt x="10870871" y="4038"/>
                </a:lnTo>
                <a:lnTo>
                  <a:pt x="10884426" y="20357"/>
                </a:lnTo>
                <a:lnTo>
                  <a:pt x="10897980" y="0"/>
                </a:lnTo>
                <a:lnTo>
                  <a:pt x="10911535" y="10728"/>
                </a:lnTo>
              </a:path>
            </a:pathLst>
          </a:custGeom>
          <a:noFill/>
          <a:ln w="28575" cap="rnd">
            <a:solidFill>
              <a:srgbClr val="FFB547"/>
            </a:solidFill>
            <a:round/>
          </a:ln>
          <a:effectLst>
            <a:glow rad="76200">
              <a:srgbClr val="FFB547">
                <a:alpha val="40000"/>
              </a:srgbClr>
            </a:glow>
          </a:effectLst>
        </p:spPr>
        <p:txBody>
          <a:bodyPr rtlCol="0" anchor="ctr"/>
          <a:lstStyle/>
          <a:p>
            <a:pPr algn="ctr"/>
            <a:endParaRPr/>
          </a:p>
        </p:txBody>
      </p:sp>
      <p:sp>
        <p:nvSpPr>
          <p:cNvPr id="7" name="!!dot"/>
          <p:cNvSpPr/>
          <p:nvPr/>
        </p:nvSpPr>
        <p:spPr>
          <a:xfrm>
            <a:off x="11473891" y="4276404"/>
            <a:ext cx="155448" cy="155448"/>
          </a:xfrm>
          <a:prstGeom prst="ellipse">
            <a:avLst/>
          </a:prstGeom>
          <a:solidFill>
            <a:srgbClr val="FFB547"/>
          </a:solidFill>
          <a:ln>
            <a:noFill/>
          </a:ln>
          <a:effectLst>
            <a:glow rad="101600">
              <a:srgbClr val="FFB547">
                <a:alpha val="45000"/>
              </a:srgbClr>
            </a:glow>
          </a:effectLst>
        </p:spPr>
        <p:txBody>
          <a:bodyPr lIns="0" tIns="0" rIns="0" bIns="0" rtlCol="0" anchor="ctr"/>
          <a:lstStyle/>
          <a:p>
            <a:pPr algn="ctr"/>
            <a:endParaRPr/>
          </a:p>
        </p:txBody>
      </p:sp>
      <p:sp>
        <p:nvSpPr>
          <p:cNvPr id="8" name="trace_caption"/>
          <p:cNvSpPr txBox="1"/>
          <p:nvPr/>
        </p:nvSpPr>
        <p:spPr>
          <a:xfrm>
            <a:off x="7436815" y="6400800"/>
            <a:ext cx="4114800" cy="201168"/>
          </a:xfrm>
          <a:prstGeom prst="rect">
            <a:avLst/>
          </a:prstGeom>
          <a:noFill/>
        </p:spPr>
        <p:txBody>
          <a:bodyPr wrap="square" lIns="0" tIns="0" rIns="0" bIns="0" anchor="t">
            <a:noAutofit/>
          </a:bodyPr>
          <a:lstStyle/>
          <a:p>
            <a:pPr algn="r">
              <a:spcAft>
                <a:spcPts val="0"/>
              </a:spcAft>
            </a:pPr>
            <a:r>
              <a:rPr sz="1000" b="0" i="0">
                <a:solidFill>
                  <a:srgbClr val="8291A2"/>
                </a:solidFill>
                <a:latin typeface="Segoe UI"/>
              </a:rPr>
              <a:t>SPY · daily adjusted close · 2010–2025 (data used in this study)</a:t>
            </a:r>
          </a:p>
        </p:txBody>
      </p:sp>
    </p:spTree>
  </p:cSld>
  <p:clrMapOvr>
    <a:masterClrMapping/>
  </p:clrMapOvr>
  <mc:AlternateContent xmlns:mc="http://schemas.openxmlformats.org/markup-compatibility/2006">
    <mc:Choice xmlns:p14="http://schemas.microsoft.com/office/powerpoint/2010/main" Requires="p14">
      <p:transition spd="slow" p14:dur="9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p:cTn id="8" dur="600" fill="hold"/>
                                        <p:tgtEl>
                                          <p:spTgt spid="4"/>
                                        </p:tgtEl>
                                        <p:attrNameLst>
                                          <p:attrName>ppt_x</p:attrName>
                                        </p:attrNameLst>
                                      </p:cBhvr>
                                      <p:tavLst>
                                        <p:tav tm="0">
                                          <p:val>
                                            <p:strVal val="#ppt_x"/>
                                          </p:val>
                                        </p:tav>
                                        <p:tav tm="100000">
                                          <p:val>
                                            <p:strVal val="#ppt_x"/>
                                          </p:val>
                                        </p:tav>
                                      </p:tavLst>
                                    </p:anim>
                                    <p:anim calcmode="lin" valueType="num">
                                      <p:cBhvr>
                                        <p:cTn id="9" dur="6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5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600"/>
                                        <p:tgtEl>
                                          <p:spTgt spid="2"/>
                                        </p:tgtEl>
                                      </p:cBhvr>
                                    </p:animEffect>
                                    <p:anim calcmode="lin" valueType="num">
                                      <p:cBhvr>
                                        <p:cTn id="13" dur="600" fill="hold"/>
                                        <p:tgtEl>
                                          <p:spTgt spid="2"/>
                                        </p:tgtEl>
                                        <p:attrNameLst>
                                          <p:attrName>ppt_x</p:attrName>
                                        </p:attrNameLst>
                                      </p:cBhvr>
                                      <p:tavLst>
                                        <p:tav tm="0">
                                          <p:val>
                                            <p:strVal val="#ppt_x"/>
                                          </p:val>
                                        </p:tav>
                                        <p:tav tm="100000">
                                          <p:val>
                                            <p:strVal val="#ppt_x"/>
                                          </p:val>
                                        </p:tav>
                                      </p:tavLst>
                                    </p:anim>
                                    <p:anim calcmode="lin" valueType="num">
                                      <p:cBhvr>
                                        <p:cTn id="14" dur="6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30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600"/>
                                        <p:tgtEl>
                                          <p:spTgt spid="3"/>
                                        </p:tgtEl>
                                      </p:cBhvr>
                                    </p:animEffect>
                                    <p:anim calcmode="lin" valueType="num">
                                      <p:cBhvr>
                                        <p:cTn id="18" dur="600" fill="hold"/>
                                        <p:tgtEl>
                                          <p:spTgt spid="3"/>
                                        </p:tgtEl>
                                        <p:attrNameLst>
                                          <p:attrName>ppt_x</p:attrName>
                                        </p:attrNameLst>
                                      </p:cBhvr>
                                      <p:tavLst>
                                        <p:tav tm="0">
                                          <p:val>
                                            <p:strVal val="#ppt_x"/>
                                          </p:val>
                                        </p:tav>
                                        <p:tav tm="100000">
                                          <p:val>
                                            <p:strVal val="#ppt_x"/>
                                          </p:val>
                                        </p:tav>
                                      </p:tavLst>
                                    </p:anim>
                                    <p:anim calcmode="lin" valueType="num">
                                      <p:cBhvr>
                                        <p:cTn id="19" dur="600" fill="hold"/>
                                        <p:tgtEl>
                                          <p:spTgt spid="3"/>
                                        </p:tgtEl>
                                        <p:attrNameLst>
                                          <p:attrName>ppt_y</p:attrName>
                                        </p:attrNameLst>
                                      </p:cBhvr>
                                      <p:tavLst>
                                        <p:tav tm="0">
                                          <p:val>
                                            <p:strVal val="#ppt_y+.1"/>
                                          </p:val>
                                        </p:tav>
                                        <p:tav tm="100000">
                                          <p:val>
                                            <p:strVal val="#ppt_y"/>
                                          </p:val>
                                        </p:tav>
                                      </p:tavLst>
                                    </p:anim>
                                  </p:childTnLst>
                                </p:cTn>
                              </p:par>
                            </p:childTnLst>
                          </p:cTn>
                        </p:par>
                        <p:par>
                          <p:cTn id="20" fill="hold">
                            <p:stCondLst>
                              <p:cond delay="900"/>
                            </p:stCondLst>
                            <p:childTnLst>
                              <p:par>
                                <p:cTn id="21" presetID="22" presetClass="entr" presetSubtype="8"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1600"/>
                                        <p:tgtEl>
                                          <p:spTgt spid="6"/>
                                        </p:tgtEl>
                                      </p:cBhvr>
                                    </p:animEffect>
                                  </p:childTnLst>
                                </p:cTn>
                              </p:par>
                              <p:par>
                                <p:cTn id="24" presetID="10" presetClass="entr" presetSubtype="0" fill="hold" grpId="0" nodeType="withEffect">
                                  <p:stCondLst>
                                    <p:cond delay="6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600"/>
                                        <p:tgtEl>
                                          <p:spTgt spid="8"/>
                                        </p:tgtEl>
                                      </p:cBhvr>
                                    </p:animEffect>
                                  </p:childTnLst>
                                </p:cTn>
                              </p:par>
                            </p:childTnLst>
                          </p:cTn>
                        </p:par>
                        <p:par>
                          <p:cTn id="27" fill="hold">
                            <p:stCondLst>
                              <p:cond delay="2500"/>
                            </p:stCondLst>
                            <p:childTnLst>
                              <p:par>
                                <p:cTn id="28" presetID="53" presetClass="entr" presetSubtype="16"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p:cTn id="30" dur="350" fill="hold"/>
                                        <p:tgtEl>
                                          <p:spTgt spid="7"/>
                                        </p:tgtEl>
                                        <p:attrNameLst>
                                          <p:attrName>ppt_w</p:attrName>
                                        </p:attrNameLst>
                                      </p:cBhvr>
                                      <p:tavLst>
                                        <p:tav tm="0">
                                          <p:val>
                                            <p:fltVal val="0"/>
                                          </p:val>
                                        </p:tav>
                                        <p:tav tm="100000">
                                          <p:val>
                                            <p:strVal val="#ppt_w"/>
                                          </p:val>
                                        </p:tav>
                                      </p:tavLst>
                                    </p:anim>
                                    <p:anim calcmode="lin" valueType="num">
                                      <p:cBhvr>
                                        <p:cTn id="31" dur="350" fill="hold"/>
                                        <p:tgtEl>
                                          <p:spTgt spid="7"/>
                                        </p:tgtEl>
                                        <p:attrNameLst>
                                          <p:attrName>ppt_h</p:attrName>
                                        </p:attrNameLst>
                                      </p:cBhvr>
                                      <p:tavLst>
                                        <p:tav tm="0">
                                          <p:val>
                                            <p:fltVal val="0"/>
                                          </p:val>
                                        </p:tav>
                                        <p:tav tm="100000">
                                          <p:val>
                                            <p:strVal val="#ppt_h"/>
                                          </p:val>
                                        </p:tav>
                                      </p:tavLst>
                                    </p:anim>
                                    <p:animEffect transition="in" filter="fade">
                                      <p:cBhvr>
                                        <p:cTn id="32" dur="350"/>
                                        <p:tgtEl>
                                          <p:spTgt spid="7"/>
                                        </p:tgtEl>
                                      </p:cBhvr>
                                    </p:animEffect>
                                  </p:childTnLst>
                                </p:cTn>
                              </p:par>
                              <p:par>
                                <p:cTn id="33" presetID="42" presetClass="entr" presetSubtype="0" fill="hold" grpId="0" nodeType="withEffect">
                                  <p:stCondLst>
                                    <p:cond delay="10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600"/>
                                        <p:tgtEl>
                                          <p:spTgt spid="5"/>
                                        </p:tgtEl>
                                      </p:cBhvr>
                                    </p:animEffect>
                                    <p:anim calcmode="lin" valueType="num">
                                      <p:cBhvr>
                                        <p:cTn id="36" dur="600" fill="hold"/>
                                        <p:tgtEl>
                                          <p:spTgt spid="5"/>
                                        </p:tgtEl>
                                        <p:attrNameLst>
                                          <p:attrName>ppt_x</p:attrName>
                                        </p:attrNameLst>
                                      </p:cBhvr>
                                      <p:tavLst>
                                        <p:tav tm="0">
                                          <p:val>
                                            <p:strVal val="#ppt_x"/>
                                          </p:val>
                                        </p:tav>
                                        <p:tav tm="100000">
                                          <p:val>
                                            <p:strVal val="#ppt_x"/>
                                          </p:val>
                                        </p:tav>
                                      </p:tavLst>
                                    </p:anim>
                                    <p:anim calcmode="lin" valueType="num">
                                      <p:cBhvr>
                                        <p:cTn id="37" dur="6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animBg="1"/>
      <p:bldP spid="7" grpId="0" animBg="1"/>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Can a model learn when to be in the market?</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THE BIG IDEA</a:t>
            </a:r>
          </a:p>
        </p:txBody>
      </p:sp>
      <p:grpSp>
        <p:nvGrpSpPr>
          <p:cNvPr id="4" name="card_rule"/>
          <p:cNvGrpSpPr/>
          <p:nvPr/>
        </p:nvGrpSpPr>
        <p:grpSpPr>
          <a:xfrm>
            <a:off x="640080" y="1828800"/>
            <a:ext cx="5120640" cy="2743200"/>
            <a:chOff x="640080" y="1828800"/>
            <a:chExt cx="5120640" cy="2743200"/>
          </a:xfrm>
        </p:grpSpPr>
        <p:sp>
          <p:nvSpPr>
            <p:cNvPr id="5" name="card_rule_bg"/>
            <p:cNvSpPr/>
            <p:nvPr/>
          </p:nvSpPr>
          <p:spPr>
            <a:xfrm>
              <a:off x="640080" y="1828800"/>
              <a:ext cx="5120640" cy="2743200"/>
            </a:xfrm>
            <a:prstGeom prst="roundRect">
              <a:avLst>
                <a:gd name="adj" fmla="val 4000"/>
              </a:avLst>
            </a:prstGeom>
            <a:solidFill>
              <a:srgbClr val="111823">
                <a:alpha val="88000"/>
              </a:srgbClr>
            </a:solidFill>
            <a:ln w="9525">
              <a:solidFill>
                <a:srgbClr val="243245"/>
              </a:solidFill>
            </a:ln>
          </p:spPr>
          <p:txBody>
            <a:bodyPr lIns="0" tIns="0" rIns="0" bIns="0" rtlCol="0" anchor="ctr"/>
            <a:lstStyle/>
            <a:p>
              <a:pPr algn="ctr"/>
              <a:endParaRPr/>
            </a:p>
          </p:txBody>
        </p:sp>
        <p:sp>
          <p:nvSpPr>
            <p:cNvPr id="6" name="TextBox 5"/>
            <p:cNvSpPr txBox="1"/>
            <p:nvPr/>
          </p:nvSpPr>
          <p:spPr>
            <a:xfrm>
              <a:off x="1005840" y="2103120"/>
              <a:ext cx="4389120" cy="274320"/>
            </a:xfrm>
            <a:prstGeom prst="rect">
              <a:avLst/>
            </a:prstGeom>
            <a:noFill/>
          </p:spPr>
          <p:txBody>
            <a:bodyPr wrap="square" lIns="0" tIns="0" rIns="0" bIns="0" anchor="t">
              <a:noAutofit/>
            </a:bodyPr>
            <a:lstStyle/>
            <a:p>
              <a:pPr algn="l">
                <a:spcAft>
                  <a:spcPts val="0"/>
                </a:spcAft>
              </a:pPr>
              <a:r>
                <a:rPr sz="1200" b="0" i="0" spc="200">
                  <a:solidFill>
                    <a:srgbClr val="8291A2"/>
                  </a:solidFill>
                  <a:latin typeface="Consolas"/>
                </a:rPr>
                <a:t>RULE-BASED</a:t>
              </a:r>
            </a:p>
          </p:txBody>
        </p:sp>
        <p:sp>
          <p:nvSpPr>
            <p:cNvPr id="7" name="TextBox 6"/>
            <p:cNvSpPr txBox="1"/>
            <p:nvPr/>
          </p:nvSpPr>
          <p:spPr>
            <a:xfrm>
              <a:off x="1005840" y="2606040"/>
              <a:ext cx="4389120" cy="822960"/>
            </a:xfrm>
            <a:prstGeom prst="rect">
              <a:avLst/>
            </a:prstGeom>
            <a:noFill/>
          </p:spPr>
          <p:txBody>
            <a:bodyPr wrap="square" lIns="0" tIns="0" rIns="0" bIns="0" anchor="t">
              <a:noAutofit/>
            </a:bodyPr>
            <a:lstStyle/>
            <a:p>
              <a:pPr algn="l">
                <a:spcAft>
                  <a:spcPts val="200"/>
                </a:spcAft>
              </a:pPr>
              <a:r>
                <a:rPr sz="1700" b="0" i="0">
                  <a:solidFill>
                    <a:srgbClr val="EAF0F6"/>
                  </a:solidFill>
                  <a:latin typeface="Consolas"/>
                </a:rPr>
                <a:t>if SMA(10) &gt; SMA(50):  long</a:t>
              </a:r>
            </a:p>
            <a:p>
              <a:pPr algn="l">
                <a:spcAft>
                  <a:spcPts val="200"/>
                </a:spcAft>
              </a:pPr>
              <a:r>
                <a:rPr sz="1700" b="0" i="0">
                  <a:solidFill>
                    <a:srgbClr val="EAF0F6"/>
                  </a:solidFill>
                  <a:latin typeface="Consolas"/>
                </a:rPr>
                <a:t>else:                  cash</a:t>
              </a:r>
            </a:p>
          </p:txBody>
        </p:sp>
        <p:sp>
          <p:nvSpPr>
            <p:cNvPr id="8" name="TextBox 7"/>
            <p:cNvSpPr txBox="1"/>
            <p:nvPr/>
          </p:nvSpPr>
          <p:spPr>
            <a:xfrm>
              <a:off x="1005840" y="3611880"/>
              <a:ext cx="4389120" cy="731520"/>
            </a:xfrm>
            <a:prstGeom prst="rect">
              <a:avLst/>
            </a:prstGeom>
            <a:noFill/>
          </p:spPr>
          <p:txBody>
            <a:bodyPr wrap="square" lIns="0" tIns="0" rIns="0" bIns="0" anchor="t">
              <a:noAutofit/>
            </a:bodyPr>
            <a:lstStyle/>
            <a:p>
              <a:pPr algn="l">
                <a:lnSpc>
                  <a:spcPct val="110000"/>
                </a:lnSpc>
                <a:spcAft>
                  <a:spcPts val="0"/>
                </a:spcAft>
              </a:pPr>
              <a:r>
                <a:rPr sz="1400" b="0" i="0">
                  <a:solidFill>
                    <a:srgbClr val="AAB6C3"/>
                  </a:solidFill>
                  <a:latin typeface="Segoe UI"/>
                </a:rPr>
                <a:t>Written by hand and fixed forever: the classic moving-average crossover baseline.</a:t>
              </a:r>
            </a:p>
          </p:txBody>
        </p:sp>
      </p:grpSp>
      <p:grpSp>
        <p:nvGrpSpPr>
          <p:cNvPr id="9" name="card_learned"/>
          <p:cNvGrpSpPr/>
          <p:nvPr/>
        </p:nvGrpSpPr>
        <p:grpSpPr>
          <a:xfrm>
            <a:off x="6428232" y="1828800"/>
            <a:ext cx="5120640" cy="2743200"/>
            <a:chOff x="6428232" y="1828800"/>
            <a:chExt cx="5120640" cy="2743200"/>
          </a:xfrm>
        </p:grpSpPr>
        <p:sp>
          <p:nvSpPr>
            <p:cNvPr id="10" name="card_learned_bg"/>
            <p:cNvSpPr/>
            <p:nvPr/>
          </p:nvSpPr>
          <p:spPr>
            <a:xfrm>
              <a:off x="6428232" y="1828800"/>
              <a:ext cx="5120640" cy="2743200"/>
            </a:xfrm>
            <a:prstGeom prst="roundRect">
              <a:avLst>
                <a:gd name="adj" fmla="val 4000"/>
              </a:avLst>
            </a:prstGeom>
            <a:solidFill>
              <a:srgbClr val="111823">
                <a:alpha val="88000"/>
              </a:srgbClr>
            </a:solidFill>
            <a:ln w="12700">
              <a:solidFill>
                <a:srgbClr val="FFB547">
                  <a:alpha val="75000"/>
                </a:srgbClr>
              </a:solidFill>
            </a:ln>
          </p:spPr>
          <p:txBody>
            <a:bodyPr lIns="0" tIns="0" rIns="0" bIns="0" rtlCol="0" anchor="ctr"/>
            <a:lstStyle/>
            <a:p>
              <a:pPr algn="ctr"/>
              <a:endParaRPr/>
            </a:p>
          </p:txBody>
        </p:sp>
        <p:sp>
          <p:nvSpPr>
            <p:cNvPr id="11" name="TextBox 10"/>
            <p:cNvSpPr txBox="1"/>
            <p:nvPr/>
          </p:nvSpPr>
          <p:spPr>
            <a:xfrm>
              <a:off x="6793992" y="2103120"/>
              <a:ext cx="4389120" cy="274320"/>
            </a:xfrm>
            <a:prstGeom prst="rect">
              <a:avLst/>
            </a:prstGeom>
            <a:noFill/>
          </p:spPr>
          <p:txBody>
            <a:bodyPr wrap="square" lIns="0" tIns="0" rIns="0" bIns="0" anchor="t">
              <a:noAutofit/>
            </a:bodyPr>
            <a:lstStyle/>
            <a:p>
              <a:pPr algn="l">
                <a:spcAft>
                  <a:spcPts val="0"/>
                </a:spcAft>
              </a:pPr>
              <a:r>
                <a:rPr sz="1200" b="0" i="0" spc="200">
                  <a:solidFill>
                    <a:srgbClr val="FFB547"/>
                  </a:solidFill>
                  <a:latin typeface="Consolas"/>
                </a:rPr>
                <a:t>LEARNED</a:t>
              </a:r>
            </a:p>
          </p:txBody>
        </p:sp>
        <p:sp>
          <p:nvSpPr>
            <p:cNvPr id="12" name="TextBox 11"/>
            <p:cNvSpPr txBox="1"/>
            <p:nvPr/>
          </p:nvSpPr>
          <p:spPr>
            <a:xfrm>
              <a:off x="6793992" y="2606040"/>
              <a:ext cx="4389120" cy="822960"/>
            </a:xfrm>
            <a:prstGeom prst="rect">
              <a:avLst/>
            </a:prstGeom>
            <a:noFill/>
          </p:spPr>
          <p:txBody>
            <a:bodyPr wrap="square" lIns="0" tIns="0" rIns="0" bIns="0" anchor="t">
              <a:noAutofit/>
            </a:bodyPr>
            <a:lstStyle/>
            <a:p>
              <a:pPr algn="l">
                <a:spcAft>
                  <a:spcPts val="200"/>
                </a:spcAft>
              </a:pPr>
              <a:r>
                <a:rPr sz="1700" b="0" i="0">
                  <a:solidFill>
                    <a:srgbClr val="EAF0F6"/>
                  </a:solidFill>
                  <a:latin typeface="Consolas"/>
                </a:rPr>
                <a:t>if P(Up | 42 features) ≥ τ:  long</a:t>
              </a:r>
            </a:p>
            <a:p>
              <a:pPr algn="l">
                <a:spcAft>
                  <a:spcPts val="200"/>
                </a:spcAft>
              </a:pPr>
              <a:r>
                <a:rPr sz="1700" b="0" i="0">
                  <a:solidFill>
                    <a:srgbClr val="EAF0F6"/>
                  </a:solidFill>
                  <a:latin typeface="Consolas"/>
                </a:rPr>
                <a:t>else:                        cash</a:t>
              </a:r>
            </a:p>
          </p:txBody>
        </p:sp>
        <p:sp>
          <p:nvSpPr>
            <p:cNvPr id="13" name="TextBox 12"/>
            <p:cNvSpPr txBox="1"/>
            <p:nvPr/>
          </p:nvSpPr>
          <p:spPr>
            <a:xfrm>
              <a:off x="6793992" y="3611880"/>
              <a:ext cx="4389120" cy="731520"/>
            </a:xfrm>
            <a:prstGeom prst="rect">
              <a:avLst/>
            </a:prstGeom>
            <a:noFill/>
          </p:spPr>
          <p:txBody>
            <a:bodyPr wrap="square" lIns="0" tIns="0" rIns="0" bIns="0" anchor="t">
              <a:noAutofit/>
            </a:bodyPr>
            <a:lstStyle/>
            <a:p>
              <a:pPr algn="l">
                <a:lnSpc>
                  <a:spcPct val="110000"/>
                </a:lnSpc>
                <a:spcAft>
                  <a:spcPts val="0"/>
                </a:spcAft>
              </a:pPr>
              <a:r>
                <a:rPr sz="1400" b="0" i="0">
                  <a:solidFill>
                    <a:srgbClr val="AAB6C3"/>
                  </a:solidFill>
                  <a:latin typeface="Segoe UI"/>
                </a:rPr>
                <a:t>Five model families learn P(Up) from 2011–2019 data; the threshold τ is chosen on 2020–2021.</a:t>
              </a:r>
            </a:p>
          </p:txBody>
        </p:sp>
      </p:grpSp>
      <p:sp>
        <p:nvSpPr>
          <p:cNvPr id="14" name="vs"/>
          <p:cNvSpPr/>
          <p:nvPr/>
        </p:nvSpPr>
        <p:spPr>
          <a:xfrm>
            <a:off x="5865876" y="2962656"/>
            <a:ext cx="457200" cy="457200"/>
          </a:xfrm>
          <a:prstGeom prst="ellipse">
            <a:avLst/>
          </a:prstGeom>
          <a:solidFill>
            <a:srgbClr val="0A0E14"/>
          </a:solidFill>
          <a:ln w="9525">
            <a:solidFill>
              <a:srgbClr val="3A4D63"/>
            </a:solidFill>
          </a:ln>
        </p:spPr>
        <p:txBody>
          <a:bodyPr wrap="square" lIns="0" tIns="0" rIns="0" bIns="0" rtlCol="0" anchor="ctr">
            <a:noAutofit/>
          </a:bodyPr>
          <a:lstStyle/>
          <a:p>
            <a:pPr algn="ctr">
              <a:spcAft>
                <a:spcPts val="0"/>
              </a:spcAft>
            </a:pPr>
            <a:r>
              <a:rPr sz="1300" b="0" i="0">
                <a:solidFill>
                  <a:srgbClr val="8291A2"/>
                </a:solidFill>
                <a:latin typeface="Segoe UI"/>
              </a:rPr>
              <a:t>vs</a:t>
            </a:r>
          </a:p>
        </p:txBody>
      </p:sp>
      <p:sp>
        <p:nvSpPr>
          <p:cNvPr id="15" name="statement"/>
          <p:cNvSpPr txBox="1"/>
          <p:nvPr/>
        </p:nvSpPr>
        <p:spPr>
          <a:xfrm>
            <a:off x="640080" y="4773168"/>
            <a:ext cx="10911535" cy="603504"/>
          </a:xfrm>
          <a:prstGeom prst="rect">
            <a:avLst/>
          </a:prstGeom>
          <a:noFill/>
        </p:spPr>
        <p:txBody>
          <a:bodyPr wrap="square" lIns="0" tIns="0" rIns="0" bIns="0" anchor="t">
            <a:noAutofit/>
          </a:bodyPr>
          <a:lstStyle/>
          <a:p>
            <a:pPr algn="l">
              <a:spcAft>
                <a:spcPts val="400"/>
              </a:spcAft>
            </a:pPr>
            <a:r>
              <a:rPr sz="1700" b="0" i="0">
                <a:solidFill>
                  <a:srgbClr val="EAF0F6"/>
                </a:solidFill>
                <a:latin typeface="Segoe UI"/>
              </a:rPr>
              <a:t>Same data · same execution · same costs — so any difference comes from </a:t>
            </a:r>
            <a:r>
              <a:rPr sz="1700" b="0" i="0">
                <a:solidFill>
                  <a:srgbClr val="FFB547"/>
                </a:solidFill>
                <a:latin typeface="Segoe UI Semibold"/>
              </a:rPr>
              <a:t>the signal itself.</a:t>
            </a:r>
          </a:p>
          <a:p>
            <a:pPr algn="l">
              <a:spcAft>
                <a:spcPts val="0"/>
              </a:spcAft>
            </a:pPr>
            <a:r>
              <a:rPr sz="1250" b="0" i="0">
                <a:solidFill>
                  <a:srgbClr val="8291A2"/>
                </a:solidFill>
                <a:latin typeface="Segoe UI"/>
              </a:rPr>
              <a:t>Tested on SPY (an S&amp;P 500 ETF), Apple (AAPL) and Microsoft (MSFT): daily prices 2010–2025 from Yahoo Finance.</a:t>
            </a:r>
          </a:p>
        </p:txBody>
      </p:sp>
      <p:sp>
        <p:nvSpPr>
          <p:cNvPr id="16" name="!!trace"/>
          <p:cNvSpPr/>
          <p:nvPr/>
        </p:nvSpPr>
        <p:spPr>
          <a:xfrm>
            <a:off x="640080" y="5468112"/>
            <a:ext cx="10911535" cy="676656"/>
          </a:xfrm>
          <a:custGeom>
            <a:avLst/>
            <a:gdLst/>
            <a:ahLst/>
            <a:cxnLst/>
            <a:rect l="l" t="t" r="r" b="b"/>
            <a:pathLst>
              <a:path w="10911535" h="676656">
                <a:moveTo>
                  <a:pt x="0" y="647434"/>
                </a:moveTo>
                <a:lnTo>
                  <a:pt x="13555" y="643639"/>
                </a:lnTo>
                <a:lnTo>
                  <a:pt x="27109" y="642749"/>
                </a:lnTo>
                <a:lnTo>
                  <a:pt x="40664" y="658599"/>
                </a:lnTo>
                <a:lnTo>
                  <a:pt x="54219" y="655588"/>
                </a:lnTo>
                <a:lnTo>
                  <a:pt x="67774" y="664567"/>
                </a:lnTo>
                <a:lnTo>
                  <a:pt x="81328" y="655925"/>
                </a:lnTo>
                <a:lnTo>
                  <a:pt x="94883" y="654359"/>
                </a:lnTo>
                <a:lnTo>
                  <a:pt x="108438" y="650257"/>
                </a:lnTo>
                <a:lnTo>
                  <a:pt x="121992" y="642993"/>
                </a:lnTo>
                <a:lnTo>
                  <a:pt x="135547" y="637316"/>
                </a:lnTo>
                <a:lnTo>
                  <a:pt x="149102" y="636733"/>
                </a:lnTo>
                <a:lnTo>
                  <a:pt x="162656" y="636312"/>
                </a:lnTo>
                <a:lnTo>
                  <a:pt x="176211" y="631668"/>
                </a:lnTo>
                <a:lnTo>
                  <a:pt x="189766" y="625179"/>
                </a:lnTo>
                <a:lnTo>
                  <a:pt x="203321" y="625867"/>
                </a:lnTo>
                <a:lnTo>
                  <a:pt x="216875" y="626277"/>
                </a:lnTo>
                <a:lnTo>
                  <a:pt x="230430" y="647230"/>
                </a:lnTo>
                <a:lnTo>
                  <a:pt x="243985" y="638990"/>
                </a:lnTo>
                <a:lnTo>
                  <a:pt x="257539" y="662376"/>
                </a:lnTo>
                <a:lnTo>
                  <a:pt x="271094" y="653255"/>
                </a:lnTo>
                <a:lnTo>
                  <a:pt x="284649" y="664453"/>
                </a:lnTo>
                <a:lnTo>
                  <a:pt x="298203" y="656284"/>
                </a:lnTo>
                <a:lnTo>
                  <a:pt x="311758" y="649093"/>
                </a:lnTo>
                <a:lnTo>
                  <a:pt x="325313" y="659961"/>
                </a:lnTo>
                <a:lnTo>
                  <a:pt x="338868" y="676656"/>
                </a:lnTo>
                <a:lnTo>
                  <a:pt x="352422" y="659505"/>
                </a:lnTo>
                <a:lnTo>
                  <a:pt x="365977" y="661627"/>
                </a:lnTo>
                <a:lnTo>
                  <a:pt x="379532" y="649562"/>
                </a:lnTo>
                <a:lnTo>
                  <a:pt x="393086" y="646255"/>
                </a:lnTo>
                <a:lnTo>
                  <a:pt x="406641" y="645625"/>
                </a:lnTo>
                <a:lnTo>
                  <a:pt x="420196" y="658846"/>
                </a:lnTo>
                <a:lnTo>
                  <a:pt x="433750" y="662120"/>
                </a:lnTo>
                <a:lnTo>
                  <a:pt x="447305" y="667387"/>
                </a:lnTo>
                <a:lnTo>
                  <a:pt x="460860" y="654929"/>
                </a:lnTo>
                <a:lnTo>
                  <a:pt x="474415" y="646557"/>
                </a:lnTo>
                <a:lnTo>
                  <a:pt x="487969" y="641279"/>
                </a:lnTo>
                <a:lnTo>
                  <a:pt x="501524" y="639411"/>
                </a:lnTo>
                <a:lnTo>
                  <a:pt x="515079" y="635740"/>
                </a:lnTo>
                <a:lnTo>
                  <a:pt x="528633" y="633167"/>
                </a:lnTo>
                <a:lnTo>
                  <a:pt x="542188" y="633906"/>
                </a:lnTo>
                <a:lnTo>
                  <a:pt x="555743" y="628680"/>
                </a:lnTo>
                <a:lnTo>
                  <a:pt x="569297" y="626734"/>
                </a:lnTo>
                <a:lnTo>
                  <a:pt x="582852" y="621245"/>
                </a:lnTo>
                <a:lnTo>
                  <a:pt x="596407" y="630144"/>
                </a:lnTo>
                <a:lnTo>
                  <a:pt x="609962" y="629385"/>
                </a:lnTo>
                <a:lnTo>
                  <a:pt x="623516" y="622775"/>
                </a:lnTo>
                <a:lnTo>
                  <a:pt x="637071" y="617028"/>
                </a:lnTo>
                <a:lnTo>
                  <a:pt x="650626" y="614978"/>
                </a:lnTo>
                <a:lnTo>
                  <a:pt x="664180" y="609201"/>
                </a:lnTo>
                <a:lnTo>
                  <a:pt x="677735" y="609348"/>
                </a:lnTo>
                <a:lnTo>
                  <a:pt x="691290" y="605267"/>
                </a:lnTo>
                <a:lnTo>
                  <a:pt x="704845" y="602897"/>
                </a:lnTo>
                <a:lnTo>
                  <a:pt x="718399" y="602897"/>
                </a:lnTo>
                <a:lnTo>
                  <a:pt x="731954" y="604467"/>
                </a:lnTo>
                <a:lnTo>
                  <a:pt x="745509" y="596274"/>
                </a:lnTo>
                <a:lnTo>
                  <a:pt x="759063" y="591689"/>
                </a:lnTo>
                <a:lnTo>
                  <a:pt x="772618" y="588407"/>
                </a:lnTo>
                <a:lnTo>
                  <a:pt x="786173" y="591596"/>
                </a:lnTo>
                <a:lnTo>
                  <a:pt x="799727" y="595614"/>
                </a:lnTo>
                <a:lnTo>
                  <a:pt x="813282" y="598879"/>
                </a:lnTo>
                <a:lnTo>
                  <a:pt x="826837" y="598277"/>
                </a:lnTo>
                <a:lnTo>
                  <a:pt x="840392" y="595335"/>
                </a:lnTo>
                <a:lnTo>
                  <a:pt x="853946" y="590000"/>
                </a:lnTo>
                <a:lnTo>
                  <a:pt x="867501" y="591862"/>
                </a:lnTo>
                <a:lnTo>
                  <a:pt x="881056" y="596329"/>
                </a:lnTo>
                <a:lnTo>
                  <a:pt x="894610" y="586472"/>
                </a:lnTo>
                <a:lnTo>
                  <a:pt x="908165" y="584322"/>
                </a:lnTo>
                <a:lnTo>
                  <a:pt x="921720" y="584004"/>
                </a:lnTo>
                <a:lnTo>
                  <a:pt x="935274" y="590208"/>
                </a:lnTo>
                <a:lnTo>
                  <a:pt x="948829" y="593055"/>
                </a:lnTo>
                <a:lnTo>
                  <a:pt x="962384" y="593242"/>
                </a:lnTo>
                <a:lnTo>
                  <a:pt x="975939" y="601439"/>
                </a:lnTo>
                <a:lnTo>
                  <a:pt x="989493" y="604828"/>
                </a:lnTo>
                <a:lnTo>
                  <a:pt x="1003048" y="599307"/>
                </a:lnTo>
                <a:lnTo>
                  <a:pt x="1016603" y="594422"/>
                </a:lnTo>
                <a:lnTo>
                  <a:pt x="1030157" y="583637"/>
                </a:lnTo>
                <a:lnTo>
                  <a:pt x="1043712" y="593925"/>
                </a:lnTo>
                <a:lnTo>
                  <a:pt x="1057267" y="585630"/>
                </a:lnTo>
                <a:lnTo>
                  <a:pt x="1070821" y="595607"/>
                </a:lnTo>
                <a:lnTo>
                  <a:pt x="1084376" y="620205"/>
                </a:lnTo>
                <a:lnTo>
                  <a:pt x="1097931" y="627831"/>
                </a:lnTo>
                <a:lnTo>
                  <a:pt x="1111486" y="635353"/>
                </a:lnTo>
                <a:lnTo>
                  <a:pt x="1125040" y="630609"/>
                </a:lnTo>
                <a:lnTo>
                  <a:pt x="1138595" y="618463"/>
                </a:lnTo>
                <a:lnTo>
                  <a:pt x="1152150" y="631568"/>
                </a:lnTo>
                <a:lnTo>
                  <a:pt x="1165704" y="615387"/>
                </a:lnTo>
                <a:lnTo>
                  <a:pt x="1179259" y="636387"/>
                </a:lnTo>
                <a:lnTo>
                  <a:pt x="1192814" y="637450"/>
                </a:lnTo>
                <a:lnTo>
                  <a:pt x="1206368" y="630533"/>
                </a:lnTo>
                <a:lnTo>
                  <a:pt x="1219923" y="612729"/>
                </a:lnTo>
                <a:lnTo>
                  <a:pt x="1233478" y="609217"/>
                </a:lnTo>
                <a:lnTo>
                  <a:pt x="1247033" y="597882"/>
                </a:lnTo>
                <a:lnTo>
                  <a:pt x="1260587" y="605472"/>
                </a:lnTo>
                <a:lnTo>
                  <a:pt x="1274142" y="602579"/>
                </a:lnTo>
                <a:lnTo>
                  <a:pt x="1287697" y="614219"/>
                </a:lnTo>
                <a:lnTo>
                  <a:pt x="1301251" y="620026"/>
                </a:lnTo>
                <a:lnTo>
                  <a:pt x="1314806" y="603656"/>
                </a:lnTo>
                <a:lnTo>
                  <a:pt x="1328361" y="608619"/>
                </a:lnTo>
                <a:lnTo>
                  <a:pt x="1341916" y="616577"/>
                </a:lnTo>
                <a:lnTo>
                  <a:pt x="1355470" y="601040"/>
                </a:lnTo>
                <a:lnTo>
                  <a:pt x="1369025" y="598098"/>
                </a:lnTo>
                <a:lnTo>
                  <a:pt x="1382580" y="594487"/>
                </a:lnTo>
                <a:lnTo>
                  <a:pt x="1396134" y="589126"/>
                </a:lnTo>
                <a:lnTo>
                  <a:pt x="1409689" y="588139"/>
                </a:lnTo>
                <a:lnTo>
                  <a:pt x="1423244" y="586269"/>
                </a:lnTo>
                <a:lnTo>
                  <a:pt x="1436798" y="580088"/>
                </a:lnTo>
                <a:lnTo>
                  <a:pt x="1450353" y="578516"/>
                </a:lnTo>
                <a:lnTo>
                  <a:pt x="1463908" y="576521"/>
                </a:lnTo>
                <a:lnTo>
                  <a:pt x="1477463" y="575664"/>
                </a:lnTo>
                <a:lnTo>
                  <a:pt x="1491017" y="575079"/>
                </a:lnTo>
                <a:lnTo>
                  <a:pt x="1504572" y="567653"/>
                </a:lnTo>
                <a:lnTo>
                  <a:pt x="1518127" y="569090"/>
                </a:lnTo>
                <a:lnTo>
                  <a:pt x="1531681" y="566531"/>
                </a:lnTo>
                <a:lnTo>
                  <a:pt x="1545236" y="572271"/>
                </a:lnTo>
                <a:lnTo>
                  <a:pt x="1558791" y="574898"/>
                </a:lnTo>
                <a:lnTo>
                  <a:pt x="1572345" y="575486"/>
                </a:lnTo>
                <a:lnTo>
                  <a:pt x="1585900" y="568603"/>
                </a:lnTo>
                <a:lnTo>
                  <a:pt x="1599455" y="574786"/>
                </a:lnTo>
                <a:lnTo>
                  <a:pt x="1613010" y="581604"/>
                </a:lnTo>
                <a:lnTo>
                  <a:pt x="1626564" y="586576"/>
                </a:lnTo>
                <a:lnTo>
                  <a:pt x="1640119" y="582550"/>
                </a:lnTo>
                <a:lnTo>
                  <a:pt x="1653674" y="593447"/>
                </a:lnTo>
                <a:lnTo>
                  <a:pt x="1667228" y="584360"/>
                </a:lnTo>
                <a:lnTo>
                  <a:pt x="1680783" y="576361"/>
                </a:lnTo>
                <a:lnTo>
                  <a:pt x="1694338" y="584955"/>
                </a:lnTo>
                <a:lnTo>
                  <a:pt x="1707892" y="572489"/>
                </a:lnTo>
                <a:lnTo>
                  <a:pt x="1721447" y="579890"/>
                </a:lnTo>
                <a:lnTo>
                  <a:pt x="1735002" y="572582"/>
                </a:lnTo>
                <a:lnTo>
                  <a:pt x="1748557" y="580352"/>
                </a:lnTo>
                <a:lnTo>
                  <a:pt x="1762111" y="572087"/>
                </a:lnTo>
                <a:lnTo>
                  <a:pt x="1775666" y="565637"/>
                </a:lnTo>
                <a:lnTo>
                  <a:pt x="1789221" y="564625"/>
                </a:lnTo>
                <a:lnTo>
                  <a:pt x="1802775" y="562725"/>
                </a:lnTo>
                <a:lnTo>
                  <a:pt x="1816330" y="563400"/>
                </a:lnTo>
                <a:lnTo>
                  <a:pt x="1829885" y="558502"/>
                </a:lnTo>
                <a:lnTo>
                  <a:pt x="1843439" y="552497"/>
                </a:lnTo>
                <a:lnTo>
                  <a:pt x="1856994" y="552244"/>
                </a:lnTo>
                <a:lnTo>
                  <a:pt x="1870549" y="554990"/>
                </a:lnTo>
                <a:lnTo>
                  <a:pt x="1884104" y="551822"/>
                </a:lnTo>
                <a:lnTo>
                  <a:pt x="1897658" y="557740"/>
                </a:lnTo>
                <a:lnTo>
                  <a:pt x="1911213" y="552479"/>
                </a:lnTo>
                <a:lnTo>
                  <a:pt x="1924768" y="561929"/>
                </a:lnTo>
                <a:lnTo>
                  <a:pt x="1938322" y="561014"/>
                </a:lnTo>
                <a:lnTo>
                  <a:pt x="1951877" y="568915"/>
                </a:lnTo>
                <a:lnTo>
                  <a:pt x="1965432" y="567000"/>
                </a:lnTo>
                <a:lnTo>
                  <a:pt x="1978987" y="564344"/>
                </a:lnTo>
                <a:lnTo>
                  <a:pt x="1992541" y="562323"/>
                </a:lnTo>
                <a:lnTo>
                  <a:pt x="2006096" y="557566"/>
                </a:lnTo>
                <a:lnTo>
                  <a:pt x="2019651" y="553435"/>
                </a:lnTo>
                <a:lnTo>
                  <a:pt x="2033205" y="559047"/>
                </a:lnTo>
                <a:lnTo>
                  <a:pt x="2046760" y="550484"/>
                </a:lnTo>
                <a:lnTo>
                  <a:pt x="2060315" y="547634"/>
                </a:lnTo>
                <a:lnTo>
                  <a:pt x="2073869" y="545706"/>
                </a:lnTo>
                <a:lnTo>
                  <a:pt x="2087424" y="541043"/>
                </a:lnTo>
                <a:lnTo>
                  <a:pt x="2100979" y="539011"/>
                </a:lnTo>
                <a:lnTo>
                  <a:pt x="2114534" y="537868"/>
                </a:lnTo>
                <a:lnTo>
                  <a:pt x="2128088" y="537238"/>
                </a:lnTo>
                <a:lnTo>
                  <a:pt x="2141643" y="543624"/>
                </a:lnTo>
                <a:lnTo>
                  <a:pt x="2155198" y="535595"/>
                </a:lnTo>
                <a:lnTo>
                  <a:pt x="2168752" y="529371"/>
                </a:lnTo>
                <a:lnTo>
                  <a:pt x="2182307" y="530106"/>
                </a:lnTo>
                <a:lnTo>
                  <a:pt x="2195862" y="530146"/>
                </a:lnTo>
                <a:lnTo>
                  <a:pt x="2209416" y="526439"/>
                </a:lnTo>
                <a:lnTo>
                  <a:pt x="2222971" y="526577"/>
                </a:lnTo>
                <a:lnTo>
                  <a:pt x="2236526" y="525277"/>
                </a:lnTo>
                <a:lnTo>
                  <a:pt x="2250081" y="524551"/>
                </a:lnTo>
                <a:lnTo>
                  <a:pt x="2263635" y="520850"/>
                </a:lnTo>
                <a:lnTo>
                  <a:pt x="2277190" y="515247"/>
                </a:lnTo>
                <a:lnTo>
                  <a:pt x="2290745" y="510287"/>
                </a:lnTo>
                <a:lnTo>
                  <a:pt x="2304299" y="506678"/>
                </a:lnTo>
                <a:lnTo>
                  <a:pt x="2317854" y="510307"/>
                </a:lnTo>
                <a:lnTo>
                  <a:pt x="2331409" y="517788"/>
                </a:lnTo>
                <a:lnTo>
                  <a:pt x="2344963" y="516868"/>
                </a:lnTo>
                <a:lnTo>
                  <a:pt x="2358518" y="513637"/>
                </a:lnTo>
                <a:lnTo>
                  <a:pt x="2372073" y="518329"/>
                </a:lnTo>
                <a:lnTo>
                  <a:pt x="2385628" y="516138"/>
                </a:lnTo>
                <a:lnTo>
                  <a:pt x="2399182" y="504548"/>
                </a:lnTo>
                <a:lnTo>
                  <a:pt x="2412737" y="501918"/>
                </a:lnTo>
                <a:lnTo>
                  <a:pt x="2426292" y="501810"/>
                </a:lnTo>
                <a:lnTo>
                  <a:pt x="2439846" y="498659"/>
                </a:lnTo>
                <a:lnTo>
                  <a:pt x="2453401" y="500222"/>
                </a:lnTo>
                <a:lnTo>
                  <a:pt x="2466956" y="506511"/>
                </a:lnTo>
                <a:lnTo>
                  <a:pt x="2480510" y="507108"/>
                </a:lnTo>
                <a:lnTo>
                  <a:pt x="2494065" y="510645"/>
                </a:lnTo>
                <a:lnTo>
                  <a:pt x="2507620" y="507145"/>
                </a:lnTo>
                <a:lnTo>
                  <a:pt x="2521175" y="501078"/>
                </a:lnTo>
                <a:lnTo>
                  <a:pt x="2534729" y="497047"/>
                </a:lnTo>
                <a:lnTo>
                  <a:pt x="2548284" y="500343"/>
                </a:lnTo>
                <a:lnTo>
                  <a:pt x="2561839" y="500379"/>
                </a:lnTo>
                <a:lnTo>
                  <a:pt x="2575393" y="497882"/>
                </a:lnTo>
                <a:lnTo>
                  <a:pt x="2588948" y="490472"/>
                </a:lnTo>
                <a:lnTo>
                  <a:pt x="2602503" y="487719"/>
                </a:lnTo>
                <a:lnTo>
                  <a:pt x="2616058" y="487262"/>
                </a:lnTo>
                <a:lnTo>
                  <a:pt x="2629612" y="485373"/>
                </a:lnTo>
                <a:lnTo>
                  <a:pt x="2643167" y="480596"/>
                </a:lnTo>
                <a:lnTo>
                  <a:pt x="2656722" y="479294"/>
                </a:lnTo>
                <a:lnTo>
                  <a:pt x="2670276" y="479774"/>
                </a:lnTo>
                <a:lnTo>
                  <a:pt x="2683831" y="478287"/>
                </a:lnTo>
                <a:lnTo>
                  <a:pt x="2697386" y="482025"/>
                </a:lnTo>
                <a:lnTo>
                  <a:pt x="2710940" y="474695"/>
                </a:lnTo>
                <a:lnTo>
                  <a:pt x="2724495" y="471056"/>
                </a:lnTo>
                <a:lnTo>
                  <a:pt x="2738050" y="473021"/>
                </a:lnTo>
                <a:lnTo>
                  <a:pt x="2751605" y="471107"/>
                </a:lnTo>
                <a:lnTo>
                  <a:pt x="2765159" y="474255"/>
                </a:lnTo>
                <a:lnTo>
                  <a:pt x="2778714" y="480335"/>
                </a:lnTo>
                <a:lnTo>
                  <a:pt x="2792269" y="483368"/>
                </a:lnTo>
                <a:lnTo>
                  <a:pt x="2805823" y="473882"/>
                </a:lnTo>
                <a:lnTo>
                  <a:pt x="2819378" y="472399"/>
                </a:lnTo>
                <a:lnTo>
                  <a:pt x="2832933" y="468390"/>
                </a:lnTo>
                <a:lnTo>
                  <a:pt x="2846487" y="465138"/>
                </a:lnTo>
                <a:lnTo>
                  <a:pt x="2860042" y="471107"/>
                </a:lnTo>
                <a:lnTo>
                  <a:pt x="2873597" y="467178"/>
                </a:lnTo>
                <a:lnTo>
                  <a:pt x="2887152" y="468359"/>
                </a:lnTo>
                <a:lnTo>
                  <a:pt x="2900706" y="466845"/>
                </a:lnTo>
                <a:lnTo>
                  <a:pt x="2914261" y="475064"/>
                </a:lnTo>
                <a:lnTo>
                  <a:pt x="2927816" y="465787"/>
                </a:lnTo>
                <a:lnTo>
                  <a:pt x="2941370" y="466052"/>
                </a:lnTo>
                <a:lnTo>
                  <a:pt x="2954925" y="463514"/>
                </a:lnTo>
                <a:lnTo>
                  <a:pt x="2968480" y="461274"/>
                </a:lnTo>
                <a:lnTo>
                  <a:pt x="2982034" y="462989"/>
                </a:lnTo>
                <a:lnTo>
                  <a:pt x="2995589" y="458468"/>
                </a:lnTo>
                <a:lnTo>
                  <a:pt x="3009144" y="456410"/>
                </a:lnTo>
                <a:lnTo>
                  <a:pt x="3022699" y="451952"/>
                </a:lnTo>
                <a:lnTo>
                  <a:pt x="3036253" y="453172"/>
                </a:lnTo>
                <a:lnTo>
                  <a:pt x="3049808" y="451899"/>
                </a:lnTo>
                <a:lnTo>
                  <a:pt x="3063363" y="448222"/>
                </a:lnTo>
                <a:lnTo>
                  <a:pt x="3076917" y="448081"/>
                </a:lnTo>
                <a:lnTo>
                  <a:pt x="3090472" y="446765"/>
                </a:lnTo>
                <a:lnTo>
                  <a:pt x="3104027" y="445705"/>
                </a:lnTo>
                <a:lnTo>
                  <a:pt x="3117581" y="448300"/>
                </a:lnTo>
                <a:lnTo>
                  <a:pt x="3131136" y="456105"/>
                </a:lnTo>
                <a:lnTo>
                  <a:pt x="3144691" y="451678"/>
                </a:lnTo>
                <a:lnTo>
                  <a:pt x="3158246" y="445269"/>
                </a:lnTo>
                <a:lnTo>
                  <a:pt x="3171800" y="443211"/>
                </a:lnTo>
                <a:lnTo>
                  <a:pt x="3185355" y="443271"/>
                </a:lnTo>
                <a:lnTo>
                  <a:pt x="3198910" y="443132"/>
                </a:lnTo>
                <a:lnTo>
                  <a:pt x="3212464" y="440796"/>
                </a:lnTo>
                <a:lnTo>
                  <a:pt x="3226019" y="447864"/>
                </a:lnTo>
                <a:lnTo>
                  <a:pt x="3239574" y="450966"/>
                </a:lnTo>
                <a:lnTo>
                  <a:pt x="3253129" y="453586"/>
                </a:lnTo>
                <a:lnTo>
                  <a:pt x="3266683" y="464142"/>
                </a:lnTo>
                <a:lnTo>
                  <a:pt x="3280238" y="450093"/>
                </a:lnTo>
                <a:lnTo>
                  <a:pt x="3293793" y="443115"/>
                </a:lnTo>
                <a:lnTo>
                  <a:pt x="3307347" y="437323"/>
                </a:lnTo>
                <a:lnTo>
                  <a:pt x="3320902" y="435744"/>
                </a:lnTo>
                <a:lnTo>
                  <a:pt x="3334457" y="433647"/>
                </a:lnTo>
                <a:lnTo>
                  <a:pt x="3348011" y="431220"/>
                </a:lnTo>
                <a:lnTo>
                  <a:pt x="3361566" y="430028"/>
                </a:lnTo>
                <a:lnTo>
                  <a:pt x="3375121" y="440781"/>
                </a:lnTo>
                <a:lnTo>
                  <a:pt x="3388676" y="430535"/>
                </a:lnTo>
                <a:lnTo>
                  <a:pt x="3402230" y="427258"/>
                </a:lnTo>
                <a:lnTo>
                  <a:pt x="3415785" y="440731"/>
                </a:lnTo>
                <a:lnTo>
                  <a:pt x="3429340" y="437254"/>
                </a:lnTo>
                <a:lnTo>
                  <a:pt x="3442894" y="435727"/>
                </a:lnTo>
                <a:lnTo>
                  <a:pt x="3456449" y="440237"/>
                </a:lnTo>
                <a:lnTo>
                  <a:pt x="3470004" y="434239"/>
                </a:lnTo>
                <a:lnTo>
                  <a:pt x="3483558" y="429921"/>
                </a:lnTo>
                <a:lnTo>
                  <a:pt x="3497113" y="425399"/>
                </a:lnTo>
                <a:lnTo>
                  <a:pt x="3510668" y="423343"/>
                </a:lnTo>
                <a:lnTo>
                  <a:pt x="3524223" y="424692"/>
                </a:lnTo>
                <a:lnTo>
                  <a:pt x="3537777" y="429667"/>
                </a:lnTo>
                <a:lnTo>
                  <a:pt x="3551332" y="426105"/>
                </a:lnTo>
                <a:lnTo>
                  <a:pt x="3564887" y="431035"/>
                </a:lnTo>
                <a:lnTo>
                  <a:pt x="3578441" y="429278"/>
                </a:lnTo>
                <a:lnTo>
                  <a:pt x="3591996" y="423934"/>
                </a:lnTo>
                <a:lnTo>
                  <a:pt x="3605551" y="427025"/>
                </a:lnTo>
                <a:lnTo>
                  <a:pt x="3619105" y="421572"/>
                </a:lnTo>
                <a:lnTo>
                  <a:pt x="3632660" y="422933"/>
                </a:lnTo>
                <a:lnTo>
                  <a:pt x="3646215" y="421617"/>
                </a:lnTo>
                <a:lnTo>
                  <a:pt x="3659770" y="420420"/>
                </a:lnTo>
                <a:lnTo>
                  <a:pt x="3673324" y="419622"/>
                </a:lnTo>
                <a:lnTo>
                  <a:pt x="3686879" y="421688"/>
                </a:lnTo>
                <a:lnTo>
                  <a:pt x="3700434" y="426238"/>
                </a:lnTo>
                <a:lnTo>
                  <a:pt x="3713988" y="425305"/>
                </a:lnTo>
                <a:lnTo>
                  <a:pt x="3727543" y="419722"/>
                </a:lnTo>
                <a:lnTo>
                  <a:pt x="3741098" y="429308"/>
                </a:lnTo>
                <a:lnTo>
                  <a:pt x="3754652" y="425420"/>
                </a:lnTo>
                <a:lnTo>
                  <a:pt x="3768207" y="421492"/>
                </a:lnTo>
                <a:lnTo>
                  <a:pt x="3781762" y="419926"/>
                </a:lnTo>
                <a:lnTo>
                  <a:pt x="3795317" y="423479"/>
                </a:lnTo>
                <a:lnTo>
                  <a:pt x="3808871" y="423406"/>
                </a:lnTo>
                <a:lnTo>
                  <a:pt x="3822426" y="424456"/>
                </a:lnTo>
                <a:lnTo>
                  <a:pt x="3835981" y="422520"/>
                </a:lnTo>
                <a:lnTo>
                  <a:pt x="3849535" y="457908"/>
                </a:lnTo>
                <a:lnTo>
                  <a:pt x="3863090" y="450567"/>
                </a:lnTo>
                <a:lnTo>
                  <a:pt x="3876645" y="445736"/>
                </a:lnTo>
                <a:lnTo>
                  <a:pt x="3890200" y="437298"/>
                </a:lnTo>
                <a:lnTo>
                  <a:pt x="3903754" y="446028"/>
                </a:lnTo>
                <a:lnTo>
                  <a:pt x="3917309" y="449190"/>
                </a:lnTo>
                <a:lnTo>
                  <a:pt x="3930864" y="436886"/>
                </a:lnTo>
                <a:lnTo>
                  <a:pt x="3944418" y="437072"/>
                </a:lnTo>
                <a:lnTo>
                  <a:pt x="3957973" y="433126"/>
                </a:lnTo>
                <a:lnTo>
                  <a:pt x="3971528" y="422438"/>
                </a:lnTo>
                <a:lnTo>
                  <a:pt x="3985082" y="420359"/>
                </a:lnTo>
                <a:lnTo>
                  <a:pt x="3998637" y="424234"/>
                </a:lnTo>
                <a:lnTo>
                  <a:pt x="4012192" y="422764"/>
                </a:lnTo>
                <a:lnTo>
                  <a:pt x="4025747" y="421891"/>
                </a:lnTo>
                <a:lnTo>
                  <a:pt x="4039301" y="427419"/>
                </a:lnTo>
                <a:lnTo>
                  <a:pt x="4052856" y="427030"/>
                </a:lnTo>
                <a:lnTo>
                  <a:pt x="4066411" y="428550"/>
                </a:lnTo>
                <a:lnTo>
                  <a:pt x="4079965" y="425480"/>
                </a:lnTo>
                <a:lnTo>
                  <a:pt x="4093520" y="432565"/>
                </a:lnTo>
                <a:lnTo>
                  <a:pt x="4107075" y="446581"/>
                </a:lnTo>
                <a:lnTo>
                  <a:pt x="4120629" y="453168"/>
                </a:lnTo>
                <a:lnTo>
                  <a:pt x="4134184" y="449670"/>
                </a:lnTo>
                <a:lnTo>
                  <a:pt x="4147739" y="449736"/>
                </a:lnTo>
                <a:lnTo>
                  <a:pt x="4161294" y="457523"/>
                </a:lnTo>
                <a:lnTo>
                  <a:pt x="4174848" y="445345"/>
                </a:lnTo>
                <a:lnTo>
                  <a:pt x="4188403" y="444833"/>
                </a:lnTo>
                <a:lnTo>
                  <a:pt x="4201958" y="435688"/>
                </a:lnTo>
                <a:lnTo>
                  <a:pt x="4215512" y="435098"/>
                </a:lnTo>
                <a:lnTo>
                  <a:pt x="4229067" y="429018"/>
                </a:lnTo>
                <a:lnTo>
                  <a:pt x="4242622" y="427624"/>
                </a:lnTo>
                <a:lnTo>
                  <a:pt x="4256176" y="424130"/>
                </a:lnTo>
                <a:lnTo>
                  <a:pt x="4269731" y="426501"/>
                </a:lnTo>
                <a:lnTo>
                  <a:pt x="4283286" y="420407"/>
                </a:lnTo>
                <a:lnTo>
                  <a:pt x="4296841" y="418983"/>
                </a:lnTo>
                <a:lnTo>
                  <a:pt x="4310395" y="421240"/>
                </a:lnTo>
                <a:lnTo>
                  <a:pt x="4323950" y="424959"/>
                </a:lnTo>
                <a:lnTo>
                  <a:pt x="4337505" y="422570"/>
                </a:lnTo>
                <a:lnTo>
                  <a:pt x="4351059" y="426123"/>
                </a:lnTo>
                <a:lnTo>
                  <a:pt x="4364614" y="418437"/>
                </a:lnTo>
                <a:lnTo>
                  <a:pt x="4378169" y="417052"/>
                </a:lnTo>
                <a:lnTo>
                  <a:pt x="4391723" y="417360"/>
                </a:lnTo>
                <a:lnTo>
                  <a:pt x="4405278" y="421026"/>
                </a:lnTo>
                <a:lnTo>
                  <a:pt x="4418833" y="425975"/>
                </a:lnTo>
                <a:lnTo>
                  <a:pt x="4432388" y="415978"/>
                </a:lnTo>
                <a:lnTo>
                  <a:pt x="4445942" y="410894"/>
                </a:lnTo>
                <a:lnTo>
                  <a:pt x="4459497" y="406565"/>
                </a:lnTo>
                <a:lnTo>
                  <a:pt x="4473052" y="406222"/>
                </a:lnTo>
                <a:lnTo>
                  <a:pt x="4486606" y="405808"/>
                </a:lnTo>
                <a:lnTo>
                  <a:pt x="4500161" y="404230"/>
                </a:lnTo>
                <a:lnTo>
                  <a:pt x="4513716" y="402758"/>
                </a:lnTo>
                <a:lnTo>
                  <a:pt x="4527271" y="403550"/>
                </a:lnTo>
                <a:lnTo>
                  <a:pt x="4540825" y="403791"/>
                </a:lnTo>
                <a:lnTo>
                  <a:pt x="4554380" y="402844"/>
                </a:lnTo>
                <a:lnTo>
                  <a:pt x="4567935" y="411141"/>
                </a:lnTo>
                <a:lnTo>
                  <a:pt x="4581489" y="409308"/>
                </a:lnTo>
                <a:lnTo>
                  <a:pt x="4595044" y="406209"/>
                </a:lnTo>
                <a:lnTo>
                  <a:pt x="4608599" y="407488"/>
                </a:lnTo>
                <a:lnTo>
                  <a:pt x="4622153" y="409293"/>
                </a:lnTo>
                <a:lnTo>
                  <a:pt x="4635708" y="408889"/>
                </a:lnTo>
                <a:lnTo>
                  <a:pt x="4649263" y="408223"/>
                </a:lnTo>
                <a:lnTo>
                  <a:pt x="4662818" y="412819"/>
                </a:lnTo>
                <a:lnTo>
                  <a:pt x="4676372" y="408310"/>
                </a:lnTo>
                <a:lnTo>
                  <a:pt x="4689927" y="402347"/>
                </a:lnTo>
                <a:lnTo>
                  <a:pt x="4703482" y="399106"/>
                </a:lnTo>
                <a:lnTo>
                  <a:pt x="4717036" y="399386"/>
                </a:lnTo>
                <a:lnTo>
                  <a:pt x="4730591" y="393521"/>
                </a:lnTo>
                <a:lnTo>
                  <a:pt x="4744146" y="391765"/>
                </a:lnTo>
                <a:lnTo>
                  <a:pt x="4757700" y="390099"/>
                </a:lnTo>
                <a:lnTo>
                  <a:pt x="4771255" y="392050"/>
                </a:lnTo>
                <a:lnTo>
                  <a:pt x="4784810" y="388133"/>
                </a:lnTo>
                <a:lnTo>
                  <a:pt x="4798365" y="388351"/>
                </a:lnTo>
                <a:lnTo>
                  <a:pt x="4811919" y="389579"/>
                </a:lnTo>
                <a:lnTo>
                  <a:pt x="4825474" y="387671"/>
                </a:lnTo>
                <a:lnTo>
                  <a:pt x="4839029" y="385802"/>
                </a:lnTo>
                <a:lnTo>
                  <a:pt x="4852583" y="380659"/>
                </a:lnTo>
                <a:lnTo>
                  <a:pt x="4866138" y="375757"/>
                </a:lnTo>
                <a:lnTo>
                  <a:pt x="4879693" y="375784"/>
                </a:lnTo>
                <a:lnTo>
                  <a:pt x="4893247" y="375091"/>
                </a:lnTo>
                <a:lnTo>
                  <a:pt x="4906802" y="375222"/>
                </a:lnTo>
                <a:lnTo>
                  <a:pt x="4920357" y="378044"/>
                </a:lnTo>
                <a:lnTo>
                  <a:pt x="4933912" y="375948"/>
                </a:lnTo>
                <a:lnTo>
                  <a:pt x="4947466" y="375739"/>
                </a:lnTo>
                <a:lnTo>
                  <a:pt x="4961021" y="376290"/>
                </a:lnTo>
                <a:lnTo>
                  <a:pt x="4974576" y="378429"/>
                </a:lnTo>
                <a:lnTo>
                  <a:pt x="4988130" y="371929"/>
                </a:lnTo>
                <a:lnTo>
                  <a:pt x="5001685" y="371825"/>
                </a:lnTo>
                <a:lnTo>
                  <a:pt x="5015240" y="370027"/>
                </a:lnTo>
                <a:lnTo>
                  <a:pt x="5028794" y="375292"/>
                </a:lnTo>
                <a:lnTo>
                  <a:pt x="5042349" y="369076"/>
                </a:lnTo>
                <a:lnTo>
                  <a:pt x="5055904" y="365563"/>
                </a:lnTo>
                <a:lnTo>
                  <a:pt x="5069459" y="365029"/>
                </a:lnTo>
                <a:lnTo>
                  <a:pt x="5083013" y="365041"/>
                </a:lnTo>
                <a:lnTo>
                  <a:pt x="5096568" y="364719"/>
                </a:lnTo>
                <a:lnTo>
                  <a:pt x="5110123" y="366622"/>
                </a:lnTo>
                <a:lnTo>
                  <a:pt x="5123677" y="365650"/>
                </a:lnTo>
                <a:lnTo>
                  <a:pt x="5137232" y="361276"/>
                </a:lnTo>
                <a:lnTo>
                  <a:pt x="5150787" y="359619"/>
                </a:lnTo>
                <a:lnTo>
                  <a:pt x="5164342" y="359581"/>
                </a:lnTo>
                <a:lnTo>
                  <a:pt x="5177896" y="358955"/>
                </a:lnTo>
                <a:lnTo>
                  <a:pt x="5191451" y="363094"/>
                </a:lnTo>
                <a:lnTo>
                  <a:pt x="5205006" y="364885"/>
                </a:lnTo>
                <a:lnTo>
                  <a:pt x="5218560" y="362538"/>
                </a:lnTo>
                <a:lnTo>
                  <a:pt x="5232115" y="358418"/>
                </a:lnTo>
                <a:lnTo>
                  <a:pt x="5245670" y="356714"/>
                </a:lnTo>
                <a:lnTo>
                  <a:pt x="5259224" y="354552"/>
                </a:lnTo>
                <a:lnTo>
                  <a:pt x="5272779" y="355532"/>
                </a:lnTo>
                <a:lnTo>
                  <a:pt x="5286334" y="351350"/>
                </a:lnTo>
                <a:lnTo>
                  <a:pt x="5299889" y="349359"/>
                </a:lnTo>
                <a:lnTo>
                  <a:pt x="5313443" y="347732"/>
                </a:lnTo>
                <a:lnTo>
                  <a:pt x="5326998" y="346740"/>
                </a:lnTo>
                <a:lnTo>
                  <a:pt x="5340553" y="345969"/>
                </a:lnTo>
                <a:lnTo>
                  <a:pt x="5354107" y="343450"/>
                </a:lnTo>
                <a:lnTo>
                  <a:pt x="5367662" y="344071"/>
                </a:lnTo>
                <a:lnTo>
                  <a:pt x="5381217" y="344107"/>
                </a:lnTo>
                <a:lnTo>
                  <a:pt x="5394771" y="338686"/>
                </a:lnTo>
                <a:lnTo>
                  <a:pt x="5408326" y="338309"/>
                </a:lnTo>
                <a:lnTo>
                  <a:pt x="5421881" y="334121"/>
                </a:lnTo>
                <a:lnTo>
                  <a:pt x="5435436" y="332093"/>
                </a:lnTo>
                <a:lnTo>
                  <a:pt x="5448990" y="331919"/>
                </a:lnTo>
                <a:lnTo>
                  <a:pt x="5462545" y="326998"/>
                </a:lnTo>
                <a:lnTo>
                  <a:pt x="5476100" y="321906"/>
                </a:lnTo>
                <a:lnTo>
                  <a:pt x="5489654" y="317139"/>
                </a:lnTo>
                <a:lnTo>
                  <a:pt x="5503209" y="310411"/>
                </a:lnTo>
                <a:lnTo>
                  <a:pt x="5516764" y="322658"/>
                </a:lnTo>
                <a:lnTo>
                  <a:pt x="5530318" y="338725"/>
                </a:lnTo>
                <a:lnTo>
                  <a:pt x="5543873" y="325295"/>
                </a:lnTo>
                <a:lnTo>
                  <a:pt x="5557428" y="319920"/>
                </a:lnTo>
                <a:lnTo>
                  <a:pt x="5570983" y="326338"/>
                </a:lnTo>
                <a:lnTo>
                  <a:pt x="5584537" y="319231"/>
                </a:lnTo>
                <a:lnTo>
                  <a:pt x="5598092" y="327039"/>
                </a:lnTo>
                <a:lnTo>
                  <a:pt x="5611647" y="333250"/>
                </a:lnTo>
                <a:lnTo>
                  <a:pt x="5625201" y="338353"/>
                </a:lnTo>
                <a:lnTo>
                  <a:pt x="5638756" y="333203"/>
                </a:lnTo>
                <a:lnTo>
                  <a:pt x="5652311" y="327382"/>
                </a:lnTo>
                <a:lnTo>
                  <a:pt x="5665865" y="335744"/>
                </a:lnTo>
                <a:lnTo>
                  <a:pt x="5679420" y="333402"/>
                </a:lnTo>
                <a:lnTo>
                  <a:pt x="5692975" y="331147"/>
                </a:lnTo>
                <a:lnTo>
                  <a:pt x="5706530" y="326343"/>
                </a:lnTo>
                <a:lnTo>
                  <a:pt x="5720084" y="324625"/>
                </a:lnTo>
                <a:lnTo>
                  <a:pt x="5733639" y="324625"/>
                </a:lnTo>
                <a:lnTo>
                  <a:pt x="5747194" y="319240"/>
                </a:lnTo>
                <a:lnTo>
                  <a:pt x="5760748" y="318539"/>
                </a:lnTo>
                <a:lnTo>
                  <a:pt x="5774303" y="319453"/>
                </a:lnTo>
                <a:lnTo>
                  <a:pt x="5787858" y="326960"/>
                </a:lnTo>
                <a:lnTo>
                  <a:pt x="5801413" y="322674"/>
                </a:lnTo>
                <a:lnTo>
                  <a:pt x="5814967" y="315668"/>
                </a:lnTo>
                <a:lnTo>
                  <a:pt x="5828522" y="314972"/>
                </a:lnTo>
                <a:lnTo>
                  <a:pt x="5842077" y="311305"/>
                </a:lnTo>
                <a:lnTo>
                  <a:pt x="5855631" y="312344"/>
                </a:lnTo>
                <a:lnTo>
                  <a:pt x="5869186" y="309423"/>
                </a:lnTo>
                <a:lnTo>
                  <a:pt x="5882741" y="310521"/>
                </a:lnTo>
                <a:lnTo>
                  <a:pt x="5896295" y="308644"/>
                </a:lnTo>
                <a:lnTo>
                  <a:pt x="5909850" y="303802"/>
                </a:lnTo>
                <a:lnTo>
                  <a:pt x="5923405" y="306692"/>
                </a:lnTo>
                <a:lnTo>
                  <a:pt x="5936960" y="303185"/>
                </a:lnTo>
                <a:lnTo>
                  <a:pt x="5950514" y="300612"/>
                </a:lnTo>
                <a:lnTo>
                  <a:pt x="5964069" y="301959"/>
                </a:lnTo>
                <a:lnTo>
                  <a:pt x="5977624" y="305058"/>
                </a:lnTo>
                <a:lnTo>
                  <a:pt x="5991178" y="318079"/>
                </a:lnTo>
                <a:lnTo>
                  <a:pt x="6004733" y="317743"/>
                </a:lnTo>
                <a:lnTo>
                  <a:pt x="6018288" y="330213"/>
                </a:lnTo>
                <a:lnTo>
                  <a:pt x="6031842" y="322662"/>
                </a:lnTo>
                <a:lnTo>
                  <a:pt x="6045397" y="316058"/>
                </a:lnTo>
                <a:lnTo>
                  <a:pt x="6058952" y="320577"/>
                </a:lnTo>
                <a:lnTo>
                  <a:pt x="6072507" y="327694"/>
                </a:lnTo>
                <a:lnTo>
                  <a:pt x="6086061" y="314349"/>
                </a:lnTo>
                <a:lnTo>
                  <a:pt x="6099616" y="331614"/>
                </a:lnTo>
                <a:lnTo>
                  <a:pt x="6113171" y="342392"/>
                </a:lnTo>
                <a:lnTo>
                  <a:pt x="6126725" y="351572"/>
                </a:lnTo>
                <a:lnTo>
                  <a:pt x="6140280" y="354056"/>
                </a:lnTo>
                <a:lnTo>
                  <a:pt x="6153835" y="336021"/>
                </a:lnTo>
                <a:lnTo>
                  <a:pt x="6167389" y="331186"/>
                </a:lnTo>
                <a:lnTo>
                  <a:pt x="6180944" y="327889"/>
                </a:lnTo>
                <a:lnTo>
                  <a:pt x="6194499" y="322950"/>
                </a:lnTo>
                <a:lnTo>
                  <a:pt x="6208054" y="322480"/>
                </a:lnTo>
                <a:lnTo>
                  <a:pt x="6221608" y="314692"/>
                </a:lnTo>
                <a:lnTo>
                  <a:pt x="6235163" y="312305"/>
                </a:lnTo>
                <a:lnTo>
                  <a:pt x="6248718" y="312438"/>
                </a:lnTo>
                <a:lnTo>
                  <a:pt x="6262272" y="313502"/>
                </a:lnTo>
                <a:lnTo>
                  <a:pt x="6275827" y="307854"/>
                </a:lnTo>
                <a:lnTo>
                  <a:pt x="6289382" y="311478"/>
                </a:lnTo>
                <a:lnTo>
                  <a:pt x="6302936" y="304045"/>
                </a:lnTo>
                <a:lnTo>
                  <a:pt x="6316491" y="300860"/>
                </a:lnTo>
                <a:lnTo>
                  <a:pt x="6330046" y="299599"/>
                </a:lnTo>
                <a:lnTo>
                  <a:pt x="6343601" y="296512"/>
                </a:lnTo>
                <a:lnTo>
                  <a:pt x="6357155" y="295311"/>
                </a:lnTo>
                <a:lnTo>
                  <a:pt x="6370710" y="301781"/>
                </a:lnTo>
                <a:lnTo>
                  <a:pt x="6384265" y="306685"/>
                </a:lnTo>
                <a:lnTo>
                  <a:pt x="6397819" y="303310"/>
                </a:lnTo>
                <a:lnTo>
                  <a:pt x="6411374" y="312332"/>
                </a:lnTo>
                <a:lnTo>
                  <a:pt x="6424929" y="307165"/>
                </a:lnTo>
                <a:lnTo>
                  <a:pt x="6438484" y="301288"/>
                </a:lnTo>
                <a:lnTo>
                  <a:pt x="6452038" y="296321"/>
                </a:lnTo>
                <a:lnTo>
                  <a:pt x="6465593" y="297566"/>
                </a:lnTo>
                <a:lnTo>
                  <a:pt x="6479148" y="288825"/>
                </a:lnTo>
                <a:lnTo>
                  <a:pt x="6492702" y="288298"/>
                </a:lnTo>
                <a:lnTo>
                  <a:pt x="6506257" y="288794"/>
                </a:lnTo>
                <a:lnTo>
                  <a:pt x="6519812" y="287586"/>
                </a:lnTo>
                <a:lnTo>
                  <a:pt x="6533366" y="292950"/>
                </a:lnTo>
                <a:lnTo>
                  <a:pt x="6546921" y="294231"/>
                </a:lnTo>
                <a:lnTo>
                  <a:pt x="6560476" y="303824"/>
                </a:lnTo>
                <a:lnTo>
                  <a:pt x="6574031" y="295562"/>
                </a:lnTo>
                <a:lnTo>
                  <a:pt x="6587585" y="295329"/>
                </a:lnTo>
                <a:lnTo>
                  <a:pt x="6601140" y="289602"/>
                </a:lnTo>
                <a:lnTo>
                  <a:pt x="6614695" y="286465"/>
                </a:lnTo>
                <a:lnTo>
                  <a:pt x="6628249" y="287939"/>
                </a:lnTo>
                <a:lnTo>
                  <a:pt x="6641804" y="290939"/>
                </a:lnTo>
                <a:lnTo>
                  <a:pt x="6655359" y="292039"/>
                </a:lnTo>
                <a:lnTo>
                  <a:pt x="6668913" y="290019"/>
                </a:lnTo>
                <a:lnTo>
                  <a:pt x="6682468" y="288261"/>
                </a:lnTo>
                <a:lnTo>
                  <a:pt x="6696023" y="284517"/>
                </a:lnTo>
                <a:lnTo>
                  <a:pt x="6709578" y="279898"/>
                </a:lnTo>
                <a:lnTo>
                  <a:pt x="6723132" y="277083"/>
                </a:lnTo>
                <a:lnTo>
                  <a:pt x="6736687" y="274244"/>
                </a:lnTo>
                <a:lnTo>
                  <a:pt x="6750242" y="275068"/>
                </a:lnTo>
                <a:lnTo>
                  <a:pt x="6763796" y="274393"/>
                </a:lnTo>
                <a:lnTo>
                  <a:pt x="6777351" y="272178"/>
                </a:lnTo>
                <a:lnTo>
                  <a:pt x="6790906" y="266692"/>
                </a:lnTo>
                <a:lnTo>
                  <a:pt x="6804460" y="263516"/>
                </a:lnTo>
                <a:lnTo>
                  <a:pt x="6818015" y="262901"/>
                </a:lnTo>
                <a:lnTo>
                  <a:pt x="6831570" y="260423"/>
                </a:lnTo>
                <a:lnTo>
                  <a:pt x="6845125" y="256879"/>
                </a:lnTo>
                <a:lnTo>
                  <a:pt x="6858679" y="253572"/>
                </a:lnTo>
                <a:lnTo>
                  <a:pt x="6872234" y="257360"/>
                </a:lnTo>
                <a:lnTo>
                  <a:pt x="6885789" y="251473"/>
                </a:lnTo>
                <a:lnTo>
                  <a:pt x="6899343" y="248635"/>
                </a:lnTo>
                <a:lnTo>
                  <a:pt x="6912898" y="251936"/>
                </a:lnTo>
                <a:lnTo>
                  <a:pt x="6926453" y="288524"/>
                </a:lnTo>
                <a:lnTo>
                  <a:pt x="6940007" y="287274"/>
                </a:lnTo>
                <a:lnTo>
                  <a:pt x="6953562" y="317998"/>
                </a:lnTo>
                <a:lnTo>
                  <a:pt x="6967117" y="366596"/>
                </a:lnTo>
                <a:lnTo>
                  <a:pt x="6980672" y="334999"/>
                </a:lnTo>
                <a:lnTo>
                  <a:pt x="6994226" y="341446"/>
                </a:lnTo>
                <a:lnTo>
                  <a:pt x="7007781" y="308992"/>
                </a:lnTo>
                <a:lnTo>
                  <a:pt x="7021336" y="302412"/>
                </a:lnTo>
                <a:lnTo>
                  <a:pt x="7034890" y="296474"/>
                </a:lnTo>
                <a:lnTo>
                  <a:pt x="7048445" y="300246"/>
                </a:lnTo>
                <a:lnTo>
                  <a:pt x="7062000" y="290660"/>
                </a:lnTo>
                <a:lnTo>
                  <a:pt x="7075555" y="288029"/>
                </a:lnTo>
                <a:lnTo>
                  <a:pt x="7089109" y="283782"/>
                </a:lnTo>
                <a:lnTo>
                  <a:pt x="7102664" y="274616"/>
                </a:lnTo>
                <a:lnTo>
                  <a:pt x="7116219" y="262117"/>
                </a:lnTo>
                <a:lnTo>
                  <a:pt x="7129773" y="269757"/>
                </a:lnTo>
                <a:lnTo>
                  <a:pt x="7143328" y="269300"/>
                </a:lnTo>
                <a:lnTo>
                  <a:pt x="7156883" y="272978"/>
                </a:lnTo>
                <a:lnTo>
                  <a:pt x="7170437" y="265235"/>
                </a:lnTo>
                <a:lnTo>
                  <a:pt x="7183992" y="259740"/>
                </a:lnTo>
                <a:lnTo>
                  <a:pt x="7197547" y="254965"/>
                </a:lnTo>
                <a:lnTo>
                  <a:pt x="7211102" y="256615"/>
                </a:lnTo>
                <a:lnTo>
                  <a:pt x="7224656" y="250038"/>
                </a:lnTo>
                <a:lnTo>
                  <a:pt x="7238211" y="245116"/>
                </a:lnTo>
                <a:lnTo>
                  <a:pt x="7251766" y="245309"/>
                </a:lnTo>
                <a:lnTo>
                  <a:pt x="7265320" y="235971"/>
                </a:lnTo>
                <a:lnTo>
                  <a:pt x="7278875" y="227090"/>
                </a:lnTo>
                <a:lnTo>
                  <a:pt x="7292430" y="248386"/>
                </a:lnTo>
                <a:lnTo>
                  <a:pt x="7305984" y="246585"/>
                </a:lnTo>
                <a:lnTo>
                  <a:pt x="7319539" y="256924"/>
                </a:lnTo>
                <a:lnTo>
                  <a:pt x="7333094" y="244247"/>
                </a:lnTo>
                <a:lnTo>
                  <a:pt x="7346649" y="238126"/>
                </a:lnTo>
                <a:lnTo>
                  <a:pt x="7360203" y="234799"/>
                </a:lnTo>
                <a:lnTo>
                  <a:pt x="7373758" y="237381"/>
                </a:lnTo>
                <a:lnTo>
                  <a:pt x="7387313" y="250792"/>
                </a:lnTo>
                <a:lnTo>
                  <a:pt x="7400867" y="232370"/>
                </a:lnTo>
                <a:lnTo>
                  <a:pt x="7414422" y="229760"/>
                </a:lnTo>
                <a:lnTo>
                  <a:pt x="7427977" y="225786"/>
                </a:lnTo>
                <a:lnTo>
                  <a:pt x="7441531" y="220737"/>
                </a:lnTo>
                <a:lnTo>
                  <a:pt x="7455086" y="215528"/>
                </a:lnTo>
                <a:lnTo>
                  <a:pt x="7468641" y="218510"/>
                </a:lnTo>
                <a:lnTo>
                  <a:pt x="7482196" y="214773"/>
                </a:lnTo>
                <a:lnTo>
                  <a:pt x="7495750" y="212280"/>
                </a:lnTo>
                <a:lnTo>
                  <a:pt x="7509305" y="212978"/>
                </a:lnTo>
                <a:lnTo>
                  <a:pt x="7522860" y="206845"/>
                </a:lnTo>
                <a:lnTo>
                  <a:pt x="7536414" y="202694"/>
                </a:lnTo>
                <a:lnTo>
                  <a:pt x="7549969" y="210424"/>
                </a:lnTo>
                <a:lnTo>
                  <a:pt x="7563524" y="204341"/>
                </a:lnTo>
                <a:lnTo>
                  <a:pt x="7577078" y="197748"/>
                </a:lnTo>
                <a:lnTo>
                  <a:pt x="7590633" y="197242"/>
                </a:lnTo>
                <a:lnTo>
                  <a:pt x="7604188" y="203952"/>
                </a:lnTo>
                <a:lnTo>
                  <a:pt x="7617743" y="208539"/>
                </a:lnTo>
                <a:lnTo>
                  <a:pt x="7631297" y="195026"/>
                </a:lnTo>
                <a:lnTo>
                  <a:pt x="7644852" y="196641"/>
                </a:lnTo>
                <a:lnTo>
                  <a:pt x="7658407" y="197039"/>
                </a:lnTo>
                <a:lnTo>
                  <a:pt x="7671961" y="188502"/>
                </a:lnTo>
                <a:lnTo>
                  <a:pt x="7685516" y="180218"/>
                </a:lnTo>
                <a:lnTo>
                  <a:pt x="7699071" y="175913"/>
                </a:lnTo>
                <a:lnTo>
                  <a:pt x="7712626" y="176299"/>
                </a:lnTo>
                <a:lnTo>
                  <a:pt x="7726180" y="175883"/>
                </a:lnTo>
                <a:lnTo>
                  <a:pt x="7739735" y="172333"/>
                </a:lnTo>
                <a:lnTo>
                  <a:pt x="7753290" y="176417"/>
                </a:lnTo>
                <a:lnTo>
                  <a:pt x="7766844" y="177637"/>
                </a:lnTo>
                <a:lnTo>
                  <a:pt x="7780399" y="173860"/>
                </a:lnTo>
                <a:lnTo>
                  <a:pt x="7793954" y="172282"/>
                </a:lnTo>
                <a:lnTo>
                  <a:pt x="7807508" y="170042"/>
                </a:lnTo>
                <a:lnTo>
                  <a:pt x="7821063" y="172248"/>
                </a:lnTo>
                <a:lnTo>
                  <a:pt x="7834618" y="167429"/>
                </a:lnTo>
                <a:lnTo>
                  <a:pt x="7848173" y="163506"/>
                </a:lnTo>
                <a:lnTo>
                  <a:pt x="7861727" y="161612"/>
                </a:lnTo>
                <a:lnTo>
                  <a:pt x="7875282" y="164844"/>
                </a:lnTo>
                <a:lnTo>
                  <a:pt x="7888837" y="159194"/>
                </a:lnTo>
                <a:lnTo>
                  <a:pt x="7902391" y="157691"/>
                </a:lnTo>
                <a:lnTo>
                  <a:pt x="7915946" y="156621"/>
                </a:lnTo>
                <a:lnTo>
                  <a:pt x="7929501" y="155672"/>
                </a:lnTo>
                <a:lnTo>
                  <a:pt x="7943055" y="152948"/>
                </a:lnTo>
                <a:lnTo>
                  <a:pt x="7956610" y="150480"/>
                </a:lnTo>
                <a:lnTo>
                  <a:pt x="7970165" y="150925"/>
                </a:lnTo>
                <a:lnTo>
                  <a:pt x="7983720" y="153010"/>
                </a:lnTo>
                <a:lnTo>
                  <a:pt x="7997274" y="159016"/>
                </a:lnTo>
                <a:lnTo>
                  <a:pt x="8010829" y="161433"/>
                </a:lnTo>
                <a:lnTo>
                  <a:pt x="8024384" y="161113"/>
                </a:lnTo>
                <a:lnTo>
                  <a:pt x="8037938" y="160914"/>
                </a:lnTo>
                <a:lnTo>
                  <a:pt x="8051493" y="148910"/>
                </a:lnTo>
                <a:lnTo>
                  <a:pt x="8065048" y="147866"/>
                </a:lnTo>
                <a:lnTo>
                  <a:pt x="8078602" y="140610"/>
                </a:lnTo>
                <a:lnTo>
                  <a:pt x="8092157" y="141343"/>
                </a:lnTo>
                <a:lnTo>
                  <a:pt x="8105712" y="138343"/>
                </a:lnTo>
                <a:lnTo>
                  <a:pt x="8119267" y="137486"/>
                </a:lnTo>
                <a:lnTo>
                  <a:pt x="8132821" y="145518"/>
                </a:lnTo>
                <a:lnTo>
                  <a:pt x="8146376" y="139527"/>
                </a:lnTo>
                <a:lnTo>
                  <a:pt x="8159931" y="139461"/>
                </a:lnTo>
                <a:lnTo>
                  <a:pt x="8173485" y="135639"/>
                </a:lnTo>
                <a:lnTo>
                  <a:pt x="8187040" y="132787"/>
                </a:lnTo>
                <a:lnTo>
                  <a:pt x="8200595" y="138616"/>
                </a:lnTo>
                <a:lnTo>
                  <a:pt x="8214149" y="139526"/>
                </a:lnTo>
                <a:lnTo>
                  <a:pt x="8227704" y="156537"/>
                </a:lnTo>
                <a:lnTo>
                  <a:pt x="8241259" y="149539"/>
                </a:lnTo>
                <a:lnTo>
                  <a:pt x="8254814" y="151365"/>
                </a:lnTo>
                <a:lnTo>
                  <a:pt x="8268368" y="157114"/>
                </a:lnTo>
                <a:lnTo>
                  <a:pt x="8281923" y="163841"/>
                </a:lnTo>
                <a:lnTo>
                  <a:pt x="8295478" y="163547"/>
                </a:lnTo>
                <a:lnTo>
                  <a:pt x="8309032" y="173580"/>
                </a:lnTo>
                <a:lnTo>
                  <a:pt x="8322587" y="166298"/>
                </a:lnTo>
                <a:lnTo>
                  <a:pt x="8336142" y="148800"/>
                </a:lnTo>
                <a:lnTo>
                  <a:pt x="8349697" y="140683"/>
                </a:lnTo>
                <a:lnTo>
                  <a:pt x="8363251" y="147811"/>
                </a:lnTo>
                <a:lnTo>
                  <a:pt x="8376806" y="156669"/>
                </a:lnTo>
                <a:lnTo>
                  <a:pt x="8390361" y="152174"/>
                </a:lnTo>
                <a:lnTo>
                  <a:pt x="8403915" y="171864"/>
                </a:lnTo>
                <a:lnTo>
                  <a:pt x="8417470" y="163249"/>
                </a:lnTo>
                <a:lnTo>
                  <a:pt x="8431025" y="190587"/>
                </a:lnTo>
                <a:lnTo>
                  <a:pt x="8444579" y="191288"/>
                </a:lnTo>
                <a:lnTo>
                  <a:pt x="8458134" y="186971"/>
                </a:lnTo>
                <a:lnTo>
                  <a:pt x="8471689" y="171775"/>
                </a:lnTo>
                <a:lnTo>
                  <a:pt x="8485244" y="183821"/>
                </a:lnTo>
                <a:lnTo>
                  <a:pt x="8498798" y="211847"/>
                </a:lnTo>
                <a:lnTo>
                  <a:pt x="8512353" y="191363"/>
                </a:lnTo>
                <a:lnTo>
                  <a:pt x="8525908" y="198450"/>
                </a:lnTo>
                <a:lnTo>
                  <a:pt x="8539462" y="196035"/>
                </a:lnTo>
                <a:lnTo>
                  <a:pt x="8553017" y="197875"/>
                </a:lnTo>
                <a:lnTo>
                  <a:pt x="8566572" y="187042"/>
                </a:lnTo>
                <a:lnTo>
                  <a:pt x="8580126" y="175385"/>
                </a:lnTo>
                <a:lnTo>
                  <a:pt x="8593681" y="173719"/>
                </a:lnTo>
                <a:lnTo>
                  <a:pt x="8607236" y="162061"/>
                </a:lnTo>
                <a:lnTo>
                  <a:pt x="8620791" y="173449"/>
                </a:lnTo>
                <a:lnTo>
                  <a:pt x="8634345" y="181573"/>
                </a:lnTo>
                <a:lnTo>
                  <a:pt x="8647900" y="190825"/>
                </a:lnTo>
                <a:lnTo>
                  <a:pt x="8661455" y="188979"/>
                </a:lnTo>
                <a:lnTo>
                  <a:pt x="8675009" y="194880"/>
                </a:lnTo>
                <a:lnTo>
                  <a:pt x="8688564" y="212016"/>
                </a:lnTo>
                <a:lnTo>
                  <a:pt x="8702119" y="199846"/>
                </a:lnTo>
                <a:lnTo>
                  <a:pt x="8715673" y="216852"/>
                </a:lnTo>
                <a:lnTo>
                  <a:pt x="8729228" y="205492"/>
                </a:lnTo>
                <a:lnTo>
                  <a:pt x="8742783" y="194213"/>
                </a:lnTo>
                <a:lnTo>
                  <a:pt x="8756338" y="194534"/>
                </a:lnTo>
                <a:lnTo>
                  <a:pt x="8769892" y="196567"/>
                </a:lnTo>
                <a:lnTo>
                  <a:pt x="8783447" y="183501"/>
                </a:lnTo>
                <a:lnTo>
                  <a:pt x="8797002" y="182409"/>
                </a:lnTo>
                <a:lnTo>
                  <a:pt x="8810556" y="176452"/>
                </a:lnTo>
                <a:lnTo>
                  <a:pt x="8824111" y="187664"/>
                </a:lnTo>
                <a:lnTo>
                  <a:pt x="8837666" y="182796"/>
                </a:lnTo>
                <a:lnTo>
                  <a:pt x="8851220" y="191746"/>
                </a:lnTo>
                <a:lnTo>
                  <a:pt x="8864775" y="193987"/>
                </a:lnTo>
                <a:lnTo>
                  <a:pt x="8878330" y="190269"/>
                </a:lnTo>
                <a:lnTo>
                  <a:pt x="8891885" y="182077"/>
                </a:lnTo>
                <a:lnTo>
                  <a:pt x="8905439" y="180429"/>
                </a:lnTo>
                <a:lnTo>
                  <a:pt x="8918994" y="180460"/>
                </a:lnTo>
                <a:lnTo>
                  <a:pt x="8932549" y="173410"/>
                </a:lnTo>
                <a:lnTo>
                  <a:pt x="8946103" y="171155"/>
                </a:lnTo>
                <a:lnTo>
                  <a:pt x="8959658" y="181619"/>
                </a:lnTo>
                <a:lnTo>
                  <a:pt x="8973213" y="183820"/>
                </a:lnTo>
                <a:lnTo>
                  <a:pt x="8986768" y="182255"/>
                </a:lnTo>
                <a:lnTo>
                  <a:pt x="9000322" y="187374"/>
                </a:lnTo>
                <a:lnTo>
                  <a:pt x="9013877" y="180582"/>
                </a:lnTo>
                <a:lnTo>
                  <a:pt x="9027432" y="183157"/>
                </a:lnTo>
                <a:lnTo>
                  <a:pt x="9040986" y="173109"/>
                </a:lnTo>
                <a:lnTo>
                  <a:pt x="9054541" y="173578"/>
                </a:lnTo>
                <a:lnTo>
                  <a:pt x="9068096" y="168998"/>
                </a:lnTo>
                <a:lnTo>
                  <a:pt x="9081650" y="176386"/>
                </a:lnTo>
                <a:lnTo>
                  <a:pt x="9095205" y="173600"/>
                </a:lnTo>
                <a:lnTo>
                  <a:pt x="9108760" y="169962"/>
                </a:lnTo>
                <a:lnTo>
                  <a:pt x="9122315" y="168185"/>
                </a:lnTo>
                <a:lnTo>
                  <a:pt x="9135869" y="171283"/>
                </a:lnTo>
                <a:lnTo>
                  <a:pt x="9149424" y="163317"/>
                </a:lnTo>
                <a:lnTo>
                  <a:pt x="9162979" y="158005"/>
                </a:lnTo>
                <a:lnTo>
                  <a:pt x="9176533" y="148450"/>
                </a:lnTo>
                <a:lnTo>
                  <a:pt x="9190088" y="153933"/>
                </a:lnTo>
                <a:lnTo>
                  <a:pt x="9203643" y="146829"/>
                </a:lnTo>
                <a:lnTo>
                  <a:pt x="9217197" y="149364"/>
                </a:lnTo>
                <a:lnTo>
                  <a:pt x="9230752" y="141601"/>
                </a:lnTo>
                <a:lnTo>
                  <a:pt x="9244307" y="139306"/>
                </a:lnTo>
                <a:lnTo>
                  <a:pt x="9257862" y="136871"/>
                </a:lnTo>
                <a:lnTo>
                  <a:pt x="9271416" y="141690"/>
                </a:lnTo>
                <a:lnTo>
                  <a:pt x="9284971" y="143478"/>
                </a:lnTo>
                <a:lnTo>
                  <a:pt x="9298526" y="149589"/>
                </a:lnTo>
                <a:lnTo>
                  <a:pt x="9312080" y="147192"/>
                </a:lnTo>
                <a:lnTo>
                  <a:pt x="9325635" y="142700"/>
                </a:lnTo>
                <a:lnTo>
                  <a:pt x="9339190" y="144945"/>
                </a:lnTo>
                <a:lnTo>
                  <a:pt x="9352744" y="146139"/>
                </a:lnTo>
                <a:lnTo>
                  <a:pt x="9366299" y="158121"/>
                </a:lnTo>
                <a:lnTo>
                  <a:pt x="9379854" y="161250"/>
                </a:lnTo>
                <a:lnTo>
                  <a:pt x="9393409" y="151897"/>
                </a:lnTo>
                <a:lnTo>
                  <a:pt x="9406963" y="150846"/>
                </a:lnTo>
                <a:lnTo>
                  <a:pt x="9420518" y="159758"/>
                </a:lnTo>
                <a:lnTo>
                  <a:pt x="9434073" y="163746"/>
                </a:lnTo>
                <a:lnTo>
                  <a:pt x="9447627" y="150202"/>
                </a:lnTo>
                <a:lnTo>
                  <a:pt x="9461182" y="141962"/>
                </a:lnTo>
                <a:lnTo>
                  <a:pt x="9474737" y="138851"/>
                </a:lnTo>
                <a:lnTo>
                  <a:pt x="9488291" y="137938"/>
                </a:lnTo>
                <a:lnTo>
                  <a:pt x="9501846" y="137836"/>
                </a:lnTo>
                <a:lnTo>
                  <a:pt x="9515401" y="127317"/>
                </a:lnTo>
                <a:lnTo>
                  <a:pt x="9528956" y="127541"/>
                </a:lnTo>
                <a:lnTo>
                  <a:pt x="9542510" y="122025"/>
                </a:lnTo>
                <a:lnTo>
                  <a:pt x="9556065" y="127765"/>
                </a:lnTo>
                <a:lnTo>
                  <a:pt x="9569620" y="122031"/>
                </a:lnTo>
                <a:lnTo>
                  <a:pt x="9583174" y="117671"/>
                </a:lnTo>
                <a:lnTo>
                  <a:pt x="9596729" y="112710"/>
                </a:lnTo>
                <a:lnTo>
                  <a:pt x="9610284" y="111906"/>
                </a:lnTo>
                <a:lnTo>
                  <a:pt x="9623838" y="106659"/>
                </a:lnTo>
                <a:lnTo>
                  <a:pt x="9637393" y="109274"/>
                </a:lnTo>
                <a:lnTo>
                  <a:pt x="9650948" y="103009"/>
                </a:lnTo>
                <a:lnTo>
                  <a:pt x="9664503" y="102857"/>
                </a:lnTo>
                <a:lnTo>
                  <a:pt x="9678057" y="97059"/>
                </a:lnTo>
                <a:lnTo>
                  <a:pt x="9691612" y="96741"/>
                </a:lnTo>
                <a:lnTo>
                  <a:pt x="9705167" y="94888"/>
                </a:lnTo>
                <a:lnTo>
                  <a:pt x="9718721" y="94531"/>
                </a:lnTo>
                <a:lnTo>
                  <a:pt x="9732276" y="97695"/>
                </a:lnTo>
                <a:lnTo>
                  <a:pt x="9745831" y="105965"/>
                </a:lnTo>
                <a:lnTo>
                  <a:pt x="9759386" y="102978"/>
                </a:lnTo>
                <a:lnTo>
                  <a:pt x="9772940" y="106089"/>
                </a:lnTo>
                <a:lnTo>
                  <a:pt x="9786495" y="95855"/>
                </a:lnTo>
                <a:lnTo>
                  <a:pt x="9800050" y="88419"/>
                </a:lnTo>
                <a:lnTo>
                  <a:pt x="9813604" y="88390"/>
                </a:lnTo>
                <a:lnTo>
                  <a:pt x="9827159" y="92632"/>
                </a:lnTo>
                <a:lnTo>
                  <a:pt x="9840714" y="85584"/>
                </a:lnTo>
                <a:lnTo>
                  <a:pt x="9854268" y="81113"/>
                </a:lnTo>
                <a:lnTo>
                  <a:pt x="9867823" y="78945"/>
                </a:lnTo>
                <a:lnTo>
                  <a:pt x="9881378" y="79110"/>
                </a:lnTo>
                <a:lnTo>
                  <a:pt x="9894933" y="72890"/>
                </a:lnTo>
                <a:lnTo>
                  <a:pt x="9908487" y="69429"/>
                </a:lnTo>
                <a:lnTo>
                  <a:pt x="9922042" y="73240"/>
                </a:lnTo>
                <a:lnTo>
                  <a:pt x="9935597" y="78803"/>
                </a:lnTo>
                <a:lnTo>
                  <a:pt x="9949151" y="94746"/>
                </a:lnTo>
                <a:lnTo>
                  <a:pt x="9962706" y="85394"/>
                </a:lnTo>
                <a:lnTo>
                  <a:pt x="9976261" y="70488"/>
                </a:lnTo>
                <a:lnTo>
                  <a:pt x="9989815" y="69837"/>
                </a:lnTo>
                <a:lnTo>
                  <a:pt x="10003370" y="74676"/>
                </a:lnTo>
                <a:lnTo>
                  <a:pt x="10016925" y="76524"/>
                </a:lnTo>
                <a:lnTo>
                  <a:pt x="10030480" y="68582"/>
                </a:lnTo>
                <a:lnTo>
                  <a:pt x="10044034" y="63150"/>
                </a:lnTo>
                <a:lnTo>
                  <a:pt x="10057589" y="64603"/>
                </a:lnTo>
                <a:lnTo>
                  <a:pt x="10071144" y="62139"/>
                </a:lnTo>
                <a:lnTo>
                  <a:pt x="10084698" y="58594"/>
                </a:lnTo>
                <a:lnTo>
                  <a:pt x="10098253" y="56712"/>
                </a:lnTo>
                <a:lnTo>
                  <a:pt x="10111808" y="57535"/>
                </a:lnTo>
                <a:lnTo>
                  <a:pt x="10125362" y="60241"/>
                </a:lnTo>
                <a:lnTo>
                  <a:pt x="10138917" y="49597"/>
                </a:lnTo>
                <a:lnTo>
                  <a:pt x="10152472" y="53035"/>
                </a:lnTo>
                <a:lnTo>
                  <a:pt x="10166027" y="47661"/>
                </a:lnTo>
                <a:lnTo>
                  <a:pt x="10179581" y="44074"/>
                </a:lnTo>
                <a:lnTo>
                  <a:pt x="10193136" y="44176"/>
                </a:lnTo>
                <a:lnTo>
                  <a:pt x="10206691" y="55148"/>
                </a:lnTo>
                <a:lnTo>
                  <a:pt x="10220245" y="46268"/>
                </a:lnTo>
                <a:lnTo>
                  <a:pt x="10233800" y="51133"/>
                </a:lnTo>
                <a:lnTo>
                  <a:pt x="10247355" y="56698"/>
                </a:lnTo>
                <a:lnTo>
                  <a:pt x="10260909" y="45390"/>
                </a:lnTo>
                <a:lnTo>
                  <a:pt x="10274464" y="44637"/>
                </a:lnTo>
                <a:lnTo>
                  <a:pt x="10288019" y="46041"/>
                </a:lnTo>
                <a:lnTo>
                  <a:pt x="10301574" y="44233"/>
                </a:lnTo>
                <a:lnTo>
                  <a:pt x="10315128" y="40366"/>
                </a:lnTo>
                <a:lnTo>
                  <a:pt x="10328683" y="49783"/>
                </a:lnTo>
                <a:lnTo>
                  <a:pt x="10342238" y="55812"/>
                </a:lnTo>
                <a:lnTo>
                  <a:pt x="10355792" y="68912"/>
                </a:lnTo>
                <a:lnTo>
                  <a:pt x="10369347" y="64376"/>
                </a:lnTo>
                <a:lnTo>
                  <a:pt x="10382902" y="62652"/>
                </a:lnTo>
                <a:lnTo>
                  <a:pt x="10396457" y="64873"/>
                </a:lnTo>
                <a:lnTo>
                  <a:pt x="10410011" y="73706"/>
                </a:lnTo>
                <a:lnTo>
                  <a:pt x="10423566" y="86923"/>
                </a:lnTo>
                <a:lnTo>
                  <a:pt x="10437121" y="74795"/>
                </a:lnTo>
                <a:lnTo>
                  <a:pt x="10450675" y="68204"/>
                </a:lnTo>
                <a:lnTo>
                  <a:pt x="10464230" y="64578"/>
                </a:lnTo>
                <a:lnTo>
                  <a:pt x="10477785" y="50984"/>
                </a:lnTo>
                <a:lnTo>
                  <a:pt x="10491339" y="54867"/>
                </a:lnTo>
                <a:lnTo>
                  <a:pt x="10504894" y="51545"/>
                </a:lnTo>
                <a:lnTo>
                  <a:pt x="10518449" y="46472"/>
                </a:lnTo>
                <a:lnTo>
                  <a:pt x="10532004" y="47578"/>
                </a:lnTo>
                <a:lnTo>
                  <a:pt x="10545558" y="45039"/>
                </a:lnTo>
                <a:lnTo>
                  <a:pt x="10559113" y="36053"/>
                </a:lnTo>
                <a:lnTo>
                  <a:pt x="10572668" y="34809"/>
                </a:lnTo>
                <a:lnTo>
                  <a:pt x="10586222" y="33913"/>
                </a:lnTo>
                <a:lnTo>
                  <a:pt x="10599777" y="30592"/>
                </a:lnTo>
                <a:lnTo>
                  <a:pt x="10613332" y="27461"/>
                </a:lnTo>
                <a:lnTo>
                  <a:pt x="10626886" y="31030"/>
                </a:lnTo>
                <a:lnTo>
                  <a:pt x="10640441" y="23866"/>
                </a:lnTo>
                <a:lnTo>
                  <a:pt x="10653996" y="25255"/>
                </a:lnTo>
                <a:lnTo>
                  <a:pt x="10667551" y="22680"/>
                </a:lnTo>
                <a:lnTo>
                  <a:pt x="10681105" y="23362"/>
                </a:lnTo>
                <a:lnTo>
                  <a:pt x="10694660" y="19320"/>
                </a:lnTo>
                <a:lnTo>
                  <a:pt x="10708215" y="16034"/>
                </a:lnTo>
                <a:lnTo>
                  <a:pt x="10721769" y="14279"/>
                </a:lnTo>
                <a:lnTo>
                  <a:pt x="10735324" y="10861"/>
                </a:lnTo>
                <a:lnTo>
                  <a:pt x="10748879" y="8713"/>
                </a:lnTo>
                <a:lnTo>
                  <a:pt x="10762433" y="12381"/>
                </a:lnTo>
                <a:lnTo>
                  <a:pt x="10775988" y="11161"/>
                </a:lnTo>
                <a:lnTo>
                  <a:pt x="10789543" y="2223"/>
                </a:lnTo>
                <a:lnTo>
                  <a:pt x="10803098" y="6667"/>
                </a:lnTo>
                <a:lnTo>
                  <a:pt x="10816652" y="4031"/>
                </a:lnTo>
                <a:lnTo>
                  <a:pt x="10830207" y="13564"/>
                </a:lnTo>
                <a:lnTo>
                  <a:pt x="10843762" y="5710"/>
                </a:lnTo>
                <a:lnTo>
                  <a:pt x="10857316" y="3575"/>
                </a:lnTo>
                <a:lnTo>
                  <a:pt x="10870871" y="1423"/>
                </a:lnTo>
                <a:lnTo>
                  <a:pt x="10884426" y="7174"/>
                </a:lnTo>
                <a:lnTo>
                  <a:pt x="10897980" y="0"/>
                </a:lnTo>
                <a:lnTo>
                  <a:pt x="10911535" y="3780"/>
                </a:lnTo>
              </a:path>
            </a:pathLst>
          </a:custGeom>
          <a:noFill/>
          <a:ln w="22225" cap="rnd">
            <a:solidFill>
              <a:srgbClr val="FFB547">
                <a:alpha val="55000"/>
              </a:srgbClr>
            </a:solidFill>
            <a:round/>
          </a:ln>
          <a:effectLst>
            <a:glow rad="76200">
              <a:srgbClr val="FFB547">
                <a:alpha val="28000"/>
              </a:srgbClr>
            </a:glow>
          </a:effectLst>
        </p:spPr>
        <p:txBody>
          <a:bodyPr rtlCol="0" anchor="ctr"/>
          <a:lstStyle/>
          <a:p>
            <a:pPr algn="ctr"/>
            <a:endParaRPr/>
          </a:p>
        </p:txBody>
      </p:sp>
      <p:sp>
        <p:nvSpPr>
          <p:cNvPr id="17" name="!!dot"/>
          <p:cNvSpPr/>
          <p:nvPr/>
        </p:nvSpPr>
        <p:spPr>
          <a:xfrm>
            <a:off x="11496751" y="5417028"/>
            <a:ext cx="109728" cy="109728"/>
          </a:xfrm>
          <a:prstGeom prst="ellipse">
            <a:avLst/>
          </a:prstGeom>
          <a:solidFill>
            <a:srgbClr val="FFB547">
              <a:alpha val="55000"/>
            </a:srgbClr>
          </a:solidFill>
          <a:ln>
            <a:noFill/>
          </a:ln>
          <a:effectLst>
            <a:glow rad="101600">
              <a:srgbClr val="FFB547">
                <a:alpha val="45000"/>
              </a:srgbClr>
            </a:glow>
          </a:effectLst>
        </p:spPr>
        <p:txBody>
          <a:bodyPr lIns="0" tIns="0" rIns="0" bIns="0"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1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fill="hold"/>
                                        <p:tgtEl>
                                          <p:spTgt spid="4"/>
                                        </p:tgtEl>
                                        <p:attrNameLst>
                                          <p:attrName>ppt_x</p:attrName>
                                        </p:attrNameLst>
                                      </p:cBhvr>
                                      <p:tavLst>
                                        <p:tav tm="0">
                                          <p:val>
                                            <p:strVal val="#ppt_x"/>
                                          </p:val>
                                        </p:tav>
                                        <p:tav tm="100000">
                                          <p:val>
                                            <p:strVal val="#ppt_x"/>
                                          </p:val>
                                        </p:tav>
                                      </p:tavLst>
                                    </p:anim>
                                    <p:anim calcmode="lin" valueType="num">
                                      <p:cBhvr>
                                        <p:cTn id="9" dur="550" fill="hold"/>
                                        <p:tgtEl>
                                          <p:spTgt spid="4"/>
                                        </p:tgtEl>
                                        <p:attrNameLst>
                                          <p:attrName>ppt_y</p:attrName>
                                        </p:attrNameLst>
                                      </p:cBhvr>
                                      <p:tavLst>
                                        <p:tav tm="0">
                                          <p:val>
                                            <p:strVal val="#ppt_y+.1"/>
                                          </p:val>
                                        </p:tav>
                                        <p:tav tm="100000">
                                          <p:val>
                                            <p:strVal val="#ppt_y"/>
                                          </p:val>
                                        </p:tav>
                                      </p:tavLst>
                                    </p:anim>
                                  </p:childTnLst>
                                </p:cTn>
                              </p:par>
                              <p:par>
                                <p:cTn id="10" presetID="53" presetClass="entr" presetSubtype="16" fill="hold" grpId="0" nodeType="withEffect">
                                  <p:stCondLst>
                                    <p:cond delay="350"/>
                                  </p:stCondLst>
                                  <p:childTnLst>
                                    <p:set>
                                      <p:cBhvr>
                                        <p:cTn id="11" dur="1" fill="hold">
                                          <p:stCondLst>
                                            <p:cond delay="0"/>
                                          </p:stCondLst>
                                        </p:cTn>
                                        <p:tgtEl>
                                          <p:spTgt spid="14"/>
                                        </p:tgtEl>
                                        <p:attrNameLst>
                                          <p:attrName>style.visibility</p:attrName>
                                        </p:attrNameLst>
                                      </p:cBhvr>
                                      <p:to>
                                        <p:strVal val="visible"/>
                                      </p:to>
                                    </p:set>
                                    <p:anim calcmode="lin" valueType="num">
                                      <p:cBhvr>
                                        <p:cTn id="12" dur="400" fill="hold"/>
                                        <p:tgtEl>
                                          <p:spTgt spid="14"/>
                                        </p:tgtEl>
                                        <p:attrNameLst>
                                          <p:attrName>ppt_w</p:attrName>
                                        </p:attrNameLst>
                                      </p:cBhvr>
                                      <p:tavLst>
                                        <p:tav tm="0">
                                          <p:val>
                                            <p:fltVal val="0"/>
                                          </p:val>
                                        </p:tav>
                                        <p:tav tm="100000">
                                          <p:val>
                                            <p:strVal val="#ppt_w"/>
                                          </p:val>
                                        </p:tav>
                                      </p:tavLst>
                                    </p:anim>
                                    <p:anim calcmode="lin" valueType="num">
                                      <p:cBhvr>
                                        <p:cTn id="13" dur="400" fill="hold"/>
                                        <p:tgtEl>
                                          <p:spTgt spid="14"/>
                                        </p:tgtEl>
                                        <p:attrNameLst>
                                          <p:attrName>ppt_h</p:attrName>
                                        </p:attrNameLst>
                                      </p:cBhvr>
                                      <p:tavLst>
                                        <p:tav tm="0">
                                          <p:val>
                                            <p:fltVal val="0"/>
                                          </p:val>
                                        </p:tav>
                                        <p:tav tm="100000">
                                          <p:val>
                                            <p:strVal val="#ppt_h"/>
                                          </p:val>
                                        </p:tav>
                                      </p:tavLst>
                                    </p:anim>
                                    <p:animEffect transition="in" filter="fade">
                                      <p:cBhvr>
                                        <p:cTn id="14" dur="400"/>
                                        <p:tgtEl>
                                          <p:spTgt spid="14"/>
                                        </p:tgtEl>
                                      </p:cBhvr>
                                    </p:animEffect>
                                  </p:childTnLst>
                                </p:cTn>
                              </p:par>
                              <p:par>
                                <p:cTn id="15" presetID="42" presetClass="entr" presetSubtype="0" fill="hold" nodeType="withEffect">
                                  <p:stCondLst>
                                    <p:cond delay="5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50"/>
                                        <p:tgtEl>
                                          <p:spTgt spid="9"/>
                                        </p:tgtEl>
                                      </p:cBhvr>
                                    </p:animEffect>
                                    <p:anim calcmode="lin" valueType="num">
                                      <p:cBhvr>
                                        <p:cTn id="18" dur="550" fill="hold"/>
                                        <p:tgtEl>
                                          <p:spTgt spid="9"/>
                                        </p:tgtEl>
                                        <p:attrNameLst>
                                          <p:attrName>ppt_x</p:attrName>
                                        </p:attrNameLst>
                                      </p:cBhvr>
                                      <p:tavLst>
                                        <p:tav tm="0">
                                          <p:val>
                                            <p:strVal val="#ppt_x"/>
                                          </p:val>
                                        </p:tav>
                                        <p:tav tm="100000">
                                          <p:val>
                                            <p:strVal val="#ppt_x"/>
                                          </p:val>
                                        </p:tav>
                                      </p:tavLst>
                                    </p:anim>
                                    <p:anim calcmode="lin" valueType="num">
                                      <p:cBhvr>
                                        <p:cTn id="19" dur="550" fill="hold"/>
                                        <p:tgtEl>
                                          <p:spTgt spid="9"/>
                                        </p:tgtEl>
                                        <p:attrNameLst>
                                          <p:attrName>ppt_y</p:attrName>
                                        </p:attrNameLst>
                                      </p:cBhvr>
                                      <p:tavLst>
                                        <p:tav tm="0">
                                          <p:val>
                                            <p:strVal val="#ppt_y+.1"/>
                                          </p:val>
                                        </p:tav>
                                        <p:tav tm="100000">
                                          <p:val>
                                            <p:strVal val="#ppt_y"/>
                                          </p:val>
                                        </p:tav>
                                      </p:tavLst>
                                    </p:anim>
                                  </p:childTnLst>
                                </p:cTn>
                              </p:par>
                            </p:childTnLst>
                          </p:cTn>
                        </p:par>
                        <p:par>
                          <p:cTn id="20" fill="hold">
                            <p:stCondLst>
                              <p:cond delay="1050"/>
                            </p:stCondLst>
                            <p:childTnLst>
                              <p:par>
                                <p:cTn id="21" presetID="10" presetClass="entr" presetSubtype="0" fill="hold" grpId="0" nodeType="afterEffect">
                                  <p:stCondLst>
                                    <p:cond delay="1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Four easy ways to fool yourself in a backtest</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01 · THE PROBLEM</a:t>
            </a:r>
          </a:p>
        </p:txBody>
      </p:sp>
      <p:grpSp>
        <p:nvGrpSpPr>
          <p:cNvPr id="4" name="trap_1"/>
          <p:cNvGrpSpPr/>
          <p:nvPr/>
        </p:nvGrpSpPr>
        <p:grpSpPr>
          <a:xfrm>
            <a:off x="640080" y="1828800"/>
            <a:ext cx="2542032" cy="3246120"/>
            <a:chOff x="640080" y="1828800"/>
            <a:chExt cx="2542032" cy="3246120"/>
          </a:xfrm>
        </p:grpSpPr>
        <p:sp>
          <p:nvSpPr>
            <p:cNvPr id="5" name="trap_1_bg"/>
            <p:cNvSpPr/>
            <p:nvPr/>
          </p:nvSpPr>
          <p:spPr>
            <a:xfrm>
              <a:off x="640080" y="1828800"/>
              <a:ext cx="2542032" cy="3246120"/>
            </a:xfrm>
            <a:prstGeom prst="roundRect">
              <a:avLst>
                <a:gd name="adj" fmla="val 4316"/>
              </a:avLst>
            </a:prstGeom>
            <a:solidFill>
              <a:srgbClr val="111823">
                <a:alpha val="88000"/>
              </a:srgbClr>
            </a:solidFill>
            <a:ln w="9525">
              <a:solidFill>
                <a:srgbClr val="243245"/>
              </a:solidFill>
            </a:ln>
          </p:spPr>
          <p:txBody>
            <a:bodyPr lIns="0" tIns="0" rIns="0" bIns="0" rtlCol="0" anchor="ctr"/>
            <a:lstStyle/>
            <a:p>
              <a:pPr algn="ctr"/>
              <a:endParaRPr/>
            </a:p>
          </p:txBody>
        </p:sp>
        <p:sp>
          <p:nvSpPr>
            <p:cNvPr id="6" name="TextBox 5"/>
            <p:cNvSpPr txBox="1"/>
            <p:nvPr/>
          </p:nvSpPr>
          <p:spPr>
            <a:xfrm>
              <a:off x="914400" y="2103120"/>
              <a:ext cx="914400" cy="274320"/>
            </a:xfrm>
            <a:prstGeom prst="rect">
              <a:avLst/>
            </a:prstGeom>
            <a:noFill/>
          </p:spPr>
          <p:txBody>
            <a:bodyPr wrap="square" lIns="0" tIns="0" rIns="0" bIns="0" anchor="t">
              <a:noAutofit/>
            </a:bodyPr>
            <a:lstStyle/>
            <a:p>
              <a:pPr algn="l">
                <a:spcAft>
                  <a:spcPts val="0"/>
                </a:spcAft>
              </a:pPr>
              <a:r>
                <a:rPr sz="1300" b="0" i="0">
                  <a:solidFill>
                    <a:srgbClr val="FFB547"/>
                  </a:solidFill>
                  <a:latin typeface="Consolas"/>
                </a:rPr>
                <a:t>01</a:t>
              </a:r>
            </a:p>
          </p:txBody>
        </p:sp>
        <p:sp>
          <p:nvSpPr>
            <p:cNvPr id="7" name="TextBox 6"/>
            <p:cNvSpPr txBox="1"/>
            <p:nvPr/>
          </p:nvSpPr>
          <p:spPr>
            <a:xfrm>
              <a:off x="914400" y="2487168"/>
              <a:ext cx="2011680" cy="411480"/>
            </a:xfrm>
            <a:prstGeom prst="rect">
              <a:avLst/>
            </a:prstGeom>
            <a:noFill/>
          </p:spPr>
          <p:txBody>
            <a:bodyPr wrap="square" lIns="0" tIns="0" rIns="0" bIns="0" anchor="t">
              <a:noAutofit/>
            </a:bodyPr>
            <a:lstStyle/>
            <a:p>
              <a:pPr algn="l">
                <a:spcAft>
                  <a:spcPts val="0"/>
                </a:spcAft>
              </a:pPr>
              <a:r>
                <a:rPr sz="1900" b="0" i="0">
                  <a:solidFill>
                    <a:srgbClr val="EAF0F6"/>
                  </a:solidFill>
                  <a:latin typeface="Segoe UI Semibold"/>
                </a:rPr>
                <a:t>Look-ahead bias</a:t>
              </a:r>
            </a:p>
          </p:txBody>
        </p:sp>
        <p:sp>
          <p:nvSpPr>
            <p:cNvPr id="8" name="TextBox 7"/>
            <p:cNvSpPr txBox="1"/>
            <p:nvPr/>
          </p:nvSpPr>
          <p:spPr>
            <a:xfrm>
              <a:off x="914400" y="2999232"/>
              <a:ext cx="2011680" cy="1508760"/>
            </a:xfrm>
            <a:prstGeom prst="rect">
              <a:avLst/>
            </a:prstGeom>
            <a:noFill/>
          </p:spPr>
          <p:txBody>
            <a:bodyPr wrap="square" lIns="0" tIns="0" rIns="0" bIns="0" anchor="t">
              <a:noAutofit/>
            </a:bodyPr>
            <a:lstStyle/>
            <a:p>
              <a:pPr algn="l">
                <a:lnSpc>
                  <a:spcPct val="110000"/>
                </a:lnSpc>
                <a:spcAft>
                  <a:spcPts val="0"/>
                </a:spcAft>
              </a:pPr>
              <a:r>
                <a:rPr sz="1400" b="0" i="0">
                  <a:solidFill>
                    <a:srgbClr val="AAB6C3"/>
                  </a:solidFill>
                  <a:latin typeface="Segoe UI"/>
                </a:rPr>
                <a:t>Features or labels that quietly use tomorrow's data, so the backtest trades on information nobody had.</a:t>
              </a:r>
            </a:p>
          </p:txBody>
        </p:sp>
        <p:sp>
          <p:nvSpPr>
            <p:cNvPr id="9" name="TextBox 8"/>
            <p:cNvSpPr txBox="1"/>
            <p:nvPr/>
          </p:nvSpPr>
          <p:spPr>
            <a:xfrm>
              <a:off x="914400" y="4599432"/>
              <a:ext cx="2011680" cy="27432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 too-good accuracy</a:t>
              </a:r>
            </a:p>
          </p:txBody>
        </p:sp>
      </p:grpSp>
      <p:grpSp>
        <p:nvGrpSpPr>
          <p:cNvPr id="10" name="trap_2"/>
          <p:cNvGrpSpPr/>
          <p:nvPr/>
        </p:nvGrpSpPr>
        <p:grpSpPr>
          <a:xfrm>
            <a:off x="3429914" y="1828800"/>
            <a:ext cx="2542032" cy="3246120"/>
            <a:chOff x="3429914" y="1828800"/>
            <a:chExt cx="2542032" cy="3246120"/>
          </a:xfrm>
        </p:grpSpPr>
        <p:sp>
          <p:nvSpPr>
            <p:cNvPr id="11" name="trap_2_bg"/>
            <p:cNvSpPr/>
            <p:nvPr/>
          </p:nvSpPr>
          <p:spPr>
            <a:xfrm>
              <a:off x="3429914" y="1828800"/>
              <a:ext cx="2542032" cy="3246120"/>
            </a:xfrm>
            <a:prstGeom prst="roundRect">
              <a:avLst>
                <a:gd name="adj" fmla="val 4316"/>
              </a:avLst>
            </a:prstGeom>
            <a:solidFill>
              <a:srgbClr val="111823">
                <a:alpha val="88000"/>
              </a:srgbClr>
            </a:solidFill>
            <a:ln w="9525">
              <a:solidFill>
                <a:srgbClr val="243245"/>
              </a:solidFill>
            </a:ln>
          </p:spPr>
          <p:txBody>
            <a:bodyPr lIns="0" tIns="0" rIns="0" bIns="0" rtlCol="0" anchor="ctr"/>
            <a:lstStyle/>
            <a:p>
              <a:pPr algn="ctr"/>
              <a:endParaRPr/>
            </a:p>
          </p:txBody>
        </p:sp>
        <p:sp>
          <p:nvSpPr>
            <p:cNvPr id="12" name="TextBox 11"/>
            <p:cNvSpPr txBox="1"/>
            <p:nvPr/>
          </p:nvSpPr>
          <p:spPr>
            <a:xfrm>
              <a:off x="3704234" y="2103120"/>
              <a:ext cx="914400" cy="274320"/>
            </a:xfrm>
            <a:prstGeom prst="rect">
              <a:avLst/>
            </a:prstGeom>
            <a:noFill/>
          </p:spPr>
          <p:txBody>
            <a:bodyPr wrap="square" lIns="0" tIns="0" rIns="0" bIns="0" anchor="t">
              <a:noAutofit/>
            </a:bodyPr>
            <a:lstStyle/>
            <a:p>
              <a:pPr algn="l">
                <a:spcAft>
                  <a:spcPts val="0"/>
                </a:spcAft>
              </a:pPr>
              <a:r>
                <a:rPr sz="1300" b="0" i="0">
                  <a:solidFill>
                    <a:srgbClr val="FFB547"/>
                  </a:solidFill>
                  <a:latin typeface="Consolas"/>
                </a:rPr>
                <a:t>02</a:t>
              </a:r>
            </a:p>
          </p:txBody>
        </p:sp>
        <p:sp>
          <p:nvSpPr>
            <p:cNvPr id="13" name="TextBox 12"/>
            <p:cNvSpPr txBox="1"/>
            <p:nvPr/>
          </p:nvSpPr>
          <p:spPr>
            <a:xfrm>
              <a:off x="3704234" y="2487168"/>
              <a:ext cx="2011680" cy="411480"/>
            </a:xfrm>
            <a:prstGeom prst="rect">
              <a:avLst/>
            </a:prstGeom>
            <a:noFill/>
          </p:spPr>
          <p:txBody>
            <a:bodyPr wrap="square" lIns="0" tIns="0" rIns="0" bIns="0" anchor="t">
              <a:noAutofit/>
            </a:bodyPr>
            <a:lstStyle/>
            <a:p>
              <a:pPr algn="l">
                <a:spcAft>
                  <a:spcPts val="0"/>
                </a:spcAft>
              </a:pPr>
              <a:r>
                <a:rPr sz="1900" b="0" i="0">
                  <a:solidFill>
                    <a:srgbClr val="EAF0F6"/>
                  </a:solidFill>
                  <a:latin typeface="Segoe UI Semibold"/>
                </a:rPr>
                <a:t>Leaky validation</a:t>
              </a:r>
            </a:p>
          </p:txBody>
        </p:sp>
        <p:sp>
          <p:nvSpPr>
            <p:cNvPr id="14" name="TextBox 13"/>
            <p:cNvSpPr txBox="1"/>
            <p:nvPr/>
          </p:nvSpPr>
          <p:spPr>
            <a:xfrm>
              <a:off x="3704234" y="2999232"/>
              <a:ext cx="2011680" cy="1508760"/>
            </a:xfrm>
            <a:prstGeom prst="rect">
              <a:avLst/>
            </a:prstGeom>
            <a:noFill/>
          </p:spPr>
          <p:txBody>
            <a:bodyPr wrap="square" lIns="0" tIns="0" rIns="0" bIns="0" anchor="t">
              <a:noAutofit/>
            </a:bodyPr>
            <a:lstStyle/>
            <a:p>
              <a:pPr algn="l">
                <a:lnSpc>
                  <a:spcPct val="110000"/>
                </a:lnSpc>
                <a:spcAft>
                  <a:spcPts val="0"/>
                </a:spcAft>
              </a:pPr>
              <a:r>
                <a:rPr sz="1400" b="0" i="0">
                  <a:solidFill>
                    <a:srgbClr val="AAB6C3"/>
                  </a:solidFill>
                  <a:latin typeface="Segoe UI"/>
                </a:rPr>
                <a:t>Random K-fold on a time series lets the model train on the future of the days it is tested on.</a:t>
              </a:r>
            </a:p>
          </p:txBody>
        </p:sp>
        <p:sp>
          <p:nvSpPr>
            <p:cNvPr id="15" name="TextBox 14"/>
            <p:cNvSpPr txBox="1"/>
            <p:nvPr/>
          </p:nvSpPr>
          <p:spPr>
            <a:xfrm>
              <a:off x="3704234" y="4599432"/>
              <a:ext cx="2011680" cy="27432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 optimistic CV scores</a:t>
              </a:r>
            </a:p>
          </p:txBody>
        </p:sp>
      </p:grpSp>
      <p:grpSp>
        <p:nvGrpSpPr>
          <p:cNvPr id="16" name="trap_3"/>
          <p:cNvGrpSpPr/>
          <p:nvPr/>
        </p:nvGrpSpPr>
        <p:grpSpPr>
          <a:xfrm>
            <a:off x="6219749" y="1828800"/>
            <a:ext cx="2542032" cy="3246120"/>
            <a:chOff x="6219749" y="1828800"/>
            <a:chExt cx="2542032" cy="3246120"/>
          </a:xfrm>
        </p:grpSpPr>
        <p:sp>
          <p:nvSpPr>
            <p:cNvPr id="17" name="trap_3_bg"/>
            <p:cNvSpPr/>
            <p:nvPr/>
          </p:nvSpPr>
          <p:spPr>
            <a:xfrm>
              <a:off x="6219749" y="1828800"/>
              <a:ext cx="2542032" cy="3246120"/>
            </a:xfrm>
            <a:prstGeom prst="roundRect">
              <a:avLst>
                <a:gd name="adj" fmla="val 4316"/>
              </a:avLst>
            </a:prstGeom>
            <a:solidFill>
              <a:srgbClr val="111823">
                <a:alpha val="88000"/>
              </a:srgbClr>
            </a:solidFill>
            <a:ln w="9525">
              <a:solidFill>
                <a:srgbClr val="243245"/>
              </a:solidFill>
            </a:ln>
          </p:spPr>
          <p:txBody>
            <a:bodyPr lIns="0" tIns="0" rIns="0" bIns="0" rtlCol="0" anchor="ctr"/>
            <a:lstStyle/>
            <a:p>
              <a:pPr algn="ctr"/>
              <a:endParaRPr/>
            </a:p>
          </p:txBody>
        </p:sp>
        <p:sp>
          <p:nvSpPr>
            <p:cNvPr id="18" name="TextBox 17"/>
            <p:cNvSpPr txBox="1"/>
            <p:nvPr/>
          </p:nvSpPr>
          <p:spPr>
            <a:xfrm>
              <a:off x="6494069" y="2103120"/>
              <a:ext cx="914400" cy="274320"/>
            </a:xfrm>
            <a:prstGeom prst="rect">
              <a:avLst/>
            </a:prstGeom>
            <a:noFill/>
          </p:spPr>
          <p:txBody>
            <a:bodyPr wrap="square" lIns="0" tIns="0" rIns="0" bIns="0" anchor="t">
              <a:noAutofit/>
            </a:bodyPr>
            <a:lstStyle/>
            <a:p>
              <a:pPr algn="l">
                <a:spcAft>
                  <a:spcPts val="0"/>
                </a:spcAft>
              </a:pPr>
              <a:r>
                <a:rPr sz="1300" b="0" i="0">
                  <a:solidFill>
                    <a:srgbClr val="FFB547"/>
                  </a:solidFill>
                  <a:latin typeface="Consolas"/>
                </a:rPr>
                <a:t>03</a:t>
              </a:r>
            </a:p>
          </p:txBody>
        </p:sp>
        <p:sp>
          <p:nvSpPr>
            <p:cNvPr id="19" name="TextBox 18"/>
            <p:cNvSpPr txBox="1"/>
            <p:nvPr/>
          </p:nvSpPr>
          <p:spPr>
            <a:xfrm>
              <a:off x="6494069" y="2487168"/>
              <a:ext cx="2011680" cy="411480"/>
            </a:xfrm>
            <a:prstGeom prst="rect">
              <a:avLst/>
            </a:prstGeom>
            <a:noFill/>
          </p:spPr>
          <p:txBody>
            <a:bodyPr wrap="square" lIns="0" tIns="0" rIns="0" bIns="0" anchor="t">
              <a:noAutofit/>
            </a:bodyPr>
            <a:lstStyle/>
            <a:p>
              <a:pPr algn="l">
                <a:spcAft>
                  <a:spcPts val="0"/>
                </a:spcAft>
              </a:pPr>
              <a:r>
                <a:rPr sz="1900" b="0" i="0">
                  <a:solidFill>
                    <a:srgbClr val="EAF0F6"/>
                  </a:solidFill>
                  <a:latin typeface="Segoe UI Semibold"/>
                </a:rPr>
                <a:t>Free trading</a:t>
              </a:r>
            </a:p>
          </p:txBody>
        </p:sp>
        <p:sp>
          <p:nvSpPr>
            <p:cNvPr id="20" name="TextBox 19"/>
            <p:cNvSpPr txBox="1"/>
            <p:nvPr/>
          </p:nvSpPr>
          <p:spPr>
            <a:xfrm>
              <a:off x="6494069" y="2999232"/>
              <a:ext cx="2011680" cy="1508760"/>
            </a:xfrm>
            <a:prstGeom prst="rect">
              <a:avLst/>
            </a:prstGeom>
            <a:noFill/>
          </p:spPr>
          <p:txBody>
            <a:bodyPr wrap="square" lIns="0" tIns="0" rIns="0" bIns="0" anchor="t">
              <a:noAutofit/>
            </a:bodyPr>
            <a:lstStyle/>
            <a:p>
              <a:pPr algn="l">
                <a:lnSpc>
                  <a:spcPct val="110000"/>
                </a:lnSpc>
                <a:spcAft>
                  <a:spcPts val="0"/>
                </a:spcAft>
              </a:pPr>
              <a:r>
                <a:rPr sz="1400" b="0" i="0">
                  <a:solidFill>
                    <a:srgbClr val="AAB6C3"/>
                  </a:solidFill>
                  <a:latin typeface="Segoe UI"/>
                </a:rPr>
                <a:t>Ignoring fees, slippage and when orders actually fill. High-turnover strategies die on costs.</a:t>
              </a:r>
            </a:p>
          </p:txBody>
        </p:sp>
        <p:sp>
          <p:nvSpPr>
            <p:cNvPr id="21" name="TextBox 20"/>
            <p:cNvSpPr txBox="1"/>
            <p:nvPr/>
          </p:nvSpPr>
          <p:spPr>
            <a:xfrm>
              <a:off x="6494069" y="4599432"/>
              <a:ext cx="2011680" cy="27432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 paper-only profits</a:t>
              </a:r>
            </a:p>
          </p:txBody>
        </p:sp>
      </p:grpSp>
      <p:grpSp>
        <p:nvGrpSpPr>
          <p:cNvPr id="22" name="trap_4"/>
          <p:cNvGrpSpPr/>
          <p:nvPr/>
        </p:nvGrpSpPr>
        <p:grpSpPr>
          <a:xfrm>
            <a:off x="9009583" y="1828800"/>
            <a:ext cx="2542032" cy="3246120"/>
            <a:chOff x="9009583" y="1828800"/>
            <a:chExt cx="2542032" cy="3246120"/>
          </a:xfrm>
        </p:grpSpPr>
        <p:sp>
          <p:nvSpPr>
            <p:cNvPr id="23" name="trap_4_bg"/>
            <p:cNvSpPr/>
            <p:nvPr/>
          </p:nvSpPr>
          <p:spPr>
            <a:xfrm>
              <a:off x="9009583" y="1828800"/>
              <a:ext cx="2542032" cy="3246120"/>
            </a:xfrm>
            <a:prstGeom prst="roundRect">
              <a:avLst>
                <a:gd name="adj" fmla="val 4316"/>
              </a:avLst>
            </a:prstGeom>
            <a:solidFill>
              <a:srgbClr val="111823">
                <a:alpha val="88000"/>
              </a:srgbClr>
            </a:solidFill>
            <a:ln w="9525">
              <a:solidFill>
                <a:srgbClr val="243245"/>
              </a:solidFill>
            </a:ln>
          </p:spPr>
          <p:txBody>
            <a:bodyPr lIns="0" tIns="0" rIns="0" bIns="0" rtlCol="0" anchor="ctr"/>
            <a:lstStyle/>
            <a:p>
              <a:pPr algn="ctr"/>
              <a:endParaRPr/>
            </a:p>
          </p:txBody>
        </p:sp>
        <p:sp>
          <p:nvSpPr>
            <p:cNvPr id="24" name="TextBox 23"/>
            <p:cNvSpPr txBox="1"/>
            <p:nvPr/>
          </p:nvSpPr>
          <p:spPr>
            <a:xfrm>
              <a:off x="9283903" y="2103120"/>
              <a:ext cx="914400" cy="274320"/>
            </a:xfrm>
            <a:prstGeom prst="rect">
              <a:avLst/>
            </a:prstGeom>
            <a:noFill/>
          </p:spPr>
          <p:txBody>
            <a:bodyPr wrap="square" lIns="0" tIns="0" rIns="0" bIns="0" anchor="t">
              <a:noAutofit/>
            </a:bodyPr>
            <a:lstStyle/>
            <a:p>
              <a:pPr algn="l">
                <a:spcAft>
                  <a:spcPts val="0"/>
                </a:spcAft>
              </a:pPr>
              <a:r>
                <a:rPr sz="1300" b="0" i="0">
                  <a:solidFill>
                    <a:srgbClr val="FFB547"/>
                  </a:solidFill>
                  <a:latin typeface="Consolas"/>
                </a:rPr>
                <a:t>04</a:t>
              </a:r>
            </a:p>
          </p:txBody>
        </p:sp>
        <p:sp>
          <p:nvSpPr>
            <p:cNvPr id="25" name="TextBox 24"/>
            <p:cNvSpPr txBox="1"/>
            <p:nvPr/>
          </p:nvSpPr>
          <p:spPr>
            <a:xfrm>
              <a:off x="9283903" y="2487168"/>
              <a:ext cx="2011680" cy="411480"/>
            </a:xfrm>
            <a:prstGeom prst="rect">
              <a:avLst/>
            </a:prstGeom>
            <a:noFill/>
          </p:spPr>
          <p:txBody>
            <a:bodyPr wrap="square" lIns="0" tIns="0" rIns="0" bIns="0" anchor="t">
              <a:noAutofit/>
            </a:bodyPr>
            <a:lstStyle/>
            <a:p>
              <a:pPr algn="l">
                <a:spcAft>
                  <a:spcPts val="0"/>
                </a:spcAft>
              </a:pPr>
              <a:r>
                <a:rPr sz="1900" b="0" i="0">
                  <a:solidFill>
                    <a:srgbClr val="EAF0F6"/>
                  </a:solidFill>
                  <a:latin typeface="Segoe UI Semibold"/>
                </a:rPr>
                <a:t>Weak baselines</a:t>
              </a:r>
            </a:p>
          </p:txBody>
        </p:sp>
        <p:sp>
          <p:nvSpPr>
            <p:cNvPr id="26" name="TextBox 25"/>
            <p:cNvSpPr txBox="1"/>
            <p:nvPr/>
          </p:nvSpPr>
          <p:spPr>
            <a:xfrm>
              <a:off x="9283903" y="2999232"/>
              <a:ext cx="2011680" cy="1508760"/>
            </a:xfrm>
            <a:prstGeom prst="rect">
              <a:avLst/>
            </a:prstGeom>
            <a:noFill/>
          </p:spPr>
          <p:txBody>
            <a:bodyPr wrap="square" lIns="0" tIns="0" rIns="0" bIns="0" anchor="t">
              <a:noAutofit/>
            </a:bodyPr>
            <a:lstStyle/>
            <a:p>
              <a:pPr algn="l">
                <a:lnSpc>
                  <a:spcPct val="110000"/>
                </a:lnSpc>
                <a:spcAft>
                  <a:spcPts val="0"/>
                </a:spcAft>
              </a:pPr>
              <a:r>
                <a:rPr sz="1400" b="0" i="0">
                  <a:solidFill>
                    <a:srgbClr val="AAB6C3"/>
                  </a:solidFill>
                  <a:latin typeface="Segoe UI"/>
                </a:rPr>
                <a:t>A model at 51% sounds better than a coin flip, but 'always predict Up' already scores 49.5% on SPY.</a:t>
              </a:r>
            </a:p>
          </p:txBody>
        </p:sp>
        <p:sp>
          <p:nvSpPr>
            <p:cNvPr id="27" name="TextBox 26"/>
            <p:cNvSpPr txBox="1"/>
            <p:nvPr/>
          </p:nvSpPr>
          <p:spPr>
            <a:xfrm>
              <a:off x="9283903" y="4599432"/>
              <a:ext cx="2011680" cy="27432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 base-rate 'skill'</a:t>
              </a:r>
            </a:p>
          </p:txBody>
        </p:sp>
      </p:grpSp>
      <p:sp>
        <p:nvSpPr>
          <p:cNvPr id="28" name="bottom"/>
          <p:cNvSpPr txBox="1"/>
          <p:nvPr/>
        </p:nvSpPr>
        <p:spPr>
          <a:xfrm>
            <a:off x="640080" y="5394960"/>
            <a:ext cx="10911535" cy="365760"/>
          </a:xfrm>
          <a:prstGeom prst="rect">
            <a:avLst/>
          </a:prstGeom>
          <a:noFill/>
        </p:spPr>
        <p:txBody>
          <a:bodyPr wrap="square" lIns="0" tIns="0" rIns="0" bIns="0" anchor="t">
            <a:noAutofit/>
          </a:bodyPr>
          <a:lstStyle/>
          <a:p>
            <a:pPr algn="l">
              <a:spcAft>
                <a:spcPts val="0"/>
              </a:spcAft>
            </a:pPr>
            <a:r>
              <a:rPr sz="1600" b="0" i="0">
                <a:solidFill>
                  <a:srgbClr val="AAB6C3"/>
                </a:solidFill>
                <a:latin typeface="Segoe UI"/>
              </a:rPr>
              <a:t>Each trap inflates results. The framework was designed to close all four.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2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anim calcmode="lin" valueType="num">
                                      <p:cBhvr>
                                        <p:cTn id="13" dur="500" fill="hold"/>
                                        <p:tgtEl>
                                          <p:spTgt spid="10"/>
                                        </p:tgtEl>
                                        <p:attrNameLst>
                                          <p:attrName>ppt_x</p:attrName>
                                        </p:attrNameLst>
                                      </p:cBhvr>
                                      <p:tavLst>
                                        <p:tav tm="0">
                                          <p:val>
                                            <p:strVal val="#ppt_x"/>
                                          </p:val>
                                        </p:tav>
                                        <p:tav tm="100000">
                                          <p:val>
                                            <p:strVal val="#ppt_x"/>
                                          </p:val>
                                        </p:tav>
                                      </p:tavLst>
                                    </p:anim>
                                    <p:anim calcmode="lin" valueType="num">
                                      <p:cBhvr>
                                        <p:cTn id="14" dur="5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4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anim calcmode="lin" valueType="num">
                                      <p:cBhvr>
                                        <p:cTn id="18" dur="500" fill="hold"/>
                                        <p:tgtEl>
                                          <p:spTgt spid="16"/>
                                        </p:tgtEl>
                                        <p:attrNameLst>
                                          <p:attrName>ppt_x</p:attrName>
                                        </p:attrNameLst>
                                      </p:cBhvr>
                                      <p:tavLst>
                                        <p:tav tm="0">
                                          <p:val>
                                            <p:strVal val="#ppt_x"/>
                                          </p:val>
                                        </p:tav>
                                        <p:tav tm="100000">
                                          <p:val>
                                            <p:strVal val="#ppt_x"/>
                                          </p:val>
                                        </p:tav>
                                      </p:tavLst>
                                    </p:anim>
                                    <p:anim calcmode="lin" valueType="num">
                                      <p:cBhvr>
                                        <p:cTn id="19" dur="5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6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anim calcmode="lin" valueType="num">
                                      <p:cBhvr>
                                        <p:cTn id="23" dur="500" fill="hold"/>
                                        <p:tgtEl>
                                          <p:spTgt spid="22"/>
                                        </p:tgtEl>
                                        <p:attrNameLst>
                                          <p:attrName>ppt_x</p:attrName>
                                        </p:attrNameLst>
                                      </p:cBhvr>
                                      <p:tavLst>
                                        <p:tav tm="0">
                                          <p:val>
                                            <p:strVal val="#ppt_x"/>
                                          </p:val>
                                        </p:tav>
                                        <p:tav tm="100000">
                                          <p:val>
                                            <p:strVal val="#ppt_x"/>
                                          </p:val>
                                        </p:tav>
                                      </p:tavLst>
                                    </p:anim>
                                    <p:anim calcmode="lin" valueType="num">
                                      <p:cBhvr>
                                        <p:cTn id="24" dur="500" fill="hold"/>
                                        <p:tgtEl>
                                          <p:spTgt spid="22"/>
                                        </p:tgtEl>
                                        <p:attrNameLst>
                                          <p:attrName>ppt_y</p:attrName>
                                        </p:attrNameLst>
                                      </p:cBhvr>
                                      <p:tavLst>
                                        <p:tav tm="0">
                                          <p:val>
                                            <p:strVal val="#ppt_y+.1"/>
                                          </p:val>
                                        </p:tav>
                                        <p:tav tm="100000">
                                          <p:val>
                                            <p:strVal val="#ppt_y"/>
                                          </p:val>
                                        </p:tav>
                                      </p:tavLst>
                                    </p:anim>
                                  </p:childTnLst>
                                </p:cTn>
                              </p:par>
                            </p:childTnLst>
                          </p:cTn>
                        </p:par>
                        <p:par>
                          <p:cTn id="25" fill="hold">
                            <p:stCondLst>
                              <p:cond delay="860"/>
                            </p:stCondLst>
                            <p:childTnLst>
                              <p:par>
                                <p:cTn id="26" presetID="10" presetClass="entr" presetSubtype="0" fill="hold" grpId="0" nodeType="after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Small evaluation choices flip the conclusion</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02 · WHY IT MATTERS</a:t>
            </a:r>
          </a:p>
        </p:txBody>
      </p:sp>
      <p:sp>
        <p:nvSpPr>
          <p:cNvPr id="4" name="chart_head"/>
          <p:cNvSpPr txBox="1"/>
          <p:nvPr/>
        </p:nvSpPr>
        <p:spPr>
          <a:xfrm>
            <a:off x="640080" y="1783080"/>
            <a:ext cx="6583680" cy="274320"/>
          </a:xfrm>
          <a:prstGeom prst="rect">
            <a:avLst/>
          </a:prstGeom>
          <a:noFill/>
        </p:spPr>
        <p:txBody>
          <a:bodyPr wrap="square" lIns="0" tIns="0" rIns="0" bIns="0" anchor="t">
            <a:noAutofit/>
          </a:bodyPr>
          <a:lstStyle/>
          <a:p>
            <a:pPr algn="l">
              <a:spcAft>
                <a:spcPts val="0"/>
              </a:spcAft>
            </a:pPr>
            <a:r>
              <a:rPr sz="1300" b="0" i="0">
                <a:solidFill>
                  <a:srgbClr val="AAB6C3"/>
                </a:solidFill>
                <a:latin typeface="Segoe UI"/>
              </a:rPr>
              <a:t>Naive persistence — Sharpe ratio vs. one-way cost (bps), test 2022–2025</a:t>
            </a:r>
          </a:p>
        </p:txBody>
      </p:sp>
      <p:graphicFrame>
        <p:nvGraphicFramePr>
          <p:cNvPr id="5" name="chart_cost"/>
          <p:cNvGraphicFramePr>
            <a:graphicFrameLocks noGrp="1"/>
          </p:cNvGraphicFramePr>
          <p:nvPr/>
        </p:nvGraphicFramePr>
        <p:xfrm>
          <a:off x="640080" y="2103120"/>
          <a:ext cx="658368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6" name="chart_caption"/>
          <p:cNvSpPr txBox="1"/>
          <p:nvPr/>
        </p:nvSpPr>
        <p:spPr>
          <a:xfrm>
            <a:off x="640080" y="5687568"/>
            <a:ext cx="6583680" cy="457200"/>
          </a:xfrm>
          <a:prstGeom prst="rect">
            <a:avLst/>
          </a:prstGeom>
          <a:noFill/>
        </p:spPr>
        <p:txBody>
          <a:bodyPr wrap="square" lIns="0" tIns="0" rIns="0" bIns="0" anchor="t">
            <a:noAutofit/>
          </a:bodyPr>
          <a:lstStyle/>
          <a:p>
            <a:pPr algn="l">
              <a:spcAft>
                <a:spcPts val="0"/>
              </a:spcAft>
            </a:pPr>
            <a:r>
              <a:rPr sz="1300" b="0" i="0">
                <a:solidFill>
                  <a:srgbClr val="8291A2"/>
                </a:solidFill>
                <a:latin typeface="Segoe UI"/>
              </a:rPr>
              <a:t>Persistence (‘tomorrow repeats today’) is profitable before costs and deeply negative after them. AAPL and MSFT nearly coincide.</a:t>
            </a:r>
          </a:p>
        </p:txBody>
      </p:sp>
      <p:grpSp>
        <p:nvGrpSpPr>
          <p:cNvPr id="7" name="stat_exec"/>
          <p:cNvGrpSpPr/>
          <p:nvPr/>
        </p:nvGrpSpPr>
        <p:grpSpPr>
          <a:xfrm>
            <a:off x="7635240" y="1874520"/>
            <a:ext cx="3913632" cy="1645920"/>
            <a:chOff x="7635240" y="1874520"/>
            <a:chExt cx="3913632" cy="1645920"/>
          </a:xfrm>
        </p:grpSpPr>
        <p:sp>
          <p:nvSpPr>
            <p:cNvPr id="8" name="TextBox 7"/>
            <p:cNvSpPr txBox="1"/>
            <p:nvPr/>
          </p:nvSpPr>
          <p:spPr>
            <a:xfrm>
              <a:off x="7635240" y="1874520"/>
              <a:ext cx="3913632" cy="822960"/>
            </a:xfrm>
            <a:prstGeom prst="rect">
              <a:avLst/>
            </a:prstGeom>
            <a:noFill/>
          </p:spPr>
          <p:txBody>
            <a:bodyPr wrap="square" lIns="0" tIns="0" rIns="0" bIns="0" anchor="t">
              <a:noAutofit/>
            </a:bodyPr>
            <a:lstStyle/>
            <a:p>
              <a:pPr algn="l">
                <a:spcAft>
                  <a:spcPts val="0"/>
                </a:spcAft>
              </a:pPr>
              <a:r>
                <a:rPr sz="4600" b="0" i="0">
                  <a:solidFill>
                    <a:srgbClr val="FFB547"/>
                  </a:solidFill>
                  <a:latin typeface="Segoe UI Light"/>
                </a:rPr>
                <a:t>0.58 → 0.01</a:t>
              </a:r>
            </a:p>
          </p:txBody>
        </p:sp>
        <p:sp>
          <p:nvSpPr>
            <p:cNvPr id="9" name="TextBox 8"/>
            <p:cNvSpPr txBox="1"/>
            <p:nvPr/>
          </p:nvSpPr>
          <p:spPr>
            <a:xfrm>
              <a:off x="7635240" y="2743200"/>
              <a:ext cx="3913632" cy="777240"/>
            </a:xfrm>
            <a:prstGeom prst="rect">
              <a:avLst/>
            </a:prstGeom>
            <a:noFill/>
          </p:spPr>
          <p:txBody>
            <a:bodyPr wrap="square" lIns="0" tIns="0" rIns="0" bIns="0" anchor="t">
              <a:noAutofit/>
            </a:bodyPr>
            <a:lstStyle/>
            <a:p>
              <a:pPr algn="l">
                <a:lnSpc>
                  <a:spcPct val="110000"/>
                </a:lnSpc>
                <a:spcAft>
                  <a:spcPts val="0"/>
                </a:spcAft>
              </a:pPr>
              <a:r>
                <a:rPr sz="1400" b="0" i="0">
                  <a:solidFill>
                    <a:srgbClr val="AAB6C3"/>
                  </a:solidFill>
                  <a:latin typeface="Segoe UI"/>
                </a:rPr>
                <a:t>AAPL Random Forest Sharpe when fills move from the next open to the same day's close (sensitivity run)</a:t>
              </a:r>
            </a:p>
          </p:txBody>
        </p:sp>
      </p:grpSp>
      <p:grpSp>
        <p:nvGrpSpPr>
          <p:cNvPr id="10" name="stat_noise"/>
          <p:cNvGrpSpPr/>
          <p:nvPr/>
        </p:nvGrpSpPr>
        <p:grpSpPr>
          <a:xfrm>
            <a:off x="7635240" y="3886200"/>
            <a:ext cx="3913632" cy="1645920"/>
            <a:chOff x="7635240" y="3886200"/>
            <a:chExt cx="3913632" cy="1645920"/>
          </a:xfrm>
        </p:grpSpPr>
        <p:sp>
          <p:nvSpPr>
            <p:cNvPr id="11" name="TextBox 10"/>
            <p:cNvSpPr txBox="1"/>
            <p:nvPr/>
          </p:nvSpPr>
          <p:spPr>
            <a:xfrm>
              <a:off x="7635240" y="3886200"/>
              <a:ext cx="3913632" cy="822960"/>
            </a:xfrm>
            <a:prstGeom prst="rect">
              <a:avLst/>
            </a:prstGeom>
            <a:noFill/>
          </p:spPr>
          <p:txBody>
            <a:bodyPr wrap="square" lIns="0" tIns="0" rIns="0" bIns="0" anchor="t">
              <a:noAutofit/>
            </a:bodyPr>
            <a:lstStyle/>
            <a:p>
              <a:pPr algn="l">
                <a:spcAft>
                  <a:spcPts val="0"/>
                </a:spcAft>
              </a:pPr>
              <a:r>
                <a:rPr sz="4600" b="0" i="0">
                  <a:solidFill>
                    <a:srgbClr val="EAF0F6"/>
                  </a:solidFill>
                  <a:latin typeface="Segoe UI Light"/>
                </a:rPr>
                <a:t>−0.21 … 1.58</a:t>
              </a:r>
            </a:p>
          </p:txBody>
        </p:sp>
        <p:sp>
          <p:nvSpPr>
            <p:cNvPr id="12" name="TextBox 11"/>
            <p:cNvSpPr txBox="1"/>
            <p:nvPr/>
          </p:nvSpPr>
          <p:spPr>
            <a:xfrm>
              <a:off x="7635240" y="4754880"/>
              <a:ext cx="3913632" cy="777240"/>
            </a:xfrm>
            <a:prstGeom prst="rect">
              <a:avLst/>
            </a:prstGeom>
            <a:noFill/>
          </p:spPr>
          <p:txBody>
            <a:bodyPr wrap="square" lIns="0" tIns="0" rIns="0" bIns="0" anchor="t">
              <a:noAutofit/>
            </a:bodyPr>
            <a:lstStyle/>
            <a:p>
              <a:pPr algn="l">
                <a:lnSpc>
                  <a:spcPct val="110000"/>
                </a:lnSpc>
                <a:spcAft>
                  <a:spcPts val="0"/>
                </a:spcAft>
              </a:pPr>
              <a:r>
                <a:rPr sz="1400" b="0" i="0">
                  <a:solidFill>
                    <a:srgbClr val="AAB6C3"/>
                  </a:solidFill>
                  <a:latin typeface="Segoe UI"/>
                </a:rPr>
                <a:t>95% bootstrap interval for SPY buy-and-hold's Sharpe ratio (0.66) over the four test years</a:t>
              </a:r>
            </a:p>
          </p:txBody>
        </p:sp>
      </p:grpSp>
      <p:sp>
        <p:nvSpPr>
          <p:cNvPr id="13" name="definitions"/>
          <p:cNvSpPr txBox="1"/>
          <p:nvPr/>
        </p:nvSpPr>
        <p:spPr>
          <a:xfrm>
            <a:off x="7635240" y="5650992"/>
            <a:ext cx="3913632" cy="502920"/>
          </a:xfrm>
          <a:prstGeom prst="rect">
            <a:avLst/>
          </a:prstGeom>
          <a:noFill/>
        </p:spPr>
        <p:txBody>
          <a:bodyPr wrap="square" lIns="0" tIns="0" rIns="0" bIns="0" anchor="t">
            <a:noAutofit/>
          </a:bodyPr>
          <a:lstStyle/>
          <a:p>
            <a:pPr algn="l">
              <a:lnSpc>
                <a:spcPct val="105000"/>
              </a:lnSpc>
              <a:spcAft>
                <a:spcPts val="0"/>
              </a:spcAft>
            </a:pPr>
            <a:r>
              <a:rPr sz="1150" b="0" i="0">
                <a:solidFill>
                  <a:srgbClr val="8291A2"/>
                </a:solidFill>
                <a:latin typeface="Segoe UI"/>
              </a:rPr>
              <a:t>Sharpe ratio = annualised mean return ÷ annualised volatility (risk-free rate 0). 1 bp (basis point) = 0.01%.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1200"/>
                                        <p:tgtEl>
                                          <p:spTgt spid="5"/>
                                        </p:tgtEl>
                                      </p:cBhvr>
                                    </p:animEffect>
                                  </p:childTnLst>
                                </p:cTn>
                              </p:par>
                            </p:childTnLst>
                          </p:cTn>
                        </p:par>
                        <p:par>
                          <p:cTn id="11" fill="hold">
                            <p:stCondLst>
                              <p:cond delay="13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childTnLst>
                          </p:cTn>
                        </p:par>
                        <p:par>
                          <p:cTn id="15" fill="hold">
                            <p:stCondLst>
                              <p:cond delay="1700"/>
                            </p:stCondLst>
                            <p:childTnLst>
                              <p:par>
                                <p:cTn id="16" presetID="42" presetClass="entr" presetSubtype="0" fill="hold" nodeType="afterEffect">
                                  <p:stCondLst>
                                    <p:cond delay="1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50"/>
                                        <p:tgtEl>
                                          <p:spTgt spid="7"/>
                                        </p:tgtEl>
                                      </p:cBhvr>
                                    </p:animEffect>
                                    <p:anim calcmode="lin" valueType="num">
                                      <p:cBhvr>
                                        <p:cTn id="19" dur="550" fill="hold"/>
                                        <p:tgtEl>
                                          <p:spTgt spid="7"/>
                                        </p:tgtEl>
                                        <p:attrNameLst>
                                          <p:attrName>ppt_x</p:attrName>
                                        </p:attrNameLst>
                                      </p:cBhvr>
                                      <p:tavLst>
                                        <p:tav tm="0">
                                          <p:val>
                                            <p:strVal val="#ppt_x"/>
                                          </p:val>
                                        </p:tav>
                                        <p:tav tm="100000">
                                          <p:val>
                                            <p:strVal val="#ppt_x"/>
                                          </p:val>
                                        </p:tav>
                                      </p:tavLst>
                                    </p:anim>
                                    <p:anim calcmode="lin" valueType="num">
                                      <p:cBhvr>
                                        <p:cTn id="20" dur="550" fill="hold"/>
                                        <p:tgtEl>
                                          <p:spTgt spid="7"/>
                                        </p:tgtEl>
                                        <p:attrNameLst>
                                          <p:attrName>ppt_y</p:attrName>
                                        </p:attrNameLst>
                                      </p:cBhvr>
                                      <p:tavLst>
                                        <p:tav tm="0">
                                          <p:val>
                                            <p:strVal val="#ppt_y+.1"/>
                                          </p:val>
                                        </p:tav>
                                        <p:tav tm="100000">
                                          <p:val>
                                            <p:strVal val="#ppt_y"/>
                                          </p:val>
                                        </p:tav>
                                      </p:tavLst>
                                    </p:anim>
                                  </p:childTnLst>
                                </p:cTn>
                              </p:par>
                            </p:childTnLst>
                          </p:cTn>
                        </p:par>
                        <p:par>
                          <p:cTn id="21" fill="hold">
                            <p:stCondLst>
                              <p:cond delay="2350"/>
                            </p:stCondLst>
                            <p:childTnLst>
                              <p:par>
                                <p:cTn id="22" presetID="42" presetClass="entr" presetSubtype="0" fill="hold" nodeType="afterEffect">
                                  <p:stCondLst>
                                    <p:cond delay="1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50"/>
                                        <p:tgtEl>
                                          <p:spTgt spid="10"/>
                                        </p:tgtEl>
                                      </p:cBhvr>
                                    </p:animEffect>
                                    <p:anim calcmode="lin" valueType="num">
                                      <p:cBhvr>
                                        <p:cTn id="25" dur="550" fill="hold"/>
                                        <p:tgtEl>
                                          <p:spTgt spid="10"/>
                                        </p:tgtEl>
                                        <p:attrNameLst>
                                          <p:attrName>ppt_x</p:attrName>
                                        </p:attrNameLst>
                                      </p:cBhvr>
                                      <p:tavLst>
                                        <p:tav tm="0">
                                          <p:val>
                                            <p:strVal val="#ppt_x"/>
                                          </p:val>
                                        </p:tav>
                                        <p:tav tm="100000">
                                          <p:val>
                                            <p:strVal val="#ppt_x"/>
                                          </p:val>
                                        </p:tav>
                                      </p:tavLst>
                                    </p:anim>
                                    <p:anim calcmode="lin" valueType="num">
                                      <p:cBhvr>
                                        <p:cTn id="26" dur="550" fill="hold"/>
                                        <p:tgtEl>
                                          <p:spTgt spid="10"/>
                                        </p:tgtEl>
                                        <p:attrNameLst>
                                          <p:attrName>ppt_y</p:attrName>
                                        </p:attrNameLst>
                                      </p:cBhvr>
                                      <p:tavLst>
                                        <p:tav tm="0">
                                          <p:val>
                                            <p:strVal val="#ppt_y+.1"/>
                                          </p:val>
                                        </p:tav>
                                        <p:tav tm="100000">
                                          <p:val>
                                            <p:strVal val="#ppt_y"/>
                                          </p:val>
                                        </p:tav>
                                      </p:tavLst>
                                    </p:anim>
                                  </p:childTnLst>
                                </p:cTn>
                              </p:par>
                            </p:childTnLst>
                          </p:cTn>
                        </p:par>
                        <p:par>
                          <p:cTn id="27" fill="hold">
                            <p:stCondLst>
                              <p:cond delay="3000"/>
                            </p:stCondLst>
                            <p:childTnLst>
                              <p:par>
                                <p:cTn id="28" presetID="10" presetClass="entr" presetSubtype="0"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Graphic spid="5" grpId="0">
        <p:bldAsOne/>
      </p:bldGraphic>
      <p:bldP spid="6"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What we set out to do</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03 · OBJECTIVES</a:t>
            </a:r>
          </a:p>
        </p:txBody>
      </p:sp>
      <p:grpSp>
        <p:nvGrpSpPr>
          <p:cNvPr id="4" name="obj_1"/>
          <p:cNvGrpSpPr/>
          <p:nvPr/>
        </p:nvGrpSpPr>
        <p:grpSpPr>
          <a:xfrm>
            <a:off x="640080" y="1783080"/>
            <a:ext cx="10911535" cy="868680"/>
            <a:chOff x="640080" y="1783080"/>
            <a:chExt cx="10911535" cy="868680"/>
          </a:xfrm>
        </p:grpSpPr>
        <p:sp>
          <p:nvSpPr>
            <p:cNvPr id="5" name="obj_1_bg"/>
            <p:cNvSpPr/>
            <p:nvPr/>
          </p:nvSpPr>
          <p:spPr>
            <a:xfrm>
              <a:off x="640080" y="1783080"/>
              <a:ext cx="10911535" cy="868680"/>
            </a:xfrm>
            <a:prstGeom prst="roundRect">
              <a:avLst>
                <a:gd name="adj" fmla="val 12631"/>
              </a:avLst>
            </a:prstGeom>
            <a:solidFill>
              <a:srgbClr val="111823">
                <a:alpha val="88000"/>
              </a:srgbClr>
            </a:solidFill>
            <a:ln w="9525">
              <a:solidFill>
                <a:srgbClr val="243245"/>
              </a:solidFill>
            </a:ln>
          </p:spPr>
          <p:txBody>
            <a:bodyPr lIns="0" tIns="0" rIns="0" bIns="0" rtlCol="0" anchor="ctr"/>
            <a:lstStyle/>
            <a:p>
              <a:pPr algn="ctr"/>
              <a:endParaRPr/>
            </a:p>
          </p:txBody>
        </p:sp>
        <p:sp>
          <p:nvSpPr>
            <p:cNvPr id="6" name="TextBox 5"/>
            <p:cNvSpPr txBox="1"/>
            <p:nvPr/>
          </p:nvSpPr>
          <p:spPr>
            <a:xfrm>
              <a:off x="960120" y="1783080"/>
              <a:ext cx="548640" cy="868680"/>
            </a:xfrm>
            <a:prstGeom prst="rect">
              <a:avLst/>
            </a:prstGeom>
            <a:noFill/>
          </p:spPr>
          <p:txBody>
            <a:bodyPr wrap="square" lIns="0" tIns="0" rIns="0" bIns="0" anchor="ctr">
              <a:noAutofit/>
            </a:bodyPr>
            <a:lstStyle/>
            <a:p>
              <a:pPr algn="l">
                <a:spcAft>
                  <a:spcPts val="0"/>
                </a:spcAft>
              </a:pPr>
              <a:r>
                <a:rPr sz="1600" b="0" i="0">
                  <a:solidFill>
                    <a:srgbClr val="FFB547"/>
                  </a:solidFill>
                  <a:latin typeface="Consolas"/>
                </a:rPr>
                <a:t>01</a:t>
              </a:r>
            </a:p>
          </p:txBody>
        </p:sp>
        <p:sp>
          <p:nvSpPr>
            <p:cNvPr id="7" name="TextBox 6"/>
            <p:cNvSpPr txBox="1"/>
            <p:nvPr/>
          </p:nvSpPr>
          <p:spPr>
            <a:xfrm>
              <a:off x="1600200" y="1783080"/>
              <a:ext cx="7909560" cy="868680"/>
            </a:xfrm>
            <a:prstGeom prst="rect">
              <a:avLst/>
            </a:prstGeom>
            <a:noFill/>
          </p:spPr>
          <p:txBody>
            <a:bodyPr wrap="square" lIns="0" tIns="0" rIns="0" bIns="0" anchor="ctr">
              <a:noAutofit/>
            </a:bodyPr>
            <a:lstStyle/>
            <a:p>
              <a:pPr algn="l">
                <a:lnSpc>
                  <a:spcPct val="105000"/>
                </a:lnSpc>
                <a:spcAft>
                  <a:spcPts val="0"/>
                </a:spcAft>
              </a:pPr>
              <a:r>
                <a:rPr sz="1600" b="0" i="0">
                  <a:solidFill>
                    <a:srgbClr val="EAF0F6"/>
                  </a:solidFill>
                  <a:latin typeface="Segoe UI"/>
                </a:rPr>
                <a:t>Build moving-average crossover and buy-and-hold baselines in one backtester with realistic transaction costs.</a:t>
              </a:r>
            </a:p>
          </p:txBody>
        </p:sp>
        <p:sp>
          <p:nvSpPr>
            <p:cNvPr id="8" name="Rounded Rectangle 7"/>
            <p:cNvSpPr/>
            <p:nvPr/>
          </p:nvSpPr>
          <p:spPr>
            <a:xfrm>
              <a:off x="9692640" y="2048256"/>
              <a:ext cx="1600200" cy="338328"/>
            </a:xfrm>
            <a:prstGeom prst="roundRect">
              <a:avLst>
                <a:gd name="adj" fmla="val 48648"/>
              </a:avLst>
            </a:prstGeom>
            <a:solidFill>
              <a:srgbClr val="3DDBB4">
                <a:alpha val="12000"/>
              </a:srgbClr>
            </a:solidFill>
            <a:ln w="9525">
              <a:solidFill>
                <a:srgbClr val="3DDBB4">
                  <a:alpha val="80000"/>
                </a:srgbClr>
              </a:solidFill>
            </a:ln>
          </p:spPr>
          <p:txBody>
            <a:bodyPr wrap="square" lIns="0" tIns="0" rIns="0" bIns="0" rtlCol="0" anchor="ctr">
              <a:noAutofit/>
            </a:bodyPr>
            <a:lstStyle/>
            <a:p>
              <a:pPr algn="ctr">
                <a:spcAft>
                  <a:spcPts val="0"/>
                </a:spcAft>
              </a:pPr>
              <a:r>
                <a:rPr sz="1100" b="0" i="0" spc="100">
                  <a:solidFill>
                    <a:srgbClr val="3DDBB4"/>
                  </a:solidFill>
                  <a:latin typeface="Consolas"/>
                </a:rPr>
                <a:t>DELIVERED</a:t>
              </a:r>
            </a:p>
          </p:txBody>
        </p:sp>
      </p:grpSp>
      <p:grpSp>
        <p:nvGrpSpPr>
          <p:cNvPr id="9" name="obj_2"/>
          <p:cNvGrpSpPr/>
          <p:nvPr/>
        </p:nvGrpSpPr>
        <p:grpSpPr>
          <a:xfrm>
            <a:off x="640080" y="2807208"/>
            <a:ext cx="10911535" cy="868680"/>
            <a:chOff x="640080" y="2807208"/>
            <a:chExt cx="10911535" cy="868680"/>
          </a:xfrm>
        </p:grpSpPr>
        <p:sp>
          <p:nvSpPr>
            <p:cNvPr id="10" name="obj_2_bg"/>
            <p:cNvSpPr/>
            <p:nvPr/>
          </p:nvSpPr>
          <p:spPr>
            <a:xfrm>
              <a:off x="640080" y="2807208"/>
              <a:ext cx="10911535" cy="868680"/>
            </a:xfrm>
            <a:prstGeom prst="roundRect">
              <a:avLst>
                <a:gd name="adj" fmla="val 12631"/>
              </a:avLst>
            </a:prstGeom>
            <a:solidFill>
              <a:srgbClr val="111823">
                <a:alpha val="88000"/>
              </a:srgbClr>
            </a:solidFill>
            <a:ln w="9525">
              <a:solidFill>
                <a:srgbClr val="243245"/>
              </a:solidFill>
            </a:ln>
          </p:spPr>
          <p:txBody>
            <a:bodyPr lIns="0" tIns="0" rIns="0" bIns="0" rtlCol="0" anchor="ctr"/>
            <a:lstStyle/>
            <a:p>
              <a:pPr algn="ctr"/>
              <a:endParaRPr/>
            </a:p>
          </p:txBody>
        </p:sp>
        <p:sp>
          <p:nvSpPr>
            <p:cNvPr id="11" name="TextBox 10"/>
            <p:cNvSpPr txBox="1"/>
            <p:nvPr/>
          </p:nvSpPr>
          <p:spPr>
            <a:xfrm>
              <a:off x="960120" y="2807208"/>
              <a:ext cx="548640" cy="868680"/>
            </a:xfrm>
            <a:prstGeom prst="rect">
              <a:avLst/>
            </a:prstGeom>
            <a:noFill/>
          </p:spPr>
          <p:txBody>
            <a:bodyPr wrap="square" lIns="0" tIns="0" rIns="0" bIns="0" anchor="ctr">
              <a:noAutofit/>
            </a:bodyPr>
            <a:lstStyle/>
            <a:p>
              <a:pPr algn="l">
                <a:spcAft>
                  <a:spcPts val="0"/>
                </a:spcAft>
              </a:pPr>
              <a:r>
                <a:rPr sz="1600" b="0" i="0">
                  <a:solidFill>
                    <a:srgbClr val="FFB547"/>
                  </a:solidFill>
                  <a:latin typeface="Consolas"/>
                </a:rPr>
                <a:t>02</a:t>
              </a:r>
            </a:p>
          </p:txBody>
        </p:sp>
        <p:sp>
          <p:nvSpPr>
            <p:cNvPr id="12" name="TextBox 11"/>
            <p:cNvSpPr txBox="1"/>
            <p:nvPr/>
          </p:nvSpPr>
          <p:spPr>
            <a:xfrm>
              <a:off x="1600200" y="2807208"/>
              <a:ext cx="7909560" cy="868680"/>
            </a:xfrm>
            <a:prstGeom prst="rect">
              <a:avLst/>
            </a:prstGeom>
            <a:noFill/>
          </p:spPr>
          <p:txBody>
            <a:bodyPr wrap="square" lIns="0" tIns="0" rIns="0" bIns="0" anchor="ctr">
              <a:noAutofit/>
            </a:bodyPr>
            <a:lstStyle/>
            <a:p>
              <a:pPr algn="l">
                <a:lnSpc>
                  <a:spcPct val="105000"/>
                </a:lnSpc>
                <a:spcAft>
                  <a:spcPts val="0"/>
                </a:spcAft>
              </a:pPr>
              <a:r>
                <a:rPr sz="1600" b="0" i="0">
                  <a:solidFill>
                    <a:srgbClr val="EAF0F6"/>
                  </a:solidFill>
                  <a:latin typeface="Segoe UI"/>
                </a:rPr>
                <a:t>Engineer SMA, EMA, RSI, MACD and Bollinger-band features for XGBoost and LSTM directional signals.</a:t>
              </a:r>
            </a:p>
          </p:txBody>
        </p:sp>
        <p:sp>
          <p:nvSpPr>
            <p:cNvPr id="13" name="Rounded Rectangle 12"/>
            <p:cNvSpPr/>
            <p:nvPr/>
          </p:nvSpPr>
          <p:spPr>
            <a:xfrm>
              <a:off x="9692640" y="3072384"/>
              <a:ext cx="1600200" cy="338328"/>
            </a:xfrm>
            <a:prstGeom prst="roundRect">
              <a:avLst>
                <a:gd name="adj" fmla="val 48648"/>
              </a:avLst>
            </a:prstGeom>
            <a:solidFill>
              <a:srgbClr val="3DDBB4">
                <a:alpha val="12000"/>
              </a:srgbClr>
            </a:solidFill>
            <a:ln w="9525">
              <a:solidFill>
                <a:srgbClr val="3DDBB4">
                  <a:alpha val="80000"/>
                </a:srgbClr>
              </a:solidFill>
            </a:ln>
          </p:spPr>
          <p:txBody>
            <a:bodyPr wrap="square" lIns="0" tIns="0" rIns="0" bIns="0" rtlCol="0" anchor="ctr">
              <a:noAutofit/>
            </a:bodyPr>
            <a:lstStyle/>
            <a:p>
              <a:pPr algn="ctr">
                <a:spcAft>
                  <a:spcPts val="0"/>
                </a:spcAft>
              </a:pPr>
              <a:r>
                <a:rPr sz="1100" b="0" i="0" spc="100">
                  <a:solidFill>
                    <a:srgbClr val="3DDBB4"/>
                  </a:solidFill>
                  <a:latin typeface="Consolas"/>
                </a:rPr>
                <a:t>DELIVERED</a:t>
              </a:r>
            </a:p>
          </p:txBody>
        </p:sp>
      </p:grpSp>
      <p:grpSp>
        <p:nvGrpSpPr>
          <p:cNvPr id="14" name="obj_3"/>
          <p:cNvGrpSpPr/>
          <p:nvPr/>
        </p:nvGrpSpPr>
        <p:grpSpPr>
          <a:xfrm>
            <a:off x="640080" y="3831336"/>
            <a:ext cx="10911535" cy="868680"/>
            <a:chOff x="640080" y="3831336"/>
            <a:chExt cx="10911535" cy="868680"/>
          </a:xfrm>
        </p:grpSpPr>
        <p:sp>
          <p:nvSpPr>
            <p:cNvPr id="15" name="obj_3_bg"/>
            <p:cNvSpPr/>
            <p:nvPr/>
          </p:nvSpPr>
          <p:spPr>
            <a:xfrm>
              <a:off x="640080" y="3831336"/>
              <a:ext cx="10911535" cy="868680"/>
            </a:xfrm>
            <a:prstGeom prst="roundRect">
              <a:avLst>
                <a:gd name="adj" fmla="val 12631"/>
              </a:avLst>
            </a:prstGeom>
            <a:solidFill>
              <a:srgbClr val="111823">
                <a:alpha val="88000"/>
              </a:srgbClr>
            </a:solidFill>
            <a:ln w="9525">
              <a:solidFill>
                <a:srgbClr val="243245"/>
              </a:solidFill>
            </a:ln>
          </p:spPr>
          <p:txBody>
            <a:bodyPr lIns="0" tIns="0" rIns="0" bIns="0" rtlCol="0" anchor="ctr"/>
            <a:lstStyle/>
            <a:p>
              <a:pPr algn="ctr"/>
              <a:endParaRPr/>
            </a:p>
          </p:txBody>
        </p:sp>
        <p:sp>
          <p:nvSpPr>
            <p:cNvPr id="16" name="TextBox 15"/>
            <p:cNvSpPr txBox="1"/>
            <p:nvPr/>
          </p:nvSpPr>
          <p:spPr>
            <a:xfrm>
              <a:off x="960120" y="3831336"/>
              <a:ext cx="548640" cy="868680"/>
            </a:xfrm>
            <a:prstGeom prst="rect">
              <a:avLst/>
            </a:prstGeom>
            <a:noFill/>
          </p:spPr>
          <p:txBody>
            <a:bodyPr wrap="square" lIns="0" tIns="0" rIns="0" bIns="0" anchor="ctr">
              <a:noAutofit/>
            </a:bodyPr>
            <a:lstStyle/>
            <a:p>
              <a:pPr algn="l">
                <a:spcAft>
                  <a:spcPts val="0"/>
                </a:spcAft>
              </a:pPr>
              <a:r>
                <a:rPr sz="1600" b="0" i="0">
                  <a:solidFill>
                    <a:srgbClr val="FFB547"/>
                  </a:solidFill>
                  <a:latin typeface="Consolas"/>
                </a:rPr>
                <a:t>03</a:t>
              </a:r>
            </a:p>
          </p:txBody>
        </p:sp>
        <p:sp>
          <p:nvSpPr>
            <p:cNvPr id="17" name="TextBox 16"/>
            <p:cNvSpPr txBox="1"/>
            <p:nvPr/>
          </p:nvSpPr>
          <p:spPr>
            <a:xfrm>
              <a:off x="1600200" y="3831336"/>
              <a:ext cx="7909560" cy="868680"/>
            </a:xfrm>
            <a:prstGeom prst="rect">
              <a:avLst/>
            </a:prstGeom>
            <a:noFill/>
          </p:spPr>
          <p:txBody>
            <a:bodyPr wrap="square" lIns="0" tIns="0" rIns="0" bIns="0" anchor="ctr">
              <a:noAutofit/>
            </a:bodyPr>
            <a:lstStyle/>
            <a:p>
              <a:pPr algn="l">
                <a:lnSpc>
                  <a:spcPct val="105000"/>
                </a:lnSpc>
                <a:spcAft>
                  <a:spcPts val="0"/>
                </a:spcAft>
              </a:pPr>
              <a:r>
                <a:rPr sz="1600" b="0" i="0">
                  <a:solidFill>
                    <a:srgbClr val="EAF0F6"/>
                  </a:solidFill>
                  <a:latin typeface="Segoe UI"/>
                </a:rPr>
                <a:t>Compare ML signals with the baselines on predictive and risk-adjusted metrics across market conditions.</a:t>
              </a:r>
            </a:p>
          </p:txBody>
        </p:sp>
        <p:sp>
          <p:nvSpPr>
            <p:cNvPr id="18" name="Rounded Rectangle 17"/>
            <p:cNvSpPr/>
            <p:nvPr/>
          </p:nvSpPr>
          <p:spPr>
            <a:xfrm>
              <a:off x="9692640" y="4096512"/>
              <a:ext cx="1600200" cy="338328"/>
            </a:xfrm>
            <a:prstGeom prst="roundRect">
              <a:avLst>
                <a:gd name="adj" fmla="val 48648"/>
              </a:avLst>
            </a:prstGeom>
            <a:solidFill>
              <a:srgbClr val="3DDBB4">
                <a:alpha val="12000"/>
              </a:srgbClr>
            </a:solidFill>
            <a:ln w="9525">
              <a:solidFill>
                <a:srgbClr val="3DDBB4">
                  <a:alpha val="80000"/>
                </a:srgbClr>
              </a:solidFill>
            </a:ln>
          </p:spPr>
          <p:txBody>
            <a:bodyPr wrap="square" lIns="0" tIns="0" rIns="0" bIns="0" rtlCol="0" anchor="ctr">
              <a:noAutofit/>
            </a:bodyPr>
            <a:lstStyle/>
            <a:p>
              <a:pPr algn="ctr">
                <a:spcAft>
                  <a:spcPts val="0"/>
                </a:spcAft>
              </a:pPr>
              <a:r>
                <a:rPr sz="1100" b="0" i="0" spc="100">
                  <a:solidFill>
                    <a:srgbClr val="3DDBB4"/>
                  </a:solidFill>
                  <a:latin typeface="Consolas"/>
                </a:rPr>
                <a:t>DELIVERED</a:t>
              </a:r>
            </a:p>
          </p:txBody>
        </p:sp>
      </p:grpSp>
      <p:grpSp>
        <p:nvGrpSpPr>
          <p:cNvPr id="19" name="obj_4"/>
          <p:cNvGrpSpPr/>
          <p:nvPr/>
        </p:nvGrpSpPr>
        <p:grpSpPr>
          <a:xfrm>
            <a:off x="640080" y="4855464"/>
            <a:ext cx="10911535" cy="868680"/>
            <a:chOff x="640080" y="4855464"/>
            <a:chExt cx="10911535" cy="868680"/>
          </a:xfrm>
        </p:grpSpPr>
        <p:sp>
          <p:nvSpPr>
            <p:cNvPr id="20" name="obj_4_bg"/>
            <p:cNvSpPr/>
            <p:nvPr/>
          </p:nvSpPr>
          <p:spPr>
            <a:xfrm>
              <a:off x="640080" y="4855464"/>
              <a:ext cx="10911535" cy="868680"/>
            </a:xfrm>
            <a:prstGeom prst="roundRect">
              <a:avLst>
                <a:gd name="adj" fmla="val 12631"/>
              </a:avLst>
            </a:prstGeom>
            <a:solidFill>
              <a:srgbClr val="111823">
                <a:alpha val="88000"/>
              </a:srgbClr>
            </a:solidFill>
            <a:ln w="9525">
              <a:solidFill>
                <a:srgbClr val="243245"/>
              </a:solidFill>
            </a:ln>
          </p:spPr>
          <p:txBody>
            <a:bodyPr lIns="0" tIns="0" rIns="0" bIns="0" rtlCol="0" anchor="ctr"/>
            <a:lstStyle/>
            <a:p>
              <a:pPr algn="ctr"/>
              <a:endParaRPr/>
            </a:p>
          </p:txBody>
        </p:sp>
        <p:sp>
          <p:nvSpPr>
            <p:cNvPr id="21" name="TextBox 20"/>
            <p:cNvSpPr txBox="1"/>
            <p:nvPr/>
          </p:nvSpPr>
          <p:spPr>
            <a:xfrm>
              <a:off x="960120" y="4855464"/>
              <a:ext cx="548640" cy="868680"/>
            </a:xfrm>
            <a:prstGeom prst="rect">
              <a:avLst/>
            </a:prstGeom>
            <a:noFill/>
          </p:spPr>
          <p:txBody>
            <a:bodyPr wrap="square" lIns="0" tIns="0" rIns="0" bIns="0" anchor="ctr">
              <a:noAutofit/>
            </a:bodyPr>
            <a:lstStyle/>
            <a:p>
              <a:pPr algn="l">
                <a:spcAft>
                  <a:spcPts val="0"/>
                </a:spcAft>
              </a:pPr>
              <a:r>
                <a:rPr sz="1600" b="0" i="0">
                  <a:solidFill>
                    <a:srgbClr val="FFB547"/>
                  </a:solidFill>
                  <a:latin typeface="Consolas"/>
                </a:rPr>
                <a:t>04</a:t>
              </a:r>
            </a:p>
          </p:txBody>
        </p:sp>
        <p:sp>
          <p:nvSpPr>
            <p:cNvPr id="22" name="TextBox 21"/>
            <p:cNvSpPr txBox="1"/>
            <p:nvPr/>
          </p:nvSpPr>
          <p:spPr>
            <a:xfrm>
              <a:off x="1600200" y="4855464"/>
              <a:ext cx="7909560" cy="868680"/>
            </a:xfrm>
            <a:prstGeom prst="rect">
              <a:avLst/>
            </a:prstGeom>
            <a:noFill/>
          </p:spPr>
          <p:txBody>
            <a:bodyPr wrap="square" lIns="0" tIns="0" rIns="0" bIns="0" anchor="ctr">
              <a:noAutofit/>
            </a:bodyPr>
            <a:lstStyle/>
            <a:p>
              <a:pPr algn="l">
                <a:lnSpc>
                  <a:spcPct val="105000"/>
                </a:lnSpc>
                <a:spcAft>
                  <a:spcPts val="0"/>
                </a:spcAft>
              </a:pPr>
              <a:r>
                <a:rPr sz="1600" b="0" i="0">
                  <a:solidFill>
                    <a:srgbClr val="EAF0F6"/>
                  </a:solidFill>
                  <a:latin typeface="Segoe UI"/>
                </a:rPr>
                <a:t>Stretch goal: test whether news sentiment found by retrieval-augmented generation (RAG) makes the signals more robust.</a:t>
              </a:r>
            </a:p>
          </p:txBody>
        </p:sp>
        <p:sp>
          <p:nvSpPr>
            <p:cNvPr id="23" name="Rounded Rectangle 22"/>
            <p:cNvSpPr/>
            <p:nvPr/>
          </p:nvSpPr>
          <p:spPr>
            <a:xfrm>
              <a:off x="9692640" y="5120640"/>
              <a:ext cx="1600200" cy="338328"/>
            </a:xfrm>
            <a:prstGeom prst="roundRect">
              <a:avLst>
                <a:gd name="adj" fmla="val 48648"/>
              </a:avLst>
            </a:prstGeom>
            <a:solidFill>
              <a:srgbClr val="FFB547">
                <a:alpha val="12000"/>
              </a:srgbClr>
            </a:solidFill>
            <a:ln w="9525">
              <a:solidFill>
                <a:srgbClr val="FFB547">
                  <a:alpha val="80000"/>
                </a:srgbClr>
              </a:solidFill>
            </a:ln>
          </p:spPr>
          <p:txBody>
            <a:bodyPr wrap="square" lIns="0" tIns="0" rIns="0" bIns="0" rtlCol="0" anchor="ctr">
              <a:noAutofit/>
            </a:bodyPr>
            <a:lstStyle/>
            <a:p>
              <a:pPr algn="ctr">
                <a:spcAft>
                  <a:spcPts val="0"/>
                </a:spcAft>
              </a:pPr>
              <a:r>
                <a:rPr sz="1100" b="0" i="0" spc="100">
                  <a:solidFill>
                    <a:srgbClr val="FFB547"/>
                  </a:solidFill>
                  <a:latin typeface="Consolas"/>
                </a:rPr>
                <a:t>FUTURE WORK</a:t>
              </a:r>
            </a:p>
          </p:txBody>
        </p:sp>
      </p:grpSp>
      <p:sp>
        <p:nvSpPr>
          <p:cNvPr id="24" name="beyond"/>
          <p:cNvSpPr txBox="1"/>
          <p:nvPr/>
        </p:nvSpPr>
        <p:spPr>
          <a:xfrm>
            <a:off x="640080" y="5870448"/>
            <a:ext cx="10911535" cy="274320"/>
          </a:xfrm>
          <a:prstGeom prst="rect">
            <a:avLst/>
          </a:prstGeom>
          <a:noFill/>
        </p:spPr>
        <p:txBody>
          <a:bodyPr wrap="square" lIns="0" tIns="0" rIns="0" bIns="0" anchor="t">
            <a:noAutofit/>
          </a:bodyPr>
          <a:lstStyle/>
          <a:p>
            <a:pPr algn="l">
              <a:spcAft>
                <a:spcPts val="0"/>
              </a:spcAft>
            </a:pPr>
            <a:r>
              <a:rPr sz="1000" b="0" i="0">
                <a:solidFill>
                  <a:srgbClr val="FFB547"/>
                </a:solidFill>
                <a:latin typeface="Consolas"/>
              </a:rPr>
              <a:t>BEYOND THE SYNOPSIS   </a:t>
            </a:r>
            <a:r>
              <a:rPr sz="1200" b="0" i="0">
                <a:solidFill>
                  <a:srgbClr val="8291A2"/>
                </a:solidFill>
                <a:latin typeface="Segoe UI"/>
              </a:rPr>
              <a:t>Logistic Regression · Random Forest · soft-vote ensemble · walk-forward evaluation · bootstrap CIs · live dashboard</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2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anim calcmode="lin" valueType="num">
                                      <p:cBhvr>
                                        <p:cTn id="13" dur="500" fill="hold"/>
                                        <p:tgtEl>
                                          <p:spTgt spid="9"/>
                                        </p:tgtEl>
                                        <p:attrNameLst>
                                          <p:attrName>ppt_x</p:attrName>
                                        </p:attrNameLst>
                                      </p:cBhvr>
                                      <p:tavLst>
                                        <p:tav tm="0">
                                          <p:val>
                                            <p:strVal val="#ppt_x"/>
                                          </p:val>
                                        </p:tav>
                                        <p:tav tm="100000">
                                          <p:val>
                                            <p:strVal val="#ppt_x"/>
                                          </p:val>
                                        </p:tav>
                                      </p:tavLst>
                                    </p:anim>
                                    <p:anim calcmode="lin" valueType="num">
                                      <p:cBhvr>
                                        <p:cTn id="14" dur="5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4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anim calcmode="lin" valueType="num">
                                      <p:cBhvr>
                                        <p:cTn id="18" dur="500" fill="hold"/>
                                        <p:tgtEl>
                                          <p:spTgt spid="14"/>
                                        </p:tgtEl>
                                        <p:attrNameLst>
                                          <p:attrName>ppt_x</p:attrName>
                                        </p:attrNameLst>
                                      </p:cBhvr>
                                      <p:tavLst>
                                        <p:tav tm="0">
                                          <p:val>
                                            <p:strVal val="#ppt_x"/>
                                          </p:val>
                                        </p:tav>
                                        <p:tav tm="100000">
                                          <p:val>
                                            <p:strVal val="#ppt_x"/>
                                          </p:val>
                                        </p:tav>
                                      </p:tavLst>
                                    </p:anim>
                                    <p:anim calcmode="lin" valueType="num">
                                      <p:cBhvr>
                                        <p:cTn id="19" dur="50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6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anim calcmode="lin" valueType="num">
                                      <p:cBhvr>
                                        <p:cTn id="23" dur="500" fill="hold"/>
                                        <p:tgtEl>
                                          <p:spTgt spid="19"/>
                                        </p:tgtEl>
                                        <p:attrNameLst>
                                          <p:attrName>ppt_x</p:attrName>
                                        </p:attrNameLst>
                                      </p:cBhvr>
                                      <p:tavLst>
                                        <p:tav tm="0">
                                          <p:val>
                                            <p:strVal val="#ppt_x"/>
                                          </p:val>
                                        </p:tav>
                                        <p:tav tm="100000">
                                          <p:val>
                                            <p:strVal val="#ppt_x"/>
                                          </p:val>
                                        </p:tav>
                                      </p:tavLst>
                                    </p:anim>
                                    <p:anim calcmode="lin" valueType="num">
                                      <p:cBhvr>
                                        <p:cTn id="24" dur="500" fill="hold"/>
                                        <p:tgtEl>
                                          <p:spTgt spid="19"/>
                                        </p:tgtEl>
                                        <p:attrNameLst>
                                          <p:attrName>ppt_y</p:attrName>
                                        </p:attrNameLst>
                                      </p:cBhvr>
                                      <p:tavLst>
                                        <p:tav tm="0">
                                          <p:val>
                                            <p:strVal val="#ppt_y+.1"/>
                                          </p:val>
                                        </p:tav>
                                        <p:tav tm="100000">
                                          <p:val>
                                            <p:strVal val="#ppt_y"/>
                                          </p:val>
                                        </p:tav>
                                      </p:tavLst>
                                    </p:anim>
                                  </p:childTnLst>
                                </p:cTn>
                              </p:par>
                            </p:childTnLst>
                          </p:cTn>
                        </p:par>
                        <p:par>
                          <p:cTn id="25" fill="hold">
                            <p:stCondLst>
                              <p:cond delay="860"/>
                            </p:stCondLst>
                            <p:childTnLst>
                              <p:par>
                                <p:cTn id="26" presetID="10" presetClass="entr" presetSubtype="0" fill="hold" grpId="0" nodeType="after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A leakage-safe, cost-aware comparison framework</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04 · OUR SOLUTION</a:t>
            </a:r>
          </a:p>
        </p:txBody>
      </p:sp>
      <p:grpSp>
        <p:nvGrpSpPr>
          <p:cNvPr id="4" name="sol_trap_1"/>
          <p:cNvGrpSpPr/>
          <p:nvPr/>
        </p:nvGrpSpPr>
        <p:grpSpPr>
          <a:xfrm>
            <a:off x="640080" y="1783080"/>
            <a:ext cx="2880360" cy="804672"/>
            <a:chOff x="640080" y="1783080"/>
            <a:chExt cx="2880360" cy="804672"/>
          </a:xfrm>
        </p:grpSpPr>
        <p:sp>
          <p:nvSpPr>
            <p:cNvPr id="5" name="sol_trap_1_bg"/>
            <p:cNvSpPr/>
            <p:nvPr/>
          </p:nvSpPr>
          <p:spPr>
            <a:xfrm>
              <a:off x="640080" y="1783080"/>
              <a:ext cx="2880360" cy="804672"/>
            </a:xfrm>
            <a:prstGeom prst="roundRect">
              <a:avLst>
                <a:gd name="adj" fmla="val 13636"/>
              </a:avLst>
            </a:prstGeom>
            <a:solidFill>
              <a:srgbClr val="172231">
                <a:alpha val="88000"/>
              </a:srgbClr>
            </a:solidFill>
            <a:ln w="9525">
              <a:solidFill>
                <a:srgbClr val="243245"/>
              </a:solidFill>
            </a:ln>
          </p:spPr>
          <p:txBody>
            <a:bodyPr lIns="0" tIns="0" rIns="0" bIns="0" rtlCol="0" anchor="ctr"/>
            <a:lstStyle/>
            <a:p>
              <a:pPr algn="ctr"/>
              <a:endParaRPr/>
            </a:p>
          </p:txBody>
        </p:sp>
        <p:sp>
          <p:nvSpPr>
            <p:cNvPr id="6" name="TextBox 5"/>
            <p:cNvSpPr txBox="1"/>
            <p:nvPr/>
          </p:nvSpPr>
          <p:spPr>
            <a:xfrm>
              <a:off x="914400" y="1783080"/>
              <a:ext cx="2468880" cy="804672"/>
            </a:xfrm>
            <a:prstGeom prst="rect">
              <a:avLst/>
            </a:prstGeom>
            <a:noFill/>
          </p:spPr>
          <p:txBody>
            <a:bodyPr wrap="square" lIns="0" tIns="0" rIns="0" bIns="0" anchor="ctr">
              <a:noAutofit/>
            </a:bodyPr>
            <a:lstStyle/>
            <a:p>
              <a:pPr algn="l">
                <a:spcAft>
                  <a:spcPts val="0"/>
                </a:spcAft>
              </a:pPr>
              <a:r>
                <a:rPr sz="1200" b="0" i="0">
                  <a:solidFill>
                    <a:srgbClr val="FFB547"/>
                  </a:solidFill>
                  <a:latin typeface="Consolas"/>
                </a:rPr>
                <a:t>01  </a:t>
              </a:r>
              <a:r>
                <a:rPr sz="1500" b="0" i="0">
                  <a:solidFill>
                    <a:srgbClr val="AAB6C3"/>
                  </a:solidFill>
                  <a:latin typeface="Segoe UI"/>
                </a:rPr>
                <a:t>Look-ahead bias</a:t>
              </a:r>
            </a:p>
          </p:txBody>
        </p:sp>
      </p:grpSp>
      <p:cxnSp>
        <p:nvCxnSpPr>
          <p:cNvPr id="7" name="sol_arrow_1"/>
          <p:cNvCxnSpPr/>
          <p:nvPr/>
        </p:nvCxnSpPr>
        <p:spPr>
          <a:xfrm>
            <a:off x="3639312" y="2185416"/>
            <a:ext cx="521208" cy="0"/>
          </a:xfrm>
          <a:prstGeom prst="line">
            <a:avLst/>
          </a:prstGeom>
          <a:ln w="19050">
            <a:solidFill>
              <a:srgbClr val="FFB547"/>
            </a:solidFill>
            <a:tailEnd type="triangle" w="med" len="med"/>
          </a:ln>
        </p:spPr>
      </p:cxnSp>
      <p:grpSp>
        <p:nvGrpSpPr>
          <p:cNvPr id="8" name="sol_fix_1"/>
          <p:cNvGrpSpPr/>
          <p:nvPr/>
        </p:nvGrpSpPr>
        <p:grpSpPr>
          <a:xfrm>
            <a:off x="4251960" y="1783080"/>
            <a:ext cx="7299655" cy="804672"/>
            <a:chOff x="4251960" y="1783080"/>
            <a:chExt cx="7299655" cy="804672"/>
          </a:xfrm>
        </p:grpSpPr>
        <p:sp>
          <p:nvSpPr>
            <p:cNvPr id="9" name="sol_fix_1_bg"/>
            <p:cNvSpPr/>
            <p:nvPr/>
          </p:nvSpPr>
          <p:spPr>
            <a:xfrm>
              <a:off x="4251960" y="1783080"/>
              <a:ext cx="7299655" cy="804672"/>
            </a:xfrm>
            <a:prstGeom prst="roundRect">
              <a:avLst>
                <a:gd name="adj" fmla="val 13636"/>
              </a:avLst>
            </a:prstGeom>
            <a:solidFill>
              <a:srgbClr val="111823">
                <a:alpha val="88000"/>
              </a:srgbClr>
            </a:solidFill>
            <a:ln w="12700">
              <a:solidFill>
                <a:srgbClr val="FFB547">
                  <a:alpha val="75000"/>
                </a:srgbClr>
              </a:solidFill>
            </a:ln>
          </p:spPr>
          <p:txBody>
            <a:bodyPr lIns="0" tIns="0" rIns="0" bIns="0" rtlCol="0" anchor="ctr"/>
            <a:lstStyle/>
            <a:p>
              <a:pPr algn="ctr"/>
              <a:endParaRPr/>
            </a:p>
          </p:txBody>
        </p:sp>
        <p:sp>
          <p:nvSpPr>
            <p:cNvPr id="10" name="TextBox 9"/>
            <p:cNvSpPr txBox="1"/>
            <p:nvPr/>
          </p:nvSpPr>
          <p:spPr>
            <a:xfrm>
              <a:off x="4526280" y="1783080"/>
              <a:ext cx="6766560" cy="804672"/>
            </a:xfrm>
            <a:prstGeom prst="rect">
              <a:avLst/>
            </a:prstGeom>
            <a:noFill/>
          </p:spPr>
          <p:txBody>
            <a:bodyPr wrap="square" lIns="0" tIns="0" rIns="0" bIns="0" anchor="ctr">
              <a:noAutofit/>
            </a:bodyPr>
            <a:lstStyle/>
            <a:p>
              <a:pPr algn="l">
                <a:lnSpc>
                  <a:spcPct val="105000"/>
                </a:lnSpc>
                <a:spcAft>
                  <a:spcPts val="0"/>
                </a:spcAft>
              </a:pPr>
              <a:r>
                <a:rPr sz="1500" b="0" i="0">
                  <a:solidFill>
                    <a:srgbClr val="EAF0F6"/>
                  </a:solidFill>
                  <a:latin typeface="Segoe UI Semibold"/>
                </a:rPr>
                <a:t>Point-in-time features. </a:t>
              </a:r>
              <a:r>
                <a:rPr sz="1500" b="0" i="0">
                  <a:solidFill>
                    <a:srgbClr val="AAB6C3"/>
                  </a:solidFill>
                  <a:latin typeface="Segoe UI"/>
                </a:rPr>
                <a:t>Scale-invariant ratios only; tests recompute them on truncated data and require identical values.</a:t>
              </a:r>
            </a:p>
          </p:txBody>
        </p:sp>
      </p:grpSp>
      <p:grpSp>
        <p:nvGrpSpPr>
          <p:cNvPr id="11" name="sol_trap_2"/>
          <p:cNvGrpSpPr/>
          <p:nvPr/>
        </p:nvGrpSpPr>
        <p:grpSpPr>
          <a:xfrm>
            <a:off x="640080" y="2807208"/>
            <a:ext cx="2880360" cy="804672"/>
            <a:chOff x="640080" y="2807208"/>
            <a:chExt cx="2880360" cy="804672"/>
          </a:xfrm>
        </p:grpSpPr>
        <p:sp>
          <p:nvSpPr>
            <p:cNvPr id="12" name="sol_trap_2_bg"/>
            <p:cNvSpPr/>
            <p:nvPr/>
          </p:nvSpPr>
          <p:spPr>
            <a:xfrm>
              <a:off x="640080" y="2807208"/>
              <a:ext cx="2880360" cy="804672"/>
            </a:xfrm>
            <a:prstGeom prst="roundRect">
              <a:avLst>
                <a:gd name="adj" fmla="val 13636"/>
              </a:avLst>
            </a:prstGeom>
            <a:solidFill>
              <a:srgbClr val="172231">
                <a:alpha val="88000"/>
              </a:srgbClr>
            </a:solidFill>
            <a:ln w="9525">
              <a:solidFill>
                <a:srgbClr val="243245"/>
              </a:solidFill>
            </a:ln>
          </p:spPr>
          <p:txBody>
            <a:bodyPr lIns="0" tIns="0" rIns="0" bIns="0" rtlCol="0" anchor="ctr"/>
            <a:lstStyle/>
            <a:p>
              <a:pPr algn="ctr"/>
              <a:endParaRPr/>
            </a:p>
          </p:txBody>
        </p:sp>
        <p:sp>
          <p:nvSpPr>
            <p:cNvPr id="13" name="TextBox 12"/>
            <p:cNvSpPr txBox="1"/>
            <p:nvPr/>
          </p:nvSpPr>
          <p:spPr>
            <a:xfrm>
              <a:off x="914400" y="2807208"/>
              <a:ext cx="2468880" cy="804672"/>
            </a:xfrm>
            <a:prstGeom prst="rect">
              <a:avLst/>
            </a:prstGeom>
            <a:noFill/>
          </p:spPr>
          <p:txBody>
            <a:bodyPr wrap="square" lIns="0" tIns="0" rIns="0" bIns="0" anchor="ctr">
              <a:noAutofit/>
            </a:bodyPr>
            <a:lstStyle/>
            <a:p>
              <a:pPr algn="l">
                <a:spcAft>
                  <a:spcPts val="0"/>
                </a:spcAft>
              </a:pPr>
              <a:r>
                <a:rPr sz="1200" b="0" i="0">
                  <a:solidFill>
                    <a:srgbClr val="FFB547"/>
                  </a:solidFill>
                  <a:latin typeface="Consolas"/>
                </a:rPr>
                <a:t>02  </a:t>
              </a:r>
              <a:r>
                <a:rPr sz="1500" b="0" i="0">
                  <a:solidFill>
                    <a:srgbClr val="AAB6C3"/>
                  </a:solidFill>
                  <a:latin typeface="Segoe UI"/>
                </a:rPr>
                <a:t>Leaky validation</a:t>
              </a:r>
            </a:p>
          </p:txBody>
        </p:sp>
      </p:grpSp>
      <p:cxnSp>
        <p:nvCxnSpPr>
          <p:cNvPr id="14" name="sol_arrow_2"/>
          <p:cNvCxnSpPr/>
          <p:nvPr/>
        </p:nvCxnSpPr>
        <p:spPr>
          <a:xfrm>
            <a:off x="3639312" y="3209544"/>
            <a:ext cx="521208" cy="0"/>
          </a:xfrm>
          <a:prstGeom prst="line">
            <a:avLst/>
          </a:prstGeom>
          <a:ln w="19050">
            <a:solidFill>
              <a:srgbClr val="FFB547"/>
            </a:solidFill>
            <a:tailEnd type="triangle" w="med" len="med"/>
          </a:ln>
        </p:spPr>
      </p:cxnSp>
      <p:grpSp>
        <p:nvGrpSpPr>
          <p:cNvPr id="15" name="sol_fix_2"/>
          <p:cNvGrpSpPr/>
          <p:nvPr/>
        </p:nvGrpSpPr>
        <p:grpSpPr>
          <a:xfrm>
            <a:off x="4251960" y="2807208"/>
            <a:ext cx="7299655" cy="804672"/>
            <a:chOff x="4251960" y="2807208"/>
            <a:chExt cx="7299655" cy="804672"/>
          </a:xfrm>
        </p:grpSpPr>
        <p:sp>
          <p:nvSpPr>
            <p:cNvPr id="16" name="sol_fix_2_bg"/>
            <p:cNvSpPr/>
            <p:nvPr/>
          </p:nvSpPr>
          <p:spPr>
            <a:xfrm>
              <a:off x="4251960" y="2807208"/>
              <a:ext cx="7299655" cy="804672"/>
            </a:xfrm>
            <a:prstGeom prst="roundRect">
              <a:avLst>
                <a:gd name="adj" fmla="val 13636"/>
              </a:avLst>
            </a:prstGeom>
            <a:solidFill>
              <a:srgbClr val="111823">
                <a:alpha val="88000"/>
              </a:srgbClr>
            </a:solidFill>
            <a:ln w="12700">
              <a:solidFill>
                <a:srgbClr val="FFB547">
                  <a:alpha val="75000"/>
                </a:srgbClr>
              </a:solidFill>
            </a:ln>
          </p:spPr>
          <p:txBody>
            <a:bodyPr lIns="0" tIns="0" rIns="0" bIns="0" rtlCol="0" anchor="ctr"/>
            <a:lstStyle/>
            <a:p>
              <a:pPr algn="ctr"/>
              <a:endParaRPr/>
            </a:p>
          </p:txBody>
        </p:sp>
        <p:sp>
          <p:nvSpPr>
            <p:cNvPr id="17" name="TextBox 16"/>
            <p:cNvSpPr txBox="1"/>
            <p:nvPr/>
          </p:nvSpPr>
          <p:spPr>
            <a:xfrm>
              <a:off x="4526280" y="2807208"/>
              <a:ext cx="6766560" cy="804672"/>
            </a:xfrm>
            <a:prstGeom prst="rect">
              <a:avLst/>
            </a:prstGeom>
            <a:noFill/>
          </p:spPr>
          <p:txBody>
            <a:bodyPr wrap="square" lIns="0" tIns="0" rIns="0" bIns="0" anchor="ctr">
              <a:noAutofit/>
            </a:bodyPr>
            <a:lstStyle/>
            <a:p>
              <a:pPr algn="l">
                <a:lnSpc>
                  <a:spcPct val="105000"/>
                </a:lnSpc>
                <a:spcAft>
                  <a:spcPts val="0"/>
                </a:spcAft>
              </a:pPr>
              <a:r>
                <a:rPr sz="1500" b="0" i="0">
                  <a:solidFill>
                    <a:srgbClr val="EAF0F6"/>
                  </a:solidFill>
                  <a:latin typeface="Segoe UI Semibold"/>
                </a:rPr>
                <a:t>Chronological splits. </a:t>
              </a:r>
              <a:r>
                <a:rPr sz="1500" b="0" i="0">
                  <a:solidFill>
                    <a:srgbClr val="AAB6C3"/>
                  </a:solidFill>
                  <a:latin typeface="Segoe UI"/>
                </a:rPr>
                <a:t>Train → validation → test with a 2-day purge; purged CV for the tabular models, a purged hold-out slice for the LSTM.</a:t>
              </a:r>
            </a:p>
          </p:txBody>
        </p:sp>
      </p:grpSp>
      <p:grpSp>
        <p:nvGrpSpPr>
          <p:cNvPr id="18" name="sol_trap_3"/>
          <p:cNvGrpSpPr/>
          <p:nvPr/>
        </p:nvGrpSpPr>
        <p:grpSpPr>
          <a:xfrm>
            <a:off x="640080" y="3831336"/>
            <a:ext cx="2880360" cy="804672"/>
            <a:chOff x="640080" y="3831336"/>
            <a:chExt cx="2880360" cy="804672"/>
          </a:xfrm>
        </p:grpSpPr>
        <p:sp>
          <p:nvSpPr>
            <p:cNvPr id="19" name="sol_trap_3_bg"/>
            <p:cNvSpPr/>
            <p:nvPr/>
          </p:nvSpPr>
          <p:spPr>
            <a:xfrm>
              <a:off x="640080" y="3831336"/>
              <a:ext cx="2880360" cy="804672"/>
            </a:xfrm>
            <a:prstGeom prst="roundRect">
              <a:avLst>
                <a:gd name="adj" fmla="val 13636"/>
              </a:avLst>
            </a:prstGeom>
            <a:solidFill>
              <a:srgbClr val="172231">
                <a:alpha val="88000"/>
              </a:srgbClr>
            </a:solidFill>
            <a:ln w="9525">
              <a:solidFill>
                <a:srgbClr val="243245"/>
              </a:solidFill>
            </a:ln>
          </p:spPr>
          <p:txBody>
            <a:bodyPr lIns="0" tIns="0" rIns="0" bIns="0" rtlCol="0" anchor="ctr"/>
            <a:lstStyle/>
            <a:p>
              <a:pPr algn="ctr"/>
              <a:endParaRPr/>
            </a:p>
          </p:txBody>
        </p:sp>
        <p:sp>
          <p:nvSpPr>
            <p:cNvPr id="20" name="TextBox 19"/>
            <p:cNvSpPr txBox="1"/>
            <p:nvPr/>
          </p:nvSpPr>
          <p:spPr>
            <a:xfrm>
              <a:off x="914400" y="3831336"/>
              <a:ext cx="2468880" cy="804672"/>
            </a:xfrm>
            <a:prstGeom prst="rect">
              <a:avLst/>
            </a:prstGeom>
            <a:noFill/>
          </p:spPr>
          <p:txBody>
            <a:bodyPr wrap="square" lIns="0" tIns="0" rIns="0" bIns="0" anchor="ctr">
              <a:noAutofit/>
            </a:bodyPr>
            <a:lstStyle/>
            <a:p>
              <a:pPr algn="l">
                <a:spcAft>
                  <a:spcPts val="0"/>
                </a:spcAft>
              </a:pPr>
              <a:r>
                <a:rPr sz="1200" b="0" i="0">
                  <a:solidFill>
                    <a:srgbClr val="FFB547"/>
                  </a:solidFill>
                  <a:latin typeface="Consolas"/>
                </a:rPr>
                <a:t>03  </a:t>
              </a:r>
              <a:r>
                <a:rPr sz="1500" b="0" i="0">
                  <a:solidFill>
                    <a:srgbClr val="AAB6C3"/>
                  </a:solidFill>
                  <a:latin typeface="Segoe UI"/>
                </a:rPr>
                <a:t>Free trading</a:t>
              </a:r>
            </a:p>
          </p:txBody>
        </p:sp>
      </p:grpSp>
      <p:cxnSp>
        <p:nvCxnSpPr>
          <p:cNvPr id="21" name="sol_arrow_3"/>
          <p:cNvCxnSpPr/>
          <p:nvPr/>
        </p:nvCxnSpPr>
        <p:spPr>
          <a:xfrm>
            <a:off x="3639312" y="4233672"/>
            <a:ext cx="521208" cy="0"/>
          </a:xfrm>
          <a:prstGeom prst="line">
            <a:avLst/>
          </a:prstGeom>
          <a:ln w="19050">
            <a:solidFill>
              <a:srgbClr val="FFB547"/>
            </a:solidFill>
            <a:tailEnd type="triangle" w="med" len="med"/>
          </a:ln>
        </p:spPr>
      </p:cxnSp>
      <p:grpSp>
        <p:nvGrpSpPr>
          <p:cNvPr id="22" name="sol_fix_3"/>
          <p:cNvGrpSpPr/>
          <p:nvPr/>
        </p:nvGrpSpPr>
        <p:grpSpPr>
          <a:xfrm>
            <a:off x="4251960" y="3831336"/>
            <a:ext cx="7299655" cy="804672"/>
            <a:chOff x="4251960" y="3831336"/>
            <a:chExt cx="7299655" cy="804672"/>
          </a:xfrm>
        </p:grpSpPr>
        <p:sp>
          <p:nvSpPr>
            <p:cNvPr id="23" name="sol_fix_3_bg"/>
            <p:cNvSpPr/>
            <p:nvPr/>
          </p:nvSpPr>
          <p:spPr>
            <a:xfrm>
              <a:off x="4251960" y="3831336"/>
              <a:ext cx="7299655" cy="804672"/>
            </a:xfrm>
            <a:prstGeom prst="roundRect">
              <a:avLst>
                <a:gd name="adj" fmla="val 13636"/>
              </a:avLst>
            </a:prstGeom>
            <a:solidFill>
              <a:srgbClr val="111823">
                <a:alpha val="88000"/>
              </a:srgbClr>
            </a:solidFill>
            <a:ln w="12700">
              <a:solidFill>
                <a:srgbClr val="FFB547">
                  <a:alpha val="75000"/>
                </a:srgbClr>
              </a:solidFill>
            </a:ln>
          </p:spPr>
          <p:txBody>
            <a:bodyPr lIns="0" tIns="0" rIns="0" bIns="0" rtlCol="0" anchor="ctr"/>
            <a:lstStyle/>
            <a:p>
              <a:pPr algn="ctr"/>
              <a:endParaRPr/>
            </a:p>
          </p:txBody>
        </p:sp>
        <p:sp>
          <p:nvSpPr>
            <p:cNvPr id="24" name="TextBox 23"/>
            <p:cNvSpPr txBox="1"/>
            <p:nvPr/>
          </p:nvSpPr>
          <p:spPr>
            <a:xfrm>
              <a:off x="4526280" y="3831336"/>
              <a:ext cx="6766560" cy="804672"/>
            </a:xfrm>
            <a:prstGeom prst="rect">
              <a:avLst/>
            </a:prstGeom>
            <a:noFill/>
          </p:spPr>
          <p:txBody>
            <a:bodyPr wrap="square" lIns="0" tIns="0" rIns="0" bIns="0" anchor="ctr">
              <a:noAutofit/>
            </a:bodyPr>
            <a:lstStyle/>
            <a:p>
              <a:pPr algn="l">
                <a:lnSpc>
                  <a:spcPct val="105000"/>
                </a:lnSpc>
                <a:spcAft>
                  <a:spcPts val="0"/>
                </a:spcAft>
              </a:pPr>
              <a:r>
                <a:rPr sz="1500" b="0" i="0">
                  <a:solidFill>
                    <a:srgbClr val="EAF0F6"/>
                  </a:solidFill>
                  <a:latin typeface="Segoe UI Semibold"/>
                </a:rPr>
                <a:t>Realistic execution. </a:t>
              </a:r>
              <a:r>
                <a:rPr sz="1500" b="0" i="0">
                  <a:solidFill>
                    <a:srgbClr val="AAB6C3"/>
                  </a:solidFill>
                  <a:latin typeface="Segoe UI"/>
                </a:rPr>
                <a:t>Decide at the close, fill at the next open, and pay 15 bps (10 fee + 5 slippage) on every unit of turnover.</a:t>
              </a:r>
            </a:p>
          </p:txBody>
        </p:sp>
      </p:grpSp>
      <p:grpSp>
        <p:nvGrpSpPr>
          <p:cNvPr id="25" name="sol_trap_4"/>
          <p:cNvGrpSpPr/>
          <p:nvPr/>
        </p:nvGrpSpPr>
        <p:grpSpPr>
          <a:xfrm>
            <a:off x="640080" y="4855464"/>
            <a:ext cx="2880360" cy="804672"/>
            <a:chOff x="640080" y="4855464"/>
            <a:chExt cx="2880360" cy="804672"/>
          </a:xfrm>
        </p:grpSpPr>
        <p:sp>
          <p:nvSpPr>
            <p:cNvPr id="26" name="sol_trap_4_bg"/>
            <p:cNvSpPr/>
            <p:nvPr/>
          </p:nvSpPr>
          <p:spPr>
            <a:xfrm>
              <a:off x="640080" y="4855464"/>
              <a:ext cx="2880360" cy="804672"/>
            </a:xfrm>
            <a:prstGeom prst="roundRect">
              <a:avLst>
                <a:gd name="adj" fmla="val 13636"/>
              </a:avLst>
            </a:prstGeom>
            <a:solidFill>
              <a:srgbClr val="172231">
                <a:alpha val="88000"/>
              </a:srgbClr>
            </a:solidFill>
            <a:ln w="9525">
              <a:solidFill>
                <a:srgbClr val="243245"/>
              </a:solidFill>
            </a:ln>
          </p:spPr>
          <p:txBody>
            <a:bodyPr lIns="0" tIns="0" rIns="0" bIns="0" rtlCol="0" anchor="ctr"/>
            <a:lstStyle/>
            <a:p>
              <a:pPr algn="ctr"/>
              <a:endParaRPr/>
            </a:p>
          </p:txBody>
        </p:sp>
        <p:sp>
          <p:nvSpPr>
            <p:cNvPr id="27" name="TextBox 26"/>
            <p:cNvSpPr txBox="1"/>
            <p:nvPr/>
          </p:nvSpPr>
          <p:spPr>
            <a:xfrm>
              <a:off x="914400" y="4855464"/>
              <a:ext cx="2468880" cy="804672"/>
            </a:xfrm>
            <a:prstGeom prst="rect">
              <a:avLst/>
            </a:prstGeom>
            <a:noFill/>
          </p:spPr>
          <p:txBody>
            <a:bodyPr wrap="square" lIns="0" tIns="0" rIns="0" bIns="0" anchor="ctr">
              <a:noAutofit/>
            </a:bodyPr>
            <a:lstStyle/>
            <a:p>
              <a:pPr algn="l">
                <a:spcAft>
                  <a:spcPts val="0"/>
                </a:spcAft>
              </a:pPr>
              <a:r>
                <a:rPr sz="1200" b="0" i="0">
                  <a:solidFill>
                    <a:srgbClr val="FFB547"/>
                  </a:solidFill>
                  <a:latin typeface="Consolas"/>
                </a:rPr>
                <a:t>04  </a:t>
              </a:r>
              <a:r>
                <a:rPr sz="1500" b="0" i="0">
                  <a:solidFill>
                    <a:srgbClr val="AAB6C3"/>
                  </a:solidFill>
                  <a:latin typeface="Segoe UI"/>
                </a:rPr>
                <a:t>Weak baselines</a:t>
              </a:r>
            </a:p>
          </p:txBody>
        </p:sp>
      </p:grpSp>
      <p:cxnSp>
        <p:nvCxnSpPr>
          <p:cNvPr id="28" name="sol_arrow_4"/>
          <p:cNvCxnSpPr/>
          <p:nvPr/>
        </p:nvCxnSpPr>
        <p:spPr>
          <a:xfrm>
            <a:off x="3639312" y="5257800"/>
            <a:ext cx="521208" cy="0"/>
          </a:xfrm>
          <a:prstGeom prst="line">
            <a:avLst/>
          </a:prstGeom>
          <a:ln w="19050">
            <a:solidFill>
              <a:srgbClr val="FFB547"/>
            </a:solidFill>
            <a:tailEnd type="triangle" w="med" len="med"/>
          </a:ln>
        </p:spPr>
      </p:cxnSp>
      <p:grpSp>
        <p:nvGrpSpPr>
          <p:cNvPr id="29" name="sol_fix_4"/>
          <p:cNvGrpSpPr/>
          <p:nvPr/>
        </p:nvGrpSpPr>
        <p:grpSpPr>
          <a:xfrm>
            <a:off x="4251960" y="4855464"/>
            <a:ext cx="7299655" cy="804672"/>
            <a:chOff x="4251960" y="4855464"/>
            <a:chExt cx="7299655" cy="804672"/>
          </a:xfrm>
        </p:grpSpPr>
        <p:sp>
          <p:nvSpPr>
            <p:cNvPr id="30" name="sol_fix_4_bg"/>
            <p:cNvSpPr/>
            <p:nvPr/>
          </p:nvSpPr>
          <p:spPr>
            <a:xfrm>
              <a:off x="4251960" y="4855464"/>
              <a:ext cx="7299655" cy="804672"/>
            </a:xfrm>
            <a:prstGeom prst="roundRect">
              <a:avLst>
                <a:gd name="adj" fmla="val 13636"/>
              </a:avLst>
            </a:prstGeom>
            <a:solidFill>
              <a:srgbClr val="111823">
                <a:alpha val="88000"/>
              </a:srgbClr>
            </a:solidFill>
            <a:ln w="12700">
              <a:solidFill>
                <a:srgbClr val="FFB547">
                  <a:alpha val="75000"/>
                </a:srgbClr>
              </a:solidFill>
            </a:ln>
          </p:spPr>
          <p:txBody>
            <a:bodyPr lIns="0" tIns="0" rIns="0" bIns="0" rtlCol="0" anchor="ctr"/>
            <a:lstStyle/>
            <a:p>
              <a:pPr algn="ctr"/>
              <a:endParaRPr/>
            </a:p>
          </p:txBody>
        </p:sp>
        <p:sp>
          <p:nvSpPr>
            <p:cNvPr id="31" name="TextBox 30"/>
            <p:cNvSpPr txBox="1"/>
            <p:nvPr/>
          </p:nvSpPr>
          <p:spPr>
            <a:xfrm>
              <a:off x="4526280" y="4855464"/>
              <a:ext cx="6766560" cy="804672"/>
            </a:xfrm>
            <a:prstGeom prst="rect">
              <a:avLst/>
            </a:prstGeom>
            <a:noFill/>
          </p:spPr>
          <p:txBody>
            <a:bodyPr wrap="square" lIns="0" tIns="0" rIns="0" bIns="0" anchor="ctr">
              <a:noAutofit/>
            </a:bodyPr>
            <a:lstStyle/>
            <a:p>
              <a:pPr algn="l">
                <a:lnSpc>
                  <a:spcPct val="105000"/>
                </a:lnSpc>
                <a:spcAft>
                  <a:spcPts val="0"/>
                </a:spcAft>
              </a:pPr>
              <a:r>
                <a:rPr sz="1500" b="0" i="0">
                  <a:solidFill>
                    <a:srgbClr val="EAF0F6"/>
                  </a:solidFill>
                  <a:latin typeface="Segoe UI Semibold"/>
                </a:rPr>
                <a:t>Baselines and intervals. </a:t>
              </a:r>
              <a:r>
                <a:rPr sz="1500" b="0" i="0">
                  <a:solidFill>
                    <a:srgbClr val="AAB6C3"/>
                  </a:solidFill>
                  <a:latin typeface="Segoe UI"/>
                </a:rPr>
                <a:t>Majority class, persistence, MA crossover and buy-and-hold, with block-bootstrap 95% CIs.</a:t>
              </a:r>
            </a:p>
          </p:txBody>
        </p:sp>
      </p:grpSp>
      <p:sp>
        <p:nvSpPr>
          <p:cNvPr id="32" name="bottom"/>
          <p:cNvSpPr txBox="1"/>
          <p:nvPr/>
        </p:nvSpPr>
        <p:spPr>
          <a:xfrm>
            <a:off x="640080" y="5852160"/>
            <a:ext cx="10911535" cy="320040"/>
          </a:xfrm>
          <a:prstGeom prst="rect">
            <a:avLst/>
          </a:prstGeom>
          <a:noFill/>
        </p:spPr>
        <p:txBody>
          <a:bodyPr wrap="square" lIns="0" tIns="0" rIns="0" bIns="0" anchor="t">
            <a:noAutofit/>
          </a:bodyPr>
          <a:lstStyle/>
          <a:p>
            <a:pPr algn="l">
              <a:spcAft>
                <a:spcPts val="0"/>
              </a:spcAft>
            </a:pPr>
            <a:r>
              <a:rPr sz="1400" b="0" i="0">
                <a:solidFill>
                  <a:srgbClr val="8291A2"/>
                </a:solidFill>
                <a:latin typeface="Segoe UI"/>
              </a:rPr>
              <a:t>Every main result uses all four safeguards; sensitivity runs relax one at a time and are labelled.</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1"/>
                                          </p:val>
                                        </p:tav>
                                        <p:tav tm="100000">
                                          <p:val>
                                            <p:strVal val="#ppt_y"/>
                                          </p:val>
                                        </p:tav>
                                      </p:tavLst>
                                    </p:anim>
                                  </p:childTnLst>
                                </p:cTn>
                              </p:par>
                              <p:par>
                                <p:cTn id="10" presetID="22" presetClass="entr" presetSubtype="8" fill="hold" nodeType="withEffect">
                                  <p:stCondLst>
                                    <p:cond delay="15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350"/>
                                        <p:tgtEl>
                                          <p:spTgt spid="7"/>
                                        </p:tgtEl>
                                      </p:cBhvr>
                                    </p:animEffect>
                                  </p:childTnLst>
                                </p:cTn>
                              </p:par>
                              <p:par>
                                <p:cTn id="13" presetID="42" presetClass="entr" presetSubtype="0" fill="hold" nodeType="withEffect">
                                  <p:stCondLst>
                                    <p:cond delay="25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anim calcmode="lin" valueType="num">
                                      <p:cBhvr>
                                        <p:cTn id="16" dur="450" fill="hold"/>
                                        <p:tgtEl>
                                          <p:spTgt spid="8"/>
                                        </p:tgtEl>
                                        <p:attrNameLst>
                                          <p:attrName>ppt_x</p:attrName>
                                        </p:attrNameLst>
                                      </p:cBhvr>
                                      <p:tavLst>
                                        <p:tav tm="0">
                                          <p:val>
                                            <p:strVal val="#ppt_x"/>
                                          </p:val>
                                        </p:tav>
                                        <p:tav tm="100000">
                                          <p:val>
                                            <p:strVal val="#ppt_x"/>
                                          </p:val>
                                        </p:tav>
                                      </p:tavLst>
                                    </p:anim>
                                    <p:anim calcmode="lin" valueType="num">
                                      <p:cBhvr>
                                        <p:cTn id="17" dur="450" fill="hold"/>
                                        <p:tgtEl>
                                          <p:spTgt spid="8"/>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30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50"/>
                                        <p:tgtEl>
                                          <p:spTgt spid="11"/>
                                        </p:tgtEl>
                                      </p:cBhvr>
                                    </p:animEffect>
                                    <p:anim calcmode="lin" valueType="num">
                                      <p:cBhvr>
                                        <p:cTn id="21" dur="450" fill="hold"/>
                                        <p:tgtEl>
                                          <p:spTgt spid="11"/>
                                        </p:tgtEl>
                                        <p:attrNameLst>
                                          <p:attrName>ppt_x</p:attrName>
                                        </p:attrNameLst>
                                      </p:cBhvr>
                                      <p:tavLst>
                                        <p:tav tm="0">
                                          <p:val>
                                            <p:strVal val="#ppt_x"/>
                                          </p:val>
                                        </p:tav>
                                        <p:tav tm="100000">
                                          <p:val>
                                            <p:strVal val="#ppt_x"/>
                                          </p:val>
                                        </p:tav>
                                      </p:tavLst>
                                    </p:anim>
                                    <p:anim calcmode="lin" valueType="num">
                                      <p:cBhvr>
                                        <p:cTn id="22" dur="450" fill="hold"/>
                                        <p:tgtEl>
                                          <p:spTgt spid="11"/>
                                        </p:tgtEl>
                                        <p:attrNameLst>
                                          <p:attrName>ppt_y</p:attrName>
                                        </p:attrNameLst>
                                      </p:cBhvr>
                                      <p:tavLst>
                                        <p:tav tm="0">
                                          <p:val>
                                            <p:strVal val="#ppt_y+.1"/>
                                          </p:val>
                                        </p:tav>
                                        <p:tav tm="100000">
                                          <p:val>
                                            <p:strVal val="#ppt_y"/>
                                          </p:val>
                                        </p:tav>
                                      </p:tavLst>
                                    </p:anim>
                                  </p:childTnLst>
                                </p:cTn>
                              </p:par>
                              <p:par>
                                <p:cTn id="23" presetID="22" presetClass="entr" presetSubtype="8" fill="hold" nodeType="withEffect">
                                  <p:stCondLst>
                                    <p:cond delay="45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350"/>
                                        <p:tgtEl>
                                          <p:spTgt spid="14"/>
                                        </p:tgtEl>
                                      </p:cBhvr>
                                    </p:animEffect>
                                  </p:childTnLst>
                                </p:cTn>
                              </p:par>
                              <p:par>
                                <p:cTn id="26" presetID="42" presetClass="entr" presetSubtype="0" fill="hold" nodeType="withEffect">
                                  <p:stCondLst>
                                    <p:cond delay="55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anim calcmode="lin" valueType="num">
                                      <p:cBhvr>
                                        <p:cTn id="29" dur="450" fill="hold"/>
                                        <p:tgtEl>
                                          <p:spTgt spid="15"/>
                                        </p:tgtEl>
                                        <p:attrNameLst>
                                          <p:attrName>ppt_x</p:attrName>
                                        </p:attrNameLst>
                                      </p:cBhvr>
                                      <p:tavLst>
                                        <p:tav tm="0">
                                          <p:val>
                                            <p:strVal val="#ppt_x"/>
                                          </p:val>
                                        </p:tav>
                                        <p:tav tm="100000">
                                          <p:val>
                                            <p:strVal val="#ppt_x"/>
                                          </p:val>
                                        </p:tav>
                                      </p:tavLst>
                                    </p:anim>
                                    <p:anim calcmode="lin" valueType="num">
                                      <p:cBhvr>
                                        <p:cTn id="30" dur="450" fill="hold"/>
                                        <p:tgtEl>
                                          <p:spTgt spid="15"/>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60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450"/>
                                        <p:tgtEl>
                                          <p:spTgt spid="18"/>
                                        </p:tgtEl>
                                      </p:cBhvr>
                                    </p:animEffect>
                                    <p:anim calcmode="lin" valueType="num">
                                      <p:cBhvr>
                                        <p:cTn id="34" dur="450" fill="hold"/>
                                        <p:tgtEl>
                                          <p:spTgt spid="18"/>
                                        </p:tgtEl>
                                        <p:attrNameLst>
                                          <p:attrName>ppt_x</p:attrName>
                                        </p:attrNameLst>
                                      </p:cBhvr>
                                      <p:tavLst>
                                        <p:tav tm="0">
                                          <p:val>
                                            <p:strVal val="#ppt_x"/>
                                          </p:val>
                                        </p:tav>
                                        <p:tav tm="100000">
                                          <p:val>
                                            <p:strVal val="#ppt_x"/>
                                          </p:val>
                                        </p:tav>
                                      </p:tavLst>
                                    </p:anim>
                                    <p:anim calcmode="lin" valueType="num">
                                      <p:cBhvr>
                                        <p:cTn id="35" dur="450" fill="hold"/>
                                        <p:tgtEl>
                                          <p:spTgt spid="18"/>
                                        </p:tgtEl>
                                        <p:attrNameLst>
                                          <p:attrName>ppt_y</p:attrName>
                                        </p:attrNameLst>
                                      </p:cBhvr>
                                      <p:tavLst>
                                        <p:tav tm="0">
                                          <p:val>
                                            <p:strVal val="#ppt_y+.1"/>
                                          </p:val>
                                        </p:tav>
                                        <p:tav tm="100000">
                                          <p:val>
                                            <p:strVal val="#ppt_y"/>
                                          </p:val>
                                        </p:tav>
                                      </p:tavLst>
                                    </p:anim>
                                  </p:childTnLst>
                                </p:cTn>
                              </p:par>
                              <p:par>
                                <p:cTn id="36" presetID="22" presetClass="entr" presetSubtype="8" fill="hold" nodeType="withEffect">
                                  <p:stCondLst>
                                    <p:cond delay="75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350"/>
                                        <p:tgtEl>
                                          <p:spTgt spid="21"/>
                                        </p:tgtEl>
                                      </p:cBhvr>
                                    </p:animEffect>
                                  </p:childTnLst>
                                </p:cTn>
                              </p:par>
                              <p:par>
                                <p:cTn id="39" presetID="42" presetClass="entr" presetSubtype="0" fill="hold" nodeType="withEffect">
                                  <p:stCondLst>
                                    <p:cond delay="85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50"/>
                                        <p:tgtEl>
                                          <p:spTgt spid="22"/>
                                        </p:tgtEl>
                                      </p:cBhvr>
                                    </p:animEffect>
                                    <p:anim calcmode="lin" valueType="num">
                                      <p:cBhvr>
                                        <p:cTn id="42" dur="450" fill="hold"/>
                                        <p:tgtEl>
                                          <p:spTgt spid="22"/>
                                        </p:tgtEl>
                                        <p:attrNameLst>
                                          <p:attrName>ppt_x</p:attrName>
                                        </p:attrNameLst>
                                      </p:cBhvr>
                                      <p:tavLst>
                                        <p:tav tm="0">
                                          <p:val>
                                            <p:strVal val="#ppt_x"/>
                                          </p:val>
                                        </p:tav>
                                        <p:tav tm="100000">
                                          <p:val>
                                            <p:strVal val="#ppt_x"/>
                                          </p:val>
                                        </p:tav>
                                      </p:tavLst>
                                    </p:anim>
                                    <p:anim calcmode="lin" valueType="num">
                                      <p:cBhvr>
                                        <p:cTn id="43" dur="450" fill="hold"/>
                                        <p:tgtEl>
                                          <p:spTgt spid="22"/>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90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anim calcmode="lin" valueType="num">
                                      <p:cBhvr>
                                        <p:cTn id="47" dur="450" fill="hold"/>
                                        <p:tgtEl>
                                          <p:spTgt spid="25"/>
                                        </p:tgtEl>
                                        <p:attrNameLst>
                                          <p:attrName>ppt_x</p:attrName>
                                        </p:attrNameLst>
                                      </p:cBhvr>
                                      <p:tavLst>
                                        <p:tav tm="0">
                                          <p:val>
                                            <p:strVal val="#ppt_x"/>
                                          </p:val>
                                        </p:tav>
                                        <p:tav tm="100000">
                                          <p:val>
                                            <p:strVal val="#ppt_x"/>
                                          </p:val>
                                        </p:tav>
                                      </p:tavLst>
                                    </p:anim>
                                    <p:anim calcmode="lin" valueType="num">
                                      <p:cBhvr>
                                        <p:cTn id="48" dur="450" fill="hold"/>
                                        <p:tgtEl>
                                          <p:spTgt spid="25"/>
                                        </p:tgtEl>
                                        <p:attrNameLst>
                                          <p:attrName>ppt_y</p:attrName>
                                        </p:attrNameLst>
                                      </p:cBhvr>
                                      <p:tavLst>
                                        <p:tav tm="0">
                                          <p:val>
                                            <p:strVal val="#ppt_y+.1"/>
                                          </p:val>
                                        </p:tav>
                                        <p:tav tm="100000">
                                          <p:val>
                                            <p:strVal val="#ppt_y"/>
                                          </p:val>
                                        </p:tav>
                                      </p:tavLst>
                                    </p:anim>
                                  </p:childTnLst>
                                </p:cTn>
                              </p:par>
                              <p:par>
                                <p:cTn id="49" presetID="22" presetClass="entr" presetSubtype="8" fill="hold" nodeType="withEffect">
                                  <p:stCondLst>
                                    <p:cond delay="1050"/>
                                  </p:stCondLst>
                                  <p:childTnLst>
                                    <p:set>
                                      <p:cBhvr>
                                        <p:cTn id="50" dur="1" fill="hold">
                                          <p:stCondLst>
                                            <p:cond delay="0"/>
                                          </p:stCondLst>
                                        </p:cTn>
                                        <p:tgtEl>
                                          <p:spTgt spid="28"/>
                                        </p:tgtEl>
                                        <p:attrNameLst>
                                          <p:attrName>style.visibility</p:attrName>
                                        </p:attrNameLst>
                                      </p:cBhvr>
                                      <p:to>
                                        <p:strVal val="visible"/>
                                      </p:to>
                                    </p:set>
                                    <p:animEffect transition="in" filter="wipe(left)">
                                      <p:cBhvr>
                                        <p:cTn id="51" dur="350"/>
                                        <p:tgtEl>
                                          <p:spTgt spid="28"/>
                                        </p:tgtEl>
                                      </p:cBhvr>
                                    </p:animEffect>
                                  </p:childTnLst>
                                </p:cTn>
                              </p:par>
                              <p:par>
                                <p:cTn id="52" presetID="42" presetClass="entr" presetSubtype="0" fill="hold" nodeType="withEffect">
                                  <p:stCondLst>
                                    <p:cond delay="115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450"/>
                                        <p:tgtEl>
                                          <p:spTgt spid="29"/>
                                        </p:tgtEl>
                                      </p:cBhvr>
                                    </p:animEffect>
                                    <p:anim calcmode="lin" valueType="num">
                                      <p:cBhvr>
                                        <p:cTn id="55" dur="450" fill="hold"/>
                                        <p:tgtEl>
                                          <p:spTgt spid="29"/>
                                        </p:tgtEl>
                                        <p:attrNameLst>
                                          <p:attrName>ppt_x</p:attrName>
                                        </p:attrNameLst>
                                      </p:cBhvr>
                                      <p:tavLst>
                                        <p:tav tm="0">
                                          <p:val>
                                            <p:strVal val="#ppt_x"/>
                                          </p:val>
                                        </p:tav>
                                        <p:tav tm="100000">
                                          <p:val>
                                            <p:strVal val="#ppt_x"/>
                                          </p:val>
                                        </p:tav>
                                      </p:tavLst>
                                    </p:anim>
                                    <p:anim calcmode="lin" valueType="num">
                                      <p:cBhvr>
                                        <p:cTn id="56" dur="450" fill="hold"/>
                                        <p:tgtEl>
                                          <p:spTgt spid="29"/>
                                        </p:tgtEl>
                                        <p:attrNameLst>
                                          <p:attrName>ppt_y</p:attrName>
                                        </p:attrNameLst>
                                      </p:cBhvr>
                                      <p:tavLst>
                                        <p:tav tm="0">
                                          <p:val>
                                            <p:strVal val="#ppt_y+.1"/>
                                          </p:val>
                                        </p:tav>
                                        <p:tav tm="100000">
                                          <p:val>
                                            <p:strVal val="#ppt_y"/>
                                          </p:val>
                                        </p:tav>
                                      </p:tavLst>
                                    </p:anim>
                                  </p:childTnLst>
                                </p:cTn>
                              </p:par>
                            </p:childTnLst>
                          </p:cTn>
                        </p:par>
                        <p:par>
                          <p:cTn id="57" fill="hold">
                            <p:stCondLst>
                              <p:cond delay="1600"/>
                            </p:stCondLst>
                            <p:childTnLst>
                              <p:par>
                                <p:cTn id="58" presetID="10" presetClass="entr" presetSubtype="0" fill="hold" grpId="0" nodeType="after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System architecture: from raw prices to decisions</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05 · ARCHITECTURE</a:t>
            </a:r>
          </a:p>
        </p:txBody>
      </p:sp>
      <p:grpSp>
        <p:nvGrpSpPr>
          <p:cNvPr id="4" name="node_1"/>
          <p:cNvGrpSpPr/>
          <p:nvPr/>
        </p:nvGrpSpPr>
        <p:grpSpPr>
          <a:xfrm>
            <a:off x="640080" y="1783080"/>
            <a:ext cx="2432304" cy="1298448"/>
            <a:chOff x="640080" y="1783080"/>
            <a:chExt cx="2432304" cy="1298448"/>
          </a:xfrm>
        </p:grpSpPr>
        <p:sp>
          <p:nvSpPr>
            <p:cNvPr id="5" name="node_1_bg"/>
            <p:cNvSpPr/>
            <p:nvPr/>
          </p:nvSpPr>
          <p:spPr>
            <a:xfrm>
              <a:off x="640080" y="1783080"/>
              <a:ext cx="2432304" cy="1298448"/>
            </a:xfrm>
            <a:prstGeom prst="roundRect">
              <a:avLst>
                <a:gd name="adj" fmla="val 8450"/>
              </a:avLst>
            </a:prstGeom>
            <a:solidFill>
              <a:srgbClr val="111823">
                <a:alpha val="88000"/>
              </a:srgbClr>
            </a:solidFill>
            <a:ln w="9525">
              <a:solidFill>
                <a:srgbClr val="243245"/>
              </a:solidFill>
            </a:ln>
          </p:spPr>
          <p:txBody>
            <a:bodyPr lIns="0" tIns="0" rIns="0" bIns="0" rtlCol="0" anchor="ctr"/>
            <a:lstStyle/>
            <a:p>
              <a:pPr algn="ctr"/>
              <a:endParaRPr/>
            </a:p>
          </p:txBody>
        </p:sp>
        <p:sp>
          <p:nvSpPr>
            <p:cNvPr id="6" name="TextBox 5"/>
            <p:cNvSpPr txBox="1"/>
            <p:nvPr/>
          </p:nvSpPr>
          <p:spPr>
            <a:xfrm>
              <a:off x="868680" y="1965960"/>
              <a:ext cx="1975104" cy="329184"/>
            </a:xfrm>
            <a:prstGeom prst="rect">
              <a:avLst/>
            </a:prstGeom>
            <a:noFill/>
          </p:spPr>
          <p:txBody>
            <a:bodyPr wrap="square" lIns="0" tIns="0" rIns="0" bIns="0" anchor="t">
              <a:noAutofit/>
            </a:bodyPr>
            <a:lstStyle/>
            <a:p>
              <a:pPr algn="l">
                <a:spcAft>
                  <a:spcPts val="0"/>
                </a:spcAft>
              </a:pPr>
              <a:r>
                <a:rPr sz="1200" b="0" i="0">
                  <a:solidFill>
                    <a:srgbClr val="FFB547"/>
                  </a:solidFill>
                  <a:latin typeface="Consolas"/>
                </a:rPr>
                <a:t>01  </a:t>
              </a:r>
              <a:r>
                <a:rPr sz="1600" b="0" i="0">
                  <a:solidFill>
                    <a:srgbClr val="EAF0F6"/>
                  </a:solidFill>
                  <a:latin typeface="Segoe UI Semibold"/>
                </a:rPr>
                <a:t>Data</a:t>
              </a:r>
            </a:p>
          </p:txBody>
        </p:sp>
        <p:sp>
          <p:nvSpPr>
            <p:cNvPr id="7" name="TextBox 6"/>
            <p:cNvSpPr txBox="1"/>
            <p:nvPr/>
          </p:nvSpPr>
          <p:spPr>
            <a:xfrm>
              <a:off x="868680" y="2331720"/>
              <a:ext cx="1975104" cy="457200"/>
            </a:xfrm>
            <a:prstGeom prst="rect">
              <a:avLst/>
            </a:prstGeom>
            <a:noFill/>
          </p:spPr>
          <p:txBody>
            <a:bodyPr wrap="square" lIns="0" tIns="0" rIns="0" bIns="0" anchor="t">
              <a:noAutofit/>
            </a:bodyPr>
            <a:lstStyle/>
            <a:p>
              <a:pPr algn="l">
                <a:lnSpc>
                  <a:spcPct val="105000"/>
                </a:lnSpc>
                <a:spcAft>
                  <a:spcPts val="0"/>
                </a:spcAft>
              </a:pPr>
              <a:r>
                <a:rPr sz="1250" b="0" i="0">
                  <a:solidFill>
                    <a:srgbClr val="AAB6C3"/>
                  </a:solidFill>
                  <a:latin typeface="Segoe UI"/>
                </a:rPr>
                <a:t>Yahoo Finance OHLCV, validated and adjusted</a:t>
              </a:r>
            </a:p>
          </p:txBody>
        </p:sp>
        <p:sp>
          <p:nvSpPr>
            <p:cNvPr id="8" name="TextBox 7"/>
            <p:cNvSpPr txBox="1"/>
            <p:nvPr/>
          </p:nvSpPr>
          <p:spPr>
            <a:xfrm>
              <a:off x="868680" y="2788920"/>
              <a:ext cx="1975104" cy="219456"/>
            </a:xfrm>
            <a:prstGeom prst="rect">
              <a:avLst/>
            </a:prstGeom>
            <a:noFill/>
          </p:spPr>
          <p:txBody>
            <a:bodyPr wrap="square" lIns="0" tIns="0" rIns="0" bIns="0" anchor="t">
              <a:noAutofit/>
            </a:bodyPr>
            <a:lstStyle/>
            <a:p>
              <a:pPr algn="l">
                <a:spcAft>
                  <a:spcPts val="0"/>
                </a:spcAft>
              </a:pPr>
              <a:r>
                <a:rPr sz="1050" b="0" i="0">
                  <a:solidFill>
                    <a:srgbClr val="8291A2"/>
                  </a:solidFill>
                  <a:latin typeface="Consolas"/>
                </a:rPr>
                <a:t>data_loader.py</a:t>
              </a:r>
            </a:p>
          </p:txBody>
        </p:sp>
      </p:grpSp>
      <p:grpSp>
        <p:nvGrpSpPr>
          <p:cNvPr id="9" name="node_2"/>
          <p:cNvGrpSpPr/>
          <p:nvPr/>
        </p:nvGrpSpPr>
        <p:grpSpPr>
          <a:xfrm>
            <a:off x="3460364" y="1783080"/>
            <a:ext cx="2432304" cy="1298448"/>
            <a:chOff x="3460364" y="1783080"/>
            <a:chExt cx="2432304" cy="1298448"/>
          </a:xfrm>
        </p:grpSpPr>
        <p:sp>
          <p:nvSpPr>
            <p:cNvPr id="10" name="node_2_bg"/>
            <p:cNvSpPr/>
            <p:nvPr/>
          </p:nvSpPr>
          <p:spPr>
            <a:xfrm>
              <a:off x="3460364" y="1783080"/>
              <a:ext cx="2432304" cy="1298448"/>
            </a:xfrm>
            <a:prstGeom prst="roundRect">
              <a:avLst>
                <a:gd name="adj" fmla="val 8450"/>
              </a:avLst>
            </a:prstGeom>
            <a:solidFill>
              <a:srgbClr val="111823">
                <a:alpha val="88000"/>
              </a:srgbClr>
            </a:solidFill>
            <a:ln w="9525">
              <a:solidFill>
                <a:srgbClr val="243245"/>
              </a:solidFill>
            </a:ln>
          </p:spPr>
          <p:txBody>
            <a:bodyPr lIns="0" tIns="0" rIns="0" bIns="0" rtlCol="0" anchor="ctr"/>
            <a:lstStyle/>
            <a:p>
              <a:pPr algn="ctr"/>
              <a:endParaRPr/>
            </a:p>
          </p:txBody>
        </p:sp>
        <p:sp>
          <p:nvSpPr>
            <p:cNvPr id="11" name="TextBox 10"/>
            <p:cNvSpPr txBox="1"/>
            <p:nvPr/>
          </p:nvSpPr>
          <p:spPr>
            <a:xfrm>
              <a:off x="3688964" y="1965960"/>
              <a:ext cx="1975104" cy="329184"/>
            </a:xfrm>
            <a:prstGeom prst="rect">
              <a:avLst/>
            </a:prstGeom>
            <a:noFill/>
          </p:spPr>
          <p:txBody>
            <a:bodyPr wrap="square" lIns="0" tIns="0" rIns="0" bIns="0" anchor="t">
              <a:noAutofit/>
            </a:bodyPr>
            <a:lstStyle/>
            <a:p>
              <a:pPr algn="l">
                <a:spcAft>
                  <a:spcPts val="0"/>
                </a:spcAft>
              </a:pPr>
              <a:r>
                <a:rPr sz="1200" b="0" i="0">
                  <a:solidFill>
                    <a:srgbClr val="FFB547"/>
                  </a:solidFill>
                  <a:latin typeface="Consolas"/>
                </a:rPr>
                <a:t>02  </a:t>
              </a:r>
              <a:r>
                <a:rPr sz="1600" b="0" i="0">
                  <a:solidFill>
                    <a:srgbClr val="EAF0F6"/>
                  </a:solidFill>
                  <a:latin typeface="Segoe UI Semibold"/>
                </a:rPr>
                <a:t>Features</a:t>
              </a:r>
            </a:p>
          </p:txBody>
        </p:sp>
        <p:sp>
          <p:nvSpPr>
            <p:cNvPr id="12" name="TextBox 11"/>
            <p:cNvSpPr txBox="1"/>
            <p:nvPr/>
          </p:nvSpPr>
          <p:spPr>
            <a:xfrm>
              <a:off x="3688964" y="2331720"/>
              <a:ext cx="1975104" cy="457200"/>
            </a:xfrm>
            <a:prstGeom prst="rect">
              <a:avLst/>
            </a:prstGeom>
            <a:noFill/>
          </p:spPr>
          <p:txBody>
            <a:bodyPr wrap="square" lIns="0" tIns="0" rIns="0" bIns="0" anchor="t">
              <a:noAutofit/>
            </a:bodyPr>
            <a:lstStyle/>
            <a:p>
              <a:pPr algn="l">
                <a:lnSpc>
                  <a:spcPct val="105000"/>
                </a:lnSpc>
                <a:spcAft>
                  <a:spcPts val="0"/>
                </a:spcAft>
              </a:pPr>
              <a:r>
                <a:rPr sz="1250" b="0" i="0">
                  <a:solidFill>
                    <a:srgbClr val="AAB6C3"/>
                  </a:solidFill>
                  <a:latin typeface="Segoe UI"/>
                </a:rPr>
                <a:t>42 point-in-time, scale-invariant indicators</a:t>
              </a:r>
            </a:p>
          </p:txBody>
        </p:sp>
        <p:sp>
          <p:nvSpPr>
            <p:cNvPr id="13" name="TextBox 12"/>
            <p:cNvSpPr txBox="1"/>
            <p:nvPr/>
          </p:nvSpPr>
          <p:spPr>
            <a:xfrm>
              <a:off x="3688964" y="2788920"/>
              <a:ext cx="1975104" cy="219456"/>
            </a:xfrm>
            <a:prstGeom prst="rect">
              <a:avLst/>
            </a:prstGeom>
            <a:noFill/>
          </p:spPr>
          <p:txBody>
            <a:bodyPr wrap="square" lIns="0" tIns="0" rIns="0" bIns="0" anchor="t">
              <a:noAutofit/>
            </a:bodyPr>
            <a:lstStyle/>
            <a:p>
              <a:pPr algn="l">
                <a:spcAft>
                  <a:spcPts val="0"/>
                </a:spcAft>
              </a:pPr>
              <a:r>
                <a:rPr sz="1050" b="0" i="0">
                  <a:solidFill>
                    <a:srgbClr val="8291A2"/>
                  </a:solidFill>
                  <a:latin typeface="Consolas"/>
                </a:rPr>
                <a:t>features.py</a:t>
              </a:r>
            </a:p>
          </p:txBody>
        </p:sp>
      </p:grpSp>
      <p:grpSp>
        <p:nvGrpSpPr>
          <p:cNvPr id="14" name="node_3"/>
          <p:cNvGrpSpPr/>
          <p:nvPr/>
        </p:nvGrpSpPr>
        <p:grpSpPr>
          <a:xfrm>
            <a:off x="6280648" y="1783080"/>
            <a:ext cx="2432304" cy="1298448"/>
            <a:chOff x="6280648" y="1783080"/>
            <a:chExt cx="2432304" cy="1298448"/>
          </a:xfrm>
        </p:grpSpPr>
        <p:sp>
          <p:nvSpPr>
            <p:cNvPr id="15" name="node_3_bg"/>
            <p:cNvSpPr/>
            <p:nvPr/>
          </p:nvSpPr>
          <p:spPr>
            <a:xfrm>
              <a:off x="6280648" y="1783080"/>
              <a:ext cx="2432304" cy="1298448"/>
            </a:xfrm>
            <a:prstGeom prst="roundRect">
              <a:avLst>
                <a:gd name="adj" fmla="val 8450"/>
              </a:avLst>
            </a:prstGeom>
            <a:solidFill>
              <a:srgbClr val="111823">
                <a:alpha val="88000"/>
              </a:srgbClr>
            </a:solidFill>
            <a:ln w="9525">
              <a:solidFill>
                <a:srgbClr val="243245"/>
              </a:solidFill>
            </a:ln>
          </p:spPr>
          <p:txBody>
            <a:bodyPr lIns="0" tIns="0" rIns="0" bIns="0" rtlCol="0" anchor="ctr"/>
            <a:lstStyle/>
            <a:p>
              <a:pPr algn="ctr"/>
              <a:endParaRPr/>
            </a:p>
          </p:txBody>
        </p:sp>
        <p:sp>
          <p:nvSpPr>
            <p:cNvPr id="16" name="TextBox 15"/>
            <p:cNvSpPr txBox="1"/>
            <p:nvPr/>
          </p:nvSpPr>
          <p:spPr>
            <a:xfrm>
              <a:off x="6509248" y="1965960"/>
              <a:ext cx="1975104" cy="329184"/>
            </a:xfrm>
            <a:prstGeom prst="rect">
              <a:avLst/>
            </a:prstGeom>
            <a:noFill/>
          </p:spPr>
          <p:txBody>
            <a:bodyPr wrap="square" lIns="0" tIns="0" rIns="0" bIns="0" anchor="t">
              <a:noAutofit/>
            </a:bodyPr>
            <a:lstStyle/>
            <a:p>
              <a:pPr algn="l">
                <a:spcAft>
                  <a:spcPts val="0"/>
                </a:spcAft>
              </a:pPr>
              <a:r>
                <a:rPr sz="1200" b="0" i="0">
                  <a:solidFill>
                    <a:srgbClr val="FFB547"/>
                  </a:solidFill>
                  <a:latin typeface="Consolas"/>
                </a:rPr>
                <a:t>03  </a:t>
              </a:r>
              <a:r>
                <a:rPr sz="1600" b="0" i="0">
                  <a:solidFill>
                    <a:srgbClr val="EAF0F6"/>
                  </a:solidFill>
                  <a:latin typeface="Segoe UI Semibold"/>
                </a:rPr>
                <a:t>Targets</a:t>
              </a:r>
            </a:p>
          </p:txBody>
        </p:sp>
        <p:sp>
          <p:nvSpPr>
            <p:cNvPr id="17" name="TextBox 16"/>
            <p:cNvSpPr txBox="1"/>
            <p:nvPr/>
          </p:nvSpPr>
          <p:spPr>
            <a:xfrm>
              <a:off x="6509248" y="2331720"/>
              <a:ext cx="1975104" cy="457200"/>
            </a:xfrm>
            <a:prstGeom prst="rect">
              <a:avLst/>
            </a:prstGeom>
            <a:noFill/>
          </p:spPr>
          <p:txBody>
            <a:bodyPr wrap="square" lIns="0" tIns="0" rIns="0" bIns="0" anchor="t">
              <a:noAutofit/>
            </a:bodyPr>
            <a:lstStyle/>
            <a:p>
              <a:pPr algn="l">
                <a:lnSpc>
                  <a:spcPct val="105000"/>
                </a:lnSpc>
                <a:spcAft>
                  <a:spcPts val="0"/>
                </a:spcAft>
              </a:pPr>
              <a:r>
                <a:rPr sz="1250" b="0" i="0">
                  <a:solidFill>
                    <a:srgbClr val="AAB6C3"/>
                  </a:solidFill>
                  <a:latin typeface="Segoe UI"/>
                </a:rPr>
                <a:t>Down / Neutral / Up from next-open returns</a:t>
              </a:r>
            </a:p>
          </p:txBody>
        </p:sp>
        <p:sp>
          <p:nvSpPr>
            <p:cNvPr id="18" name="TextBox 17"/>
            <p:cNvSpPr txBox="1"/>
            <p:nvPr/>
          </p:nvSpPr>
          <p:spPr>
            <a:xfrm>
              <a:off x="6509248" y="2788920"/>
              <a:ext cx="1975104" cy="219456"/>
            </a:xfrm>
            <a:prstGeom prst="rect">
              <a:avLst/>
            </a:prstGeom>
            <a:noFill/>
          </p:spPr>
          <p:txBody>
            <a:bodyPr wrap="square" lIns="0" tIns="0" rIns="0" bIns="0" anchor="t">
              <a:noAutofit/>
            </a:bodyPr>
            <a:lstStyle/>
            <a:p>
              <a:pPr algn="l">
                <a:spcAft>
                  <a:spcPts val="0"/>
                </a:spcAft>
              </a:pPr>
              <a:r>
                <a:rPr sz="1050" b="0" i="0">
                  <a:solidFill>
                    <a:srgbClr val="8291A2"/>
                  </a:solidFill>
                  <a:latin typeface="Consolas"/>
                </a:rPr>
                <a:t>targets.py</a:t>
              </a:r>
            </a:p>
          </p:txBody>
        </p:sp>
      </p:grpSp>
      <p:grpSp>
        <p:nvGrpSpPr>
          <p:cNvPr id="19" name="node_4"/>
          <p:cNvGrpSpPr/>
          <p:nvPr/>
        </p:nvGrpSpPr>
        <p:grpSpPr>
          <a:xfrm>
            <a:off x="9100932" y="1783080"/>
            <a:ext cx="2432304" cy="1298448"/>
            <a:chOff x="9100932" y="1783080"/>
            <a:chExt cx="2432304" cy="1298448"/>
          </a:xfrm>
        </p:grpSpPr>
        <p:sp>
          <p:nvSpPr>
            <p:cNvPr id="20" name="node_4_bg"/>
            <p:cNvSpPr/>
            <p:nvPr/>
          </p:nvSpPr>
          <p:spPr>
            <a:xfrm>
              <a:off x="9100932" y="1783080"/>
              <a:ext cx="2432304" cy="1298448"/>
            </a:xfrm>
            <a:prstGeom prst="roundRect">
              <a:avLst>
                <a:gd name="adj" fmla="val 8450"/>
              </a:avLst>
            </a:prstGeom>
            <a:solidFill>
              <a:srgbClr val="111823">
                <a:alpha val="88000"/>
              </a:srgbClr>
            </a:solidFill>
            <a:ln w="9525">
              <a:solidFill>
                <a:srgbClr val="243245"/>
              </a:solidFill>
            </a:ln>
          </p:spPr>
          <p:txBody>
            <a:bodyPr lIns="0" tIns="0" rIns="0" bIns="0" rtlCol="0" anchor="ctr"/>
            <a:lstStyle/>
            <a:p>
              <a:pPr algn="ctr"/>
              <a:endParaRPr/>
            </a:p>
          </p:txBody>
        </p:sp>
        <p:sp>
          <p:nvSpPr>
            <p:cNvPr id="21" name="TextBox 20"/>
            <p:cNvSpPr txBox="1"/>
            <p:nvPr/>
          </p:nvSpPr>
          <p:spPr>
            <a:xfrm>
              <a:off x="9329532" y="1965960"/>
              <a:ext cx="1975104" cy="329184"/>
            </a:xfrm>
            <a:prstGeom prst="rect">
              <a:avLst/>
            </a:prstGeom>
            <a:noFill/>
          </p:spPr>
          <p:txBody>
            <a:bodyPr wrap="square" lIns="0" tIns="0" rIns="0" bIns="0" anchor="t">
              <a:noAutofit/>
            </a:bodyPr>
            <a:lstStyle/>
            <a:p>
              <a:pPr algn="l">
                <a:spcAft>
                  <a:spcPts val="0"/>
                </a:spcAft>
              </a:pPr>
              <a:r>
                <a:rPr sz="1200" b="0" i="0">
                  <a:solidFill>
                    <a:srgbClr val="FFB547"/>
                  </a:solidFill>
                  <a:latin typeface="Consolas"/>
                </a:rPr>
                <a:t>04  </a:t>
              </a:r>
              <a:r>
                <a:rPr sz="1600" b="0" i="0">
                  <a:solidFill>
                    <a:srgbClr val="EAF0F6"/>
                  </a:solidFill>
                  <a:latin typeface="Segoe UI Semibold"/>
                </a:rPr>
                <a:t>Split</a:t>
              </a:r>
            </a:p>
          </p:txBody>
        </p:sp>
        <p:sp>
          <p:nvSpPr>
            <p:cNvPr id="22" name="TextBox 21"/>
            <p:cNvSpPr txBox="1"/>
            <p:nvPr/>
          </p:nvSpPr>
          <p:spPr>
            <a:xfrm>
              <a:off x="9329532" y="2331720"/>
              <a:ext cx="1975104" cy="457200"/>
            </a:xfrm>
            <a:prstGeom prst="rect">
              <a:avLst/>
            </a:prstGeom>
            <a:noFill/>
          </p:spPr>
          <p:txBody>
            <a:bodyPr wrap="square" lIns="0" tIns="0" rIns="0" bIns="0" anchor="t">
              <a:noAutofit/>
            </a:bodyPr>
            <a:lstStyle/>
            <a:p>
              <a:pPr algn="l">
                <a:lnSpc>
                  <a:spcPct val="105000"/>
                </a:lnSpc>
                <a:spcAft>
                  <a:spcPts val="0"/>
                </a:spcAft>
              </a:pPr>
              <a:r>
                <a:rPr sz="1250" b="0" i="0">
                  <a:solidFill>
                    <a:srgbClr val="AAB6C3"/>
                  </a:solidFill>
                  <a:latin typeface="Segoe UI"/>
                </a:rPr>
                <a:t>Chronological train / val / test + purge</a:t>
              </a:r>
            </a:p>
          </p:txBody>
        </p:sp>
        <p:sp>
          <p:nvSpPr>
            <p:cNvPr id="23" name="TextBox 22"/>
            <p:cNvSpPr txBox="1"/>
            <p:nvPr/>
          </p:nvSpPr>
          <p:spPr>
            <a:xfrm>
              <a:off x="9329532" y="2788920"/>
              <a:ext cx="1975104" cy="219456"/>
            </a:xfrm>
            <a:prstGeom prst="rect">
              <a:avLst/>
            </a:prstGeom>
            <a:noFill/>
          </p:spPr>
          <p:txBody>
            <a:bodyPr wrap="square" lIns="0" tIns="0" rIns="0" bIns="0" anchor="t">
              <a:noAutofit/>
            </a:bodyPr>
            <a:lstStyle/>
            <a:p>
              <a:pPr algn="l">
                <a:spcAft>
                  <a:spcPts val="0"/>
                </a:spcAft>
              </a:pPr>
              <a:r>
                <a:rPr sz="1050" b="0" i="0">
                  <a:solidFill>
                    <a:srgbClr val="8291A2"/>
                  </a:solidFill>
                  <a:latin typeface="Consolas"/>
                </a:rPr>
                <a:t>preprocessing.py</a:t>
              </a:r>
            </a:p>
          </p:txBody>
        </p:sp>
      </p:grpSp>
      <p:grpSp>
        <p:nvGrpSpPr>
          <p:cNvPr id="24" name="node_5"/>
          <p:cNvGrpSpPr/>
          <p:nvPr/>
        </p:nvGrpSpPr>
        <p:grpSpPr>
          <a:xfrm>
            <a:off x="640080" y="3611880"/>
            <a:ext cx="2432304" cy="1298448"/>
            <a:chOff x="640080" y="3611880"/>
            <a:chExt cx="2432304" cy="1298448"/>
          </a:xfrm>
        </p:grpSpPr>
        <p:sp>
          <p:nvSpPr>
            <p:cNvPr id="25" name="node_5_bg"/>
            <p:cNvSpPr/>
            <p:nvPr/>
          </p:nvSpPr>
          <p:spPr>
            <a:xfrm>
              <a:off x="640080" y="3611880"/>
              <a:ext cx="2432304" cy="1298448"/>
            </a:xfrm>
            <a:prstGeom prst="roundRect">
              <a:avLst>
                <a:gd name="adj" fmla="val 8450"/>
              </a:avLst>
            </a:prstGeom>
            <a:solidFill>
              <a:srgbClr val="111823">
                <a:alpha val="88000"/>
              </a:srgbClr>
            </a:solidFill>
            <a:ln w="12700">
              <a:solidFill>
                <a:srgbClr val="FFB547">
                  <a:alpha val="75000"/>
                </a:srgbClr>
              </a:solidFill>
            </a:ln>
          </p:spPr>
          <p:txBody>
            <a:bodyPr lIns="0" tIns="0" rIns="0" bIns="0" rtlCol="0" anchor="ctr"/>
            <a:lstStyle/>
            <a:p>
              <a:pPr algn="ctr"/>
              <a:endParaRPr/>
            </a:p>
          </p:txBody>
        </p:sp>
        <p:sp>
          <p:nvSpPr>
            <p:cNvPr id="26" name="TextBox 25"/>
            <p:cNvSpPr txBox="1"/>
            <p:nvPr/>
          </p:nvSpPr>
          <p:spPr>
            <a:xfrm>
              <a:off x="868680" y="3794760"/>
              <a:ext cx="1975104" cy="329184"/>
            </a:xfrm>
            <a:prstGeom prst="rect">
              <a:avLst/>
            </a:prstGeom>
            <a:noFill/>
          </p:spPr>
          <p:txBody>
            <a:bodyPr wrap="square" lIns="0" tIns="0" rIns="0" bIns="0" anchor="t">
              <a:noAutofit/>
            </a:bodyPr>
            <a:lstStyle/>
            <a:p>
              <a:pPr algn="l">
                <a:spcAft>
                  <a:spcPts val="0"/>
                </a:spcAft>
              </a:pPr>
              <a:r>
                <a:rPr sz="1200" b="0" i="0">
                  <a:solidFill>
                    <a:srgbClr val="FFB547"/>
                  </a:solidFill>
                  <a:latin typeface="Consolas"/>
                </a:rPr>
                <a:t>05  </a:t>
              </a:r>
              <a:r>
                <a:rPr sz="1600" b="0" i="0">
                  <a:solidFill>
                    <a:srgbClr val="EAF0F6"/>
                  </a:solidFill>
                  <a:latin typeface="Segoe UI Semibold"/>
                </a:rPr>
                <a:t>Models</a:t>
              </a:r>
            </a:p>
          </p:txBody>
        </p:sp>
        <p:sp>
          <p:nvSpPr>
            <p:cNvPr id="27" name="TextBox 26"/>
            <p:cNvSpPr txBox="1"/>
            <p:nvPr/>
          </p:nvSpPr>
          <p:spPr>
            <a:xfrm>
              <a:off x="868680" y="4160520"/>
              <a:ext cx="1975104" cy="457200"/>
            </a:xfrm>
            <a:prstGeom prst="rect">
              <a:avLst/>
            </a:prstGeom>
            <a:noFill/>
          </p:spPr>
          <p:txBody>
            <a:bodyPr wrap="square" lIns="0" tIns="0" rIns="0" bIns="0" anchor="t">
              <a:noAutofit/>
            </a:bodyPr>
            <a:lstStyle/>
            <a:p>
              <a:pPr algn="l">
                <a:lnSpc>
                  <a:spcPct val="105000"/>
                </a:lnSpc>
                <a:spcAft>
                  <a:spcPts val="0"/>
                </a:spcAft>
              </a:pPr>
              <a:r>
                <a:rPr sz="1250" b="0" i="0">
                  <a:solidFill>
                    <a:srgbClr val="AAB6C3"/>
                  </a:solidFill>
                  <a:latin typeface="Segoe UI"/>
                </a:rPr>
                <a:t>LR · RF · XGBoost · LSTM · ensemble</a:t>
              </a:r>
            </a:p>
          </p:txBody>
        </p:sp>
        <p:sp>
          <p:nvSpPr>
            <p:cNvPr id="28" name="TextBox 27"/>
            <p:cNvSpPr txBox="1"/>
            <p:nvPr/>
          </p:nvSpPr>
          <p:spPr>
            <a:xfrm>
              <a:off x="868680" y="4617720"/>
              <a:ext cx="1975104" cy="219456"/>
            </a:xfrm>
            <a:prstGeom prst="rect">
              <a:avLst/>
            </a:prstGeom>
            <a:noFill/>
          </p:spPr>
          <p:txBody>
            <a:bodyPr wrap="square" lIns="0" tIns="0" rIns="0" bIns="0" anchor="t">
              <a:noAutofit/>
            </a:bodyPr>
            <a:lstStyle/>
            <a:p>
              <a:pPr algn="l">
                <a:spcAft>
                  <a:spcPts val="0"/>
                </a:spcAft>
              </a:pPr>
              <a:r>
                <a:rPr sz="1050" b="0" i="0">
                  <a:solidFill>
                    <a:srgbClr val="8291A2"/>
                  </a:solidFill>
                  <a:latin typeface="Consolas"/>
                </a:rPr>
                <a:t>models.py · lstm_model.py</a:t>
              </a:r>
            </a:p>
          </p:txBody>
        </p:sp>
      </p:grpSp>
      <p:grpSp>
        <p:nvGrpSpPr>
          <p:cNvPr id="29" name="node_6"/>
          <p:cNvGrpSpPr/>
          <p:nvPr/>
        </p:nvGrpSpPr>
        <p:grpSpPr>
          <a:xfrm>
            <a:off x="3460364" y="3611880"/>
            <a:ext cx="2432304" cy="1298448"/>
            <a:chOff x="3460364" y="3611880"/>
            <a:chExt cx="2432304" cy="1298448"/>
          </a:xfrm>
        </p:grpSpPr>
        <p:sp>
          <p:nvSpPr>
            <p:cNvPr id="30" name="node_6_bg"/>
            <p:cNvSpPr/>
            <p:nvPr/>
          </p:nvSpPr>
          <p:spPr>
            <a:xfrm>
              <a:off x="3460364" y="3611880"/>
              <a:ext cx="2432304" cy="1298448"/>
            </a:xfrm>
            <a:prstGeom prst="roundRect">
              <a:avLst>
                <a:gd name="adj" fmla="val 8450"/>
              </a:avLst>
            </a:prstGeom>
            <a:solidFill>
              <a:srgbClr val="111823">
                <a:alpha val="88000"/>
              </a:srgbClr>
            </a:solidFill>
            <a:ln w="9525">
              <a:solidFill>
                <a:srgbClr val="243245"/>
              </a:solidFill>
            </a:ln>
          </p:spPr>
          <p:txBody>
            <a:bodyPr lIns="0" tIns="0" rIns="0" bIns="0" rtlCol="0" anchor="ctr"/>
            <a:lstStyle/>
            <a:p>
              <a:pPr algn="ctr"/>
              <a:endParaRPr/>
            </a:p>
          </p:txBody>
        </p:sp>
        <p:sp>
          <p:nvSpPr>
            <p:cNvPr id="31" name="TextBox 30"/>
            <p:cNvSpPr txBox="1"/>
            <p:nvPr/>
          </p:nvSpPr>
          <p:spPr>
            <a:xfrm>
              <a:off x="3688964" y="3794760"/>
              <a:ext cx="1975104" cy="329184"/>
            </a:xfrm>
            <a:prstGeom prst="rect">
              <a:avLst/>
            </a:prstGeom>
            <a:noFill/>
          </p:spPr>
          <p:txBody>
            <a:bodyPr wrap="square" lIns="0" tIns="0" rIns="0" bIns="0" anchor="t">
              <a:noAutofit/>
            </a:bodyPr>
            <a:lstStyle/>
            <a:p>
              <a:pPr algn="l">
                <a:spcAft>
                  <a:spcPts val="0"/>
                </a:spcAft>
              </a:pPr>
              <a:r>
                <a:rPr sz="1200" b="0" i="0">
                  <a:solidFill>
                    <a:srgbClr val="FFB547"/>
                  </a:solidFill>
                  <a:latin typeface="Consolas"/>
                </a:rPr>
                <a:t>06  </a:t>
              </a:r>
              <a:r>
                <a:rPr sz="1600" b="0" i="0">
                  <a:solidFill>
                    <a:srgbClr val="EAF0F6"/>
                  </a:solidFill>
                  <a:latin typeface="Segoe UI Semibold"/>
                </a:rPr>
                <a:t>Signal rule</a:t>
              </a:r>
            </a:p>
          </p:txBody>
        </p:sp>
        <p:sp>
          <p:nvSpPr>
            <p:cNvPr id="32" name="TextBox 31"/>
            <p:cNvSpPr txBox="1"/>
            <p:nvPr/>
          </p:nvSpPr>
          <p:spPr>
            <a:xfrm>
              <a:off x="3688964" y="4160520"/>
              <a:ext cx="1975104" cy="457200"/>
            </a:xfrm>
            <a:prstGeom prst="rect">
              <a:avLst/>
            </a:prstGeom>
            <a:noFill/>
          </p:spPr>
          <p:txBody>
            <a:bodyPr wrap="square" lIns="0" tIns="0" rIns="0" bIns="0" anchor="t">
              <a:noAutofit/>
            </a:bodyPr>
            <a:lstStyle/>
            <a:p>
              <a:pPr algn="l">
                <a:lnSpc>
                  <a:spcPct val="105000"/>
                </a:lnSpc>
                <a:spcAft>
                  <a:spcPts val="0"/>
                </a:spcAft>
              </a:pPr>
              <a:r>
                <a:rPr sz="1250" b="0" i="0">
                  <a:solidFill>
                    <a:srgbClr val="AAB6C3"/>
                  </a:solidFill>
                  <a:latin typeface="Segoe UI"/>
                </a:rPr>
                <a:t>τ chosen on validation; walk-forward runner</a:t>
              </a:r>
            </a:p>
          </p:txBody>
        </p:sp>
        <p:sp>
          <p:nvSpPr>
            <p:cNvPr id="33" name="TextBox 32"/>
            <p:cNvSpPr txBox="1"/>
            <p:nvPr/>
          </p:nvSpPr>
          <p:spPr>
            <a:xfrm>
              <a:off x="3688964" y="4617720"/>
              <a:ext cx="1975104" cy="219456"/>
            </a:xfrm>
            <a:prstGeom prst="rect">
              <a:avLst/>
            </a:prstGeom>
            <a:noFill/>
          </p:spPr>
          <p:txBody>
            <a:bodyPr wrap="square" lIns="0" tIns="0" rIns="0" bIns="0" anchor="t">
              <a:noAutofit/>
            </a:bodyPr>
            <a:lstStyle/>
            <a:p>
              <a:pPr algn="l">
                <a:spcAft>
                  <a:spcPts val="0"/>
                </a:spcAft>
              </a:pPr>
              <a:r>
                <a:rPr sz="1050" b="0" i="0">
                  <a:solidFill>
                    <a:srgbClr val="8291A2"/>
                  </a:solidFill>
                  <a:latin typeface="Consolas"/>
                </a:rPr>
                <a:t>experiment.py</a:t>
              </a:r>
            </a:p>
          </p:txBody>
        </p:sp>
      </p:grpSp>
      <p:grpSp>
        <p:nvGrpSpPr>
          <p:cNvPr id="34" name="node_7"/>
          <p:cNvGrpSpPr/>
          <p:nvPr/>
        </p:nvGrpSpPr>
        <p:grpSpPr>
          <a:xfrm>
            <a:off x="6280648" y="3611880"/>
            <a:ext cx="2432304" cy="1298448"/>
            <a:chOff x="6280648" y="3611880"/>
            <a:chExt cx="2432304" cy="1298448"/>
          </a:xfrm>
        </p:grpSpPr>
        <p:sp>
          <p:nvSpPr>
            <p:cNvPr id="35" name="node_7_bg"/>
            <p:cNvSpPr/>
            <p:nvPr/>
          </p:nvSpPr>
          <p:spPr>
            <a:xfrm>
              <a:off x="6280648" y="3611880"/>
              <a:ext cx="2432304" cy="1298448"/>
            </a:xfrm>
            <a:prstGeom prst="roundRect">
              <a:avLst>
                <a:gd name="adj" fmla="val 8450"/>
              </a:avLst>
            </a:prstGeom>
            <a:solidFill>
              <a:srgbClr val="111823">
                <a:alpha val="88000"/>
              </a:srgbClr>
            </a:solidFill>
            <a:ln w="9525">
              <a:solidFill>
                <a:srgbClr val="243245"/>
              </a:solidFill>
            </a:ln>
          </p:spPr>
          <p:txBody>
            <a:bodyPr lIns="0" tIns="0" rIns="0" bIns="0" rtlCol="0" anchor="ctr"/>
            <a:lstStyle/>
            <a:p>
              <a:pPr algn="ctr"/>
              <a:endParaRPr/>
            </a:p>
          </p:txBody>
        </p:sp>
        <p:sp>
          <p:nvSpPr>
            <p:cNvPr id="36" name="TextBox 35"/>
            <p:cNvSpPr txBox="1"/>
            <p:nvPr/>
          </p:nvSpPr>
          <p:spPr>
            <a:xfrm>
              <a:off x="6509248" y="3794760"/>
              <a:ext cx="1975104" cy="329184"/>
            </a:xfrm>
            <a:prstGeom prst="rect">
              <a:avLst/>
            </a:prstGeom>
            <a:noFill/>
          </p:spPr>
          <p:txBody>
            <a:bodyPr wrap="square" lIns="0" tIns="0" rIns="0" bIns="0" anchor="t">
              <a:noAutofit/>
            </a:bodyPr>
            <a:lstStyle/>
            <a:p>
              <a:pPr algn="l">
                <a:spcAft>
                  <a:spcPts val="0"/>
                </a:spcAft>
              </a:pPr>
              <a:r>
                <a:rPr sz="1200" b="0" i="0">
                  <a:solidFill>
                    <a:srgbClr val="FFB547"/>
                  </a:solidFill>
                  <a:latin typeface="Consolas"/>
                </a:rPr>
                <a:t>07  </a:t>
              </a:r>
              <a:r>
                <a:rPr sz="1600" b="0" i="0">
                  <a:solidFill>
                    <a:srgbClr val="EAF0F6"/>
                  </a:solidFill>
                  <a:latin typeface="Segoe UI Semibold"/>
                </a:rPr>
                <a:t>Backtester</a:t>
              </a:r>
            </a:p>
          </p:txBody>
        </p:sp>
        <p:sp>
          <p:nvSpPr>
            <p:cNvPr id="37" name="TextBox 36"/>
            <p:cNvSpPr txBox="1"/>
            <p:nvPr/>
          </p:nvSpPr>
          <p:spPr>
            <a:xfrm>
              <a:off x="6509248" y="4160520"/>
              <a:ext cx="1975104" cy="457200"/>
            </a:xfrm>
            <a:prstGeom prst="rect">
              <a:avLst/>
            </a:prstGeom>
            <a:noFill/>
          </p:spPr>
          <p:txBody>
            <a:bodyPr wrap="square" lIns="0" tIns="0" rIns="0" bIns="0" anchor="t">
              <a:noAutofit/>
            </a:bodyPr>
            <a:lstStyle/>
            <a:p>
              <a:pPr algn="l">
                <a:lnSpc>
                  <a:spcPct val="105000"/>
                </a:lnSpc>
                <a:spcAft>
                  <a:spcPts val="0"/>
                </a:spcAft>
              </a:pPr>
              <a:r>
                <a:rPr sz="1250" b="0" i="0">
                  <a:solidFill>
                    <a:srgbClr val="AAB6C3"/>
                  </a:solidFill>
                  <a:latin typeface="Segoe UI"/>
                </a:rPr>
                <a:t>Next-open fills, 15 bps per unit turnover</a:t>
              </a:r>
            </a:p>
          </p:txBody>
        </p:sp>
        <p:sp>
          <p:nvSpPr>
            <p:cNvPr id="38" name="TextBox 37"/>
            <p:cNvSpPr txBox="1"/>
            <p:nvPr/>
          </p:nvSpPr>
          <p:spPr>
            <a:xfrm>
              <a:off x="6509248" y="4617720"/>
              <a:ext cx="1975104" cy="219456"/>
            </a:xfrm>
            <a:prstGeom prst="rect">
              <a:avLst/>
            </a:prstGeom>
            <a:noFill/>
          </p:spPr>
          <p:txBody>
            <a:bodyPr wrap="square" lIns="0" tIns="0" rIns="0" bIns="0" anchor="t">
              <a:noAutofit/>
            </a:bodyPr>
            <a:lstStyle/>
            <a:p>
              <a:pPr algn="l">
                <a:spcAft>
                  <a:spcPts val="0"/>
                </a:spcAft>
              </a:pPr>
              <a:r>
                <a:rPr sz="1050" b="0" i="0">
                  <a:solidFill>
                    <a:srgbClr val="8291A2"/>
                  </a:solidFill>
                  <a:latin typeface="Consolas"/>
                </a:rPr>
                <a:t>backtester.py</a:t>
              </a:r>
            </a:p>
          </p:txBody>
        </p:sp>
      </p:grpSp>
      <p:grpSp>
        <p:nvGrpSpPr>
          <p:cNvPr id="39" name="node_8"/>
          <p:cNvGrpSpPr/>
          <p:nvPr/>
        </p:nvGrpSpPr>
        <p:grpSpPr>
          <a:xfrm>
            <a:off x="9100932" y="3611880"/>
            <a:ext cx="2432304" cy="1298448"/>
            <a:chOff x="9100932" y="3611880"/>
            <a:chExt cx="2432304" cy="1298448"/>
          </a:xfrm>
        </p:grpSpPr>
        <p:sp>
          <p:nvSpPr>
            <p:cNvPr id="40" name="node_8_bg"/>
            <p:cNvSpPr/>
            <p:nvPr/>
          </p:nvSpPr>
          <p:spPr>
            <a:xfrm>
              <a:off x="9100932" y="3611880"/>
              <a:ext cx="2432304" cy="1298448"/>
            </a:xfrm>
            <a:prstGeom prst="roundRect">
              <a:avLst>
                <a:gd name="adj" fmla="val 8450"/>
              </a:avLst>
            </a:prstGeom>
            <a:solidFill>
              <a:srgbClr val="111823">
                <a:alpha val="88000"/>
              </a:srgbClr>
            </a:solidFill>
            <a:ln w="9525">
              <a:solidFill>
                <a:srgbClr val="243245"/>
              </a:solidFill>
            </a:ln>
          </p:spPr>
          <p:txBody>
            <a:bodyPr lIns="0" tIns="0" rIns="0" bIns="0" rtlCol="0" anchor="ctr"/>
            <a:lstStyle/>
            <a:p>
              <a:pPr algn="ctr"/>
              <a:endParaRPr/>
            </a:p>
          </p:txBody>
        </p:sp>
        <p:sp>
          <p:nvSpPr>
            <p:cNvPr id="41" name="TextBox 40"/>
            <p:cNvSpPr txBox="1"/>
            <p:nvPr/>
          </p:nvSpPr>
          <p:spPr>
            <a:xfrm>
              <a:off x="9329532" y="3794760"/>
              <a:ext cx="1975104" cy="329184"/>
            </a:xfrm>
            <a:prstGeom prst="rect">
              <a:avLst/>
            </a:prstGeom>
            <a:noFill/>
          </p:spPr>
          <p:txBody>
            <a:bodyPr wrap="square" lIns="0" tIns="0" rIns="0" bIns="0" anchor="t">
              <a:noAutofit/>
            </a:bodyPr>
            <a:lstStyle/>
            <a:p>
              <a:pPr algn="l">
                <a:spcAft>
                  <a:spcPts val="0"/>
                </a:spcAft>
              </a:pPr>
              <a:r>
                <a:rPr sz="1200" b="0" i="0">
                  <a:solidFill>
                    <a:srgbClr val="FFB547"/>
                  </a:solidFill>
                  <a:latin typeface="Consolas"/>
                </a:rPr>
                <a:t>08  </a:t>
              </a:r>
              <a:r>
                <a:rPr sz="1600" b="0" i="0">
                  <a:solidFill>
                    <a:srgbClr val="EAF0F6"/>
                  </a:solidFill>
                  <a:latin typeface="Segoe UI Semibold"/>
                </a:rPr>
                <a:t>Evaluation</a:t>
              </a:r>
            </a:p>
          </p:txBody>
        </p:sp>
        <p:sp>
          <p:nvSpPr>
            <p:cNvPr id="42" name="TextBox 41"/>
            <p:cNvSpPr txBox="1"/>
            <p:nvPr/>
          </p:nvSpPr>
          <p:spPr>
            <a:xfrm>
              <a:off x="9329532" y="4160520"/>
              <a:ext cx="1975104" cy="457200"/>
            </a:xfrm>
            <a:prstGeom prst="rect">
              <a:avLst/>
            </a:prstGeom>
            <a:noFill/>
          </p:spPr>
          <p:txBody>
            <a:bodyPr wrap="square" lIns="0" tIns="0" rIns="0" bIns="0" anchor="t">
              <a:noAutofit/>
            </a:bodyPr>
            <a:lstStyle/>
            <a:p>
              <a:pPr algn="l">
                <a:lnSpc>
                  <a:spcPct val="105000"/>
                </a:lnSpc>
                <a:spcAft>
                  <a:spcPts val="0"/>
                </a:spcAft>
              </a:pPr>
              <a:r>
                <a:rPr sz="1250" b="0" i="0">
                  <a:solidFill>
                    <a:srgbClr val="AAB6C3"/>
                  </a:solidFill>
                  <a:latin typeface="Segoe UI"/>
                </a:rPr>
                <a:t>Metrics, bootstrap CIs, calibration</a:t>
              </a:r>
            </a:p>
          </p:txBody>
        </p:sp>
        <p:sp>
          <p:nvSpPr>
            <p:cNvPr id="43" name="TextBox 42"/>
            <p:cNvSpPr txBox="1"/>
            <p:nvPr/>
          </p:nvSpPr>
          <p:spPr>
            <a:xfrm>
              <a:off x="9329532" y="4617720"/>
              <a:ext cx="1975104" cy="219456"/>
            </a:xfrm>
            <a:prstGeom prst="rect">
              <a:avLst/>
            </a:prstGeom>
            <a:noFill/>
          </p:spPr>
          <p:txBody>
            <a:bodyPr wrap="square" lIns="0" tIns="0" rIns="0" bIns="0" anchor="t">
              <a:noAutofit/>
            </a:bodyPr>
            <a:lstStyle/>
            <a:p>
              <a:pPr algn="l">
                <a:spcAft>
                  <a:spcPts val="0"/>
                </a:spcAft>
              </a:pPr>
              <a:r>
                <a:rPr sz="1050" b="0" i="0">
                  <a:solidFill>
                    <a:srgbClr val="8291A2"/>
                  </a:solidFill>
                  <a:latin typeface="Consolas"/>
                </a:rPr>
                <a:t>evaluation.py</a:t>
              </a:r>
            </a:p>
          </p:txBody>
        </p:sp>
      </p:grpSp>
      <p:cxnSp>
        <p:nvCxnSpPr>
          <p:cNvPr id="44" name="arr_1"/>
          <p:cNvCxnSpPr/>
          <p:nvPr/>
        </p:nvCxnSpPr>
        <p:spPr>
          <a:xfrm>
            <a:off x="3127248" y="2432304"/>
            <a:ext cx="278252" cy="0"/>
          </a:xfrm>
          <a:prstGeom prst="line">
            <a:avLst/>
          </a:prstGeom>
          <a:ln w="19050">
            <a:solidFill>
              <a:srgbClr val="3A4D63"/>
            </a:solidFill>
            <a:tailEnd type="triangle" w="med" len="med"/>
          </a:ln>
        </p:spPr>
      </p:cxnSp>
      <p:cxnSp>
        <p:nvCxnSpPr>
          <p:cNvPr id="45" name="arr_2"/>
          <p:cNvCxnSpPr/>
          <p:nvPr/>
        </p:nvCxnSpPr>
        <p:spPr>
          <a:xfrm>
            <a:off x="5947532" y="2432304"/>
            <a:ext cx="278252" cy="0"/>
          </a:xfrm>
          <a:prstGeom prst="line">
            <a:avLst/>
          </a:prstGeom>
          <a:ln w="19050">
            <a:solidFill>
              <a:srgbClr val="3A4D63"/>
            </a:solidFill>
            <a:tailEnd type="triangle" w="med" len="med"/>
          </a:ln>
        </p:spPr>
      </p:cxnSp>
      <p:cxnSp>
        <p:nvCxnSpPr>
          <p:cNvPr id="46" name="arr_3"/>
          <p:cNvCxnSpPr/>
          <p:nvPr/>
        </p:nvCxnSpPr>
        <p:spPr>
          <a:xfrm>
            <a:off x="8767816" y="2432304"/>
            <a:ext cx="278252" cy="0"/>
          </a:xfrm>
          <a:prstGeom prst="line">
            <a:avLst/>
          </a:prstGeom>
          <a:ln w="19050">
            <a:solidFill>
              <a:srgbClr val="3A4D63"/>
            </a:solidFill>
            <a:tailEnd type="triangle" w="med" len="med"/>
          </a:ln>
        </p:spPr>
      </p:cxnSp>
      <p:cxnSp>
        <p:nvCxnSpPr>
          <p:cNvPr id="47" name="arr_5"/>
          <p:cNvCxnSpPr/>
          <p:nvPr/>
        </p:nvCxnSpPr>
        <p:spPr>
          <a:xfrm>
            <a:off x="3127248" y="4261104"/>
            <a:ext cx="278252" cy="0"/>
          </a:xfrm>
          <a:prstGeom prst="line">
            <a:avLst/>
          </a:prstGeom>
          <a:ln w="19050">
            <a:solidFill>
              <a:srgbClr val="3A4D63"/>
            </a:solidFill>
            <a:tailEnd type="triangle" w="med" len="med"/>
          </a:ln>
        </p:spPr>
      </p:cxnSp>
      <p:cxnSp>
        <p:nvCxnSpPr>
          <p:cNvPr id="48" name="arr_6"/>
          <p:cNvCxnSpPr/>
          <p:nvPr/>
        </p:nvCxnSpPr>
        <p:spPr>
          <a:xfrm>
            <a:off x="5947532" y="4261104"/>
            <a:ext cx="278252" cy="0"/>
          </a:xfrm>
          <a:prstGeom prst="line">
            <a:avLst/>
          </a:prstGeom>
          <a:ln w="19050">
            <a:solidFill>
              <a:srgbClr val="3A4D63"/>
            </a:solidFill>
            <a:tailEnd type="triangle" w="med" len="med"/>
          </a:ln>
        </p:spPr>
      </p:cxnSp>
      <p:cxnSp>
        <p:nvCxnSpPr>
          <p:cNvPr id="49" name="arr_7"/>
          <p:cNvCxnSpPr/>
          <p:nvPr/>
        </p:nvCxnSpPr>
        <p:spPr>
          <a:xfrm>
            <a:off x="8767816" y="4261104"/>
            <a:ext cx="278252" cy="0"/>
          </a:xfrm>
          <a:prstGeom prst="line">
            <a:avLst/>
          </a:prstGeom>
          <a:ln w="19050">
            <a:solidFill>
              <a:srgbClr val="3A4D63"/>
            </a:solidFill>
            <a:tailEnd type="triangle" w="med" len="med"/>
          </a:ln>
        </p:spPr>
      </p:cxnSp>
      <p:sp>
        <p:nvSpPr>
          <p:cNvPr id="50" name="ret"/>
          <p:cNvSpPr/>
          <p:nvPr/>
        </p:nvSpPr>
        <p:spPr>
          <a:xfrm>
            <a:off x="1856232" y="3118104"/>
            <a:ext cx="8460852" cy="457200"/>
          </a:xfrm>
          <a:custGeom>
            <a:avLst/>
            <a:gdLst/>
            <a:ahLst/>
            <a:cxnLst/>
            <a:rect l="l" t="t" r="r" b="b"/>
            <a:pathLst>
              <a:path w="8460852" h="457200">
                <a:moveTo>
                  <a:pt x="8460852" y="0"/>
                </a:moveTo>
                <a:lnTo>
                  <a:pt x="8460852" y="228600"/>
                </a:lnTo>
                <a:lnTo>
                  <a:pt x="0" y="228600"/>
                </a:lnTo>
                <a:lnTo>
                  <a:pt x="0" y="457200"/>
                </a:lnTo>
              </a:path>
            </a:pathLst>
          </a:custGeom>
          <a:noFill/>
          <a:ln w="19050" cap="rnd">
            <a:solidFill>
              <a:srgbClr val="3A4D63"/>
            </a:solidFill>
            <a:round/>
            <a:tailEnd type="triangle" w="med" len="med"/>
          </a:ln>
        </p:spPr>
        <p:txBody>
          <a:bodyPr rtlCol="0" anchor="ctr"/>
          <a:lstStyle/>
          <a:p>
            <a:pPr algn="ctr"/>
            <a:endParaRPr/>
          </a:p>
        </p:txBody>
      </p:sp>
      <p:cxnSp>
        <p:nvCxnSpPr>
          <p:cNvPr id="51" name="down"/>
          <p:cNvCxnSpPr/>
          <p:nvPr/>
        </p:nvCxnSpPr>
        <p:spPr>
          <a:xfrm>
            <a:off x="10317084" y="4946904"/>
            <a:ext cx="0" cy="338328"/>
          </a:xfrm>
          <a:prstGeom prst="line">
            <a:avLst/>
          </a:prstGeom>
          <a:ln w="19050">
            <a:solidFill>
              <a:srgbClr val="3A4D63"/>
            </a:solidFill>
            <a:tailEnd type="triangle" w="med" len="med"/>
          </a:ln>
        </p:spPr>
      </p:cxnSp>
      <p:grpSp>
        <p:nvGrpSpPr>
          <p:cNvPr id="52" name="outputs"/>
          <p:cNvGrpSpPr/>
          <p:nvPr/>
        </p:nvGrpSpPr>
        <p:grpSpPr>
          <a:xfrm>
            <a:off x="640080" y="5321808"/>
            <a:ext cx="10911535" cy="603504"/>
            <a:chOff x="640080" y="5321808"/>
            <a:chExt cx="10911535" cy="603504"/>
          </a:xfrm>
        </p:grpSpPr>
        <p:sp>
          <p:nvSpPr>
            <p:cNvPr id="53" name="outputs_bg"/>
            <p:cNvSpPr/>
            <p:nvPr/>
          </p:nvSpPr>
          <p:spPr>
            <a:xfrm>
              <a:off x="640080" y="5321808"/>
              <a:ext cx="10911535" cy="603504"/>
            </a:xfrm>
            <a:prstGeom prst="roundRect">
              <a:avLst>
                <a:gd name="adj" fmla="val 18181"/>
              </a:avLst>
            </a:prstGeom>
            <a:solidFill>
              <a:srgbClr val="172231">
                <a:alpha val="88000"/>
              </a:srgbClr>
            </a:solidFill>
            <a:ln w="9525">
              <a:solidFill>
                <a:srgbClr val="243245"/>
              </a:solidFill>
            </a:ln>
          </p:spPr>
          <p:txBody>
            <a:bodyPr lIns="0" tIns="0" rIns="0" bIns="0" rtlCol="0" anchor="ctr"/>
            <a:lstStyle/>
            <a:p>
              <a:pPr algn="ctr"/>
              <a:endParaRPr/>
            </a:p>
          </p:txBody>
        </p:sp>
        <p:sp>
          <p:nvSpPr>
            <p:cNvPr id="54" name="TextBox 53"/>
            <p:cNvSpPr txBox="1"/>
            <p:nvPr/>
          </p:nvSpPr>
          <p:spPr>
            <a:xfrm>
              <a:off x="914400" y="5321808"/>
              <a:ext cx="10362895" cy="603504"/>
            </a:xfrm>
            <a:prstGeom prst="rect">
              <a:avLst/>
            </a:prstGeom>
            <a:noFill/>
          </p:spPr>
          <p:txBody>
            <a:bodyPr wrap="square" lIns="0" tIns="0" rIns="0" bIns="0" anchor="ctr">
              <a:noAutofit/>
            </a:bodyPr>
            <a:lstStyle/>
            <a:p>
              <a:pPr algn="l">
                <a:spcAft>
                  <a:spcPts val="0"/>
                </a:spcAft>
              </a:pPr>
              <a:r>
                <a:rPr sz="1200" b="0" i="0">
                  <a:solidFill>
                    <a:srgbClr val="FFB547"/>
                  </a:solidFill>
                  <a:latin typeface="Consolas"/>
                </a:rPr>
                <a:t>OUTPUTS    </a:t>
              </a:r>
              <a:r>
                <a:rPr sz="1400" b="0" i="0">
                  <a:solidFill>
                    <a:srgbClr val="EAF0F6"/>
                  </a:solidFill>
                  <a:latin typeface="Segoe UI"/>
                </a:rPr>
                <a:t>result tables · 46 figures · experiment report · IEEE report · interactive dashboard</a:t>
              </a:r>
              <a:r>
                <a:rPr sz="1100" b="0" i="0">
                  <a:solidFill>
                    <a:srgbClr val="8291A2"/>
                  </a:solidFill>
                  <a:latin typeface="Consolas"/>
                </a:rPr>
                <a:t>      reporting.py · report/ · app/</a:t>
              </a: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fill="hold"/>
                                        <p:tgtEl>
                                          <p:spTgt spid="4"/>
                                        </p:tgtEl>
                                        <p:attrNameLst>
                                          <p:attrName>ppt_x</p:attrName>
                                        </p:attrNameLst>
                                      </p:cBhvr>
                                      <p:tavLst>
                                        <p:tav tm="0">
                                          <p:val>
                                            <p:strVal val="#ppt_x"/>
                                          </p:val>
                                        </p:tav>
                                        <p:tav tm="100000">
                                          <p:val>
                                            <p:strVal val="#ppt_x"/>
                                          </p:val>
                                        </p:tav>
                                      </p:tavLst>
                                    </p:anim>
                                    <p:anim calcmode="lin" valueType="num">
                                      <p:cBhvr>
                                        <p:cTn id="9" dur="4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0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450"/>
                                        <p:tgtEl>
                                          <p:spTgt spid="44"/>
                                        </p:tgtEl>
                                      </p:cBhvr>
                                    </p:animEffect>
                                    <p:anim calcmode="lin" valueType="num">
                                      <p:cBhvr>
                                        <p:cTn id="13" dur="450" fill="hold"/>
                                        <p:tgtEl>
                                          <p:spTgt spid="44"/>
                                        </p:tgtEl>
                                        <p:attrNameLst>
                                          <p:attrName>ppt_x</p:attrName>
                                        </p:attrNameLst>
                                      </p:cBhvr>
                                      <p:tavLst>
                                        <p:tav tm="0">
                                          <p:val>
                                            <p:strVal val="#ppt_x"/>
                                          </p:val>
                                        </p:tav>
                                        <p:tav tm="100000">
                                          <p:val>
                                            <p:strVal val="#ppt_x"/>
                                          </p:val>
                                        </p:tav>
                                      </p:tavLst>
                                    </p:anim>
                                    <p:anim calcmode="lin" valueType="num">
                                      <p:cBhvr>
                                        <p:cTn id="14" dur="450" fill="hold"/>
                                        <p:tgtEl>
                                          <p:spTgt spid="4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anim calcmode="lin" valueType="num">
                                      <p:cBhvr>
                                        <p:cTn id="18" dur="450" fill="hold"/>
                                        <p:tgtEl>
                                          <p:spTgt spid="9"/>
                                        </p:tgtEl>
                                        <p:attrNameLst>
                                          <p:attrName>ppt_x</p:attrName>
                                        </p:attrNameLst>
                                      </p:cBhvr>
                                      <p:tavLst>
                                        <p:tav tm="0">
                                          <p:val>
                                            <p:strVal val="#ppt_x"/>
                                          </p:val>
                                        </p:tav>
                                        <p:tav tm="100000">
                                          <p:val>
                                            <p:strVal val="#ppt_x"/>
                                          </p:val>
                                        </p:tav>
                                      </p:tavLst>
                                    </p:anim>
                                    <p:anim calcmode="lin" valueType="num">
                                      <p:cBhvr>
                                        <p:cTn id="19" dur="45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0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450"/>
                                        <p:tgtEl>
                                          <p:spTgt spid="45"/>
                                        </p:tgtEl>
                                      </p:cBhvr>
                                    </p:animEffect>
                                    <p:anim calcmode="lin" valueType="num">
                                      <p:cBhvr>
                                        <p:cTn id="23" dur="450" fill="hold"/>
                                        <p:tgtEl>
                                          <p:spTgt spid="45"/>
                                        </p:tgtEl>
                                        <p:attrNameLst>
                                          <p:attrName>ppt_x</p:attrName>
                                        </p:attrNameLst>
                                      </p:cBhvr>
                                      <p:tavLst>
                                        <p:tav tm="0">
                                          <p:val>
                                            <p:strVal val="#ppt_x"/>
                                          </p:val>
                                        </p:tav>
                                        <p:tav tm="100000">
                                          <p:val>
                                            <p:strVal val="#ppt_x"/>
                                          </p:val>
                                        </p:tav>
                                      </p:tavLst>
                                    </p:anim>
                                    <p:anim calcmode="lin" valueType="num">
                                      <p:cBhvr>
                                        <p:cTn id="24" dur="450" fill="hold"/>
                                        <p:tgtEl>
                                          <p:spTgt spid="4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40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anim calcmode="lin" valueType="num">
                                      <p:cBhvr>
                                        <p:cTn id="28" dur="450" fill="hold"/>
                                        <p:tgtEl>
                                          <p:spTgt spid="14"/>
                                        </p:tgtEl>
                                        <p:attrNameLst>
                                          <p:attrName>ppt_x</p:attrName>
                                        </p:attrNameLst>
                                      </p:cBhvr>
                                      <p:tavLst>
                                        <p:tav tm="0">
                                          <p:val>
                                            <p:strVal val="#ppt_x"/>
                                          </p:val>
                                        </p:tav>
                                        <p:tav tm="100000">
                                          <p:val>
                                            <p:strVal val="#ppt_x"/>
                                          </p:val>
                                        </p:tav>
                                      </p:tavLst>
                                    </p:anim>
                                    <p:anim calcmode="lin" valueType="num">
                                      <p:cBhvr>
                                        <p:cTn id="29" dur="45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500"/>
                                  </p:stCondLst>
                                  <p:childTnLst>
                                    <p:set>
                                      <p:cBhvr>
                                        <p:cTn id="31" dur="1" fill="hold">
                                          <p:stCondLst>
                                            <p:cond delay="0"/>
                                          </p:stCondLst>
                                        </p:cTn>
                                        <p:tgtEl>
                                          <p:spTgt spid="46"/>
                                        </p:tgtEl>
                                        <p:attrNameLst>
                                          <p:attrName>style.visibility</p:attrName>
                                        </p:attrNameLst>
                                      </p:cBhvr>
                                      <p:to>
                                        <p:strVal val="visible"/>
                                      </p:to>
                                    </p:set>
                                    <p:animEffect transition="in" filter="fade">
                                      <p:cBhvr>
                                        <p:cTn id="32" dur="450"/>
                                        <p:tgtEl>
                                          <p:spTgt spid="46"/>
                                        </p:tgtEl>
                                      </p:cBhvr>
                                    </p:animEffect>
                                    <p:anim calcmode="lin" valueType="num">
                                      <p:cBhvr>
                                        <p:cTn id="33" dur="450" fill="hold"/>
                                        <p:tgtEl>
                                          <p:spTgt spid="46"/>
                                        </p:tgtEl>
                                        <p:attrNameLst>
                                          <p:attrName>ppt_x</p:attrName>
                                        </p:attrNameLst>
                                      </p:cBhvr>
                                      <p:tavLst>
                                        <p:tav tm="0">
                                          <p:val>
                                            <p:strVal val="#ppt_x"/>
                                          </p:val>
                                        </p:tav>
                                        <p:tav tm="100000">
                                          <p:val>
                                            <p:strVal val="#ppt_x"/>
                                          </p:val>
                                        </p:tav>
                                      </p:tavLst>
                                    </p:anim>
                                    <p:anim calcmode="lin" valueType="num">
                                      <p:cBhvr>
                                        <p:cTn id="34" dur="450" fill="hold"/>
                                        <p:tgtEl>
                                          <p:spTgt spid="46"/>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60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50"/>
                                        <p:tgtEl>
                                          <p:spTgt spid="19"/>
                                        </p:tgtEl>
                                      </p:cBhvr>
                                    </p:animEffect>
                                    <p:anim calcmode="lin" valueType="num">
                                      <p:cBhvr>
                                        <p:cTn id="38" dur="450" fill="hold"/>
                                        <p:tgtEl>
                                          <p:spTgt spid="19"/>
                                        </p:tgtEl>
                                        <p:attrNameLst>
                                          <p:attrName>ppt_x</p:attrName>
                                        </p:attrNameLst>
                                      </p:cBhvr>
                                      <p:tavLst>
                                        <p:tav tm="0">
                                          <p:val>
                                            <p:strVal val="#ppt_x"/>
                                          </p:val>
                                        </p:tav>
                                        <p:tav tm="100000">
                                          <p:val>
                                            <p:strVal val="#ppt_x"/>
                                          </p:val>
                                        </p:tav>
                                      </p:tavLst>
                                    </p:anim>
                                    <p:anim calcmode="lin" valueType="num">
                                      <p:cBhvr>
                                        <p:cTn id="39" dur="45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fade">
                                      <p:cBhvr>
                                        <p:cTn id="44" dur="450"/>
                                        <p:tgtEl>
                                          <p:spTgt spid="50"/>
                                        </p:tgtEl>
                                      </p:cBhvr>
                                    </p:animEffect>
                                    <p:anim calcmode="lin" valueType="num">
                                      <p:cBhvr>
                                        <p:cTn id="45" dur="450" fill="hold"/>
                                        <p:tgtEl>
                                          <p:spTgt spid="50"/>
                                        </p:tgtEl>
                                        <p:attrNameLst>
                                          <p:attrName>ppt_x</p:attrName>
                                        </p:attrNameLst>
                                      </p:cBhvr>
                                      <p:tavLst>
                                        <p:tav tm="0">
                                          <p:val>
                                            <p:strVal val="#ppt_x"/>
                                          </p:val>
                                        </p:tav>
                                        <p:tav tm="100000">
                                          <p:val>
                                            <p:strVal val="#ppt_x"/>
                                          </p:val>
                                        </p:tav>
                                      </p:tavLst>
                                    </p:anim>
                                    <p:anim calcmode="lin" valueType="num">
                                      <p:cBhvr>
                                        <p:cTn id="46" dur="450" fill="hold"/>
                                        <p:tgtEl>
                                          <p:spTgt spid="50"/>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1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50"/>
                                        <p:tgtEl>
                                          <p:spTgt spid="24"/>
                                        </p:tgtEl>
                                      </p:cBhvr>
                                    </p:animEffect>
                                    <p:anim calcmode="lin" valueType="num">
                                      <p:cBhvr>
                                        <p:cTn id="50" dur="450" fill="hold"/>
                                        <p:tgtEl>
                                          <p:spTgt spid="24"/>
                                        </p:tgtEl>
                                        <p:attrNameLst>
                                          <p:attrName>ppt_x</p:attrName>
                                        </p:attrNameLst>
                                      </p:cBhvr>
                                      <p:tavLst>
                                        <p:tav tm="0">
                                          <p:val>
                                            <p:strVal val="#ppt_x"/>
                                          </p:val>
                                        </p:tav>
                                        <p:tav tm="100000">
                                          <p:val>
                                            <p:strVal val="#ppt_x"/>
                                          </p:val>
                                        </p:tav>
                                      </p:tavLst>
                                    </p:anim>
                                    <p:anim calcmode="lin" valueType="num">
                                      <p:cBhvr>
                                        <p:cTn id="51" dur="450" fill="hold"/>
                                        <p:tgtEl>
                                          <p:spTgt spid="24"/>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200"/>
                                  </p:stCondLst>
                                  <p:childTnLst>
                                    <p:set>
                                      <p:cBhvr>
                                        <p:cTn id="53" dur="1" fill="hold">
                                          <p:stCondLst>
                                            <p:cond delay="0"/>
                                          </p:stCondLst>
                                        </p:cTn>
                                        <p:tgtEl>
                                          <p:spTgt spid="47"/>
                                        </p:tgtEl>
                                        <p:attrNameLst>
                                          <p:attrName>style.visibility</p:attrName>
                                        </p:attrNameLst>
                                      </p:cBhvr>
                                      <p:to>
                                        <p:strVal val="visible"/>
                                      </p:to>
                                    </p:set>
                                    <p:animEffect transition="in" filter="fade">
                                      <p:cBhvr>
                                        <p:cTn id="54" dur="450"/>
                                        <p:tgtEl>
                                          <p:spTgt spid="47"/>
                                        </p:tgtEl>
                                      </p:cBhvr>
                                    </p:animEffect>
                                    <p:anim calcmode="lin" valueType="num">
                                      <p:cBhvr>
                                        <p:cTn id="55" dur="450" fill="hold"/>
                                        <p:tgtEl>
                                          <p:spTgt spid="47"/>
                                        </p:tgtEl>
                                        <p:attrNameLst>
                                          <p:attrName>ppt_x</p:attrName>
                                        </p:attrNameLst>
                                      </p:cBhvr>
                                      <p:tavLst>
                                        <p:tav tm="0">
                                          <p:val>
                                            <p:strVal val="#ppt_x"/>
                                          </p:val>
                                        </p:tav>
                                        <p:tav tm="100000">
                                          <p:val>
                                            <p:strVal val="#ppt_x"/>
                                          </p:val>
                                        </p:tav>
                                      </p:tavLst>
                                    </p:anim>
                                    <p:anim calcmode="lin" valueType="num">
                                      <p:cBhvr>
                                        <p:cTn id="56" dur="450" fill="hold"/>
                                        <p:tgtEl>
                                          <p:spTgt spid="47"/>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30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450"/>
                                        <p:tgtEl>
                                          <p:spTgt spid="29"/>
                                        </p:tgtEl>
                                      </p:cBhvr>
                                    </p:animEffect>
                                    <p:anim calcmode="lin" valueType="num">
                                      <p:cBhvr>
                                        <p:cTn id="60" dur="450" fill="hold"/>
                                        <p:tgtEl>
                                          <p:spTgt spid="29"/>
                                        </p:tgtEl>
                                        <p:attrNameLst>
                                          <p:attrName>ppt_x</p:attrName>
                                        </p:attrNameLst>
                                      </p:cBhvr>
                                      <p:tavLst>
                                        <p:tav tm="0">
                                          <p:val>
                                            <p:strVal val="#ppt_x"/>
                                          </p:val>
                                        </p:tav>
                                        <p:tav tm="100000">
                                          <p:val>
                                            <p:strVal val="#ppt_x"/>
                                          </p:val>
                                        </p:tav>
                                      </p:tavLst>
                                    </p:anim>
                                    <p:anim calcmode="lin" valueType="num">
                                      <p:cBhvr>
                                        <p:cTn id="61" dur="450" fill="hold"/>
                                        <p:tgtEl>
                                          <p:spTgt spid="29"/>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40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50"/>
                                        <p:tgtEl>
                                          <p:spTgt spid="48"/>
                                        </p:tgtEl>
                                      </p:cBhvr>
                                    </p:animEffect>
                                    <p:anim calcmode="lin" valueType="num">
                                      <p:cBhvr>
                                        <p:cTn id="65" dur="450" fill="hold"/>
                                        <p:tgtEl>
                                          <p:spTgt spid="48"/>
                                        </p:tgtEl>
                                        <p:attrNameLst>
                                          <p:attrName>ppt_x</p:attrName>
                                        </p:attrNameLst>
                                      </p:cBhvr>
                                      <p:tavLst>
                                        <p:tav tm="0">
                                          <p:val>
                                            <p:strVal val="#ppt_x"/>
                                          </p:val>
                                        </p:tav>
                                        <p:tav tm="100000">
                                          <p:val>
                                            <p:strVal val="#ppt_x"/>
                                          </p:val>
                                        </p:tav>
                                      </p:tavLst>
                                    </p:anim>
                                    <p:anim calcmode="lin" valueType="num">
                                      <p:cBhvr>
                                        <p:cTn id="66" dur="450" fill="hold"/>
                                        <p:tgtEl>
                                          <p:spTgt spid="48"/>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50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50"/>
                                        <p:tgtEl>
                                          <p:spTgt spid="34"/>
                                        </p:tgtEl>
                                      </p:cBhvr>
                                    </p:animEffect>
                                    <p:anim calcmode="lin" valueType="num">
                                      <p:cBhvr>
                                        <p:cTn id="70" dur="450" fill="hold"/>
                                        <p:tgtEl>
                                          <p:spTgt spid="34"/>
                                        </p:tgtEl>
                                        <p:attrNameLst>
                                          <p:attrName>ppt_x</p:attrName>
                                        </p:attrNameLst>
                                      </p:cBhvr>
                                      <p:tavLst>
                                        <p:tav tm="0">
                                          <p:val>
                                            <p:strVal val="#ppt_x"/>
                                          </p:val>
                                        </p:tav>
                                        <p:tav tm="100000">
                                          <p:val>
                                            <p:strVal val="#ppt_x"/>
                                          </p:val>
                                        </p:tav>
                                      </p:tavLst>
                                    </p:anim>
                                    <p:anim calcmode="lin" valueType="num">
                                      <p:cBhvr>
                                        <p:cTn id="71" dur="450" fill="hold"/>
                                        <p:tgtEl>
                                          <p:spTgt spid="34"/>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600"/>
                                  </p:stCondLst>
                                  <p:childTnLst>
                                    <p:set>
                                      <p:cBhvr>
                                        <p:cTn id="73" dur="1" fill="hold">
                                          <p:stCondLst>
                                            <p:cond delay="0"/>
                                          </p:stCondLst>
                                        </p:cTn>
                                        <p:tgtEl>
                                          <p:spTgt spid="49"/>
                                        </p:tgtEl>
                                        <p:attrNameLst>
                                          <p:attrName>style.visibility</p:attrName>
                                        </p:attrNameLst>
                                      </p:cBhvr>
                                      <p:to>
                                        <p:strVal val="visible"/>
                                      </p:to>
                                    </p:set>
                                    <p:animEffect transition="in" filter="fade">
                                      <p:cBhvr>
                                        <p:cTn id="74" dur="450"/>
                                        <p:tgtEl>
                                          <p:spTgt spid="49"/>
                                        </p:tgtEl>
                                      </p:cBhvr>
                                    </p:animEffect>
                                    <p:anim calcmode="lin" valueType="num">
                                      <p:cBhvr>
                                        <p:cTn id="75" dur="450" fill="hold"/>
                                        <p:tgtEl>
                                          <p:spTgt spid="49"/>
                                        </p:tgtEl>
                                        <p:attrNameLst>
                                          <p:attrName>ppt_x</p:attrName>
                                        </p:attrNameLst>
                                      </p:cBhvr>
                                      <p:tavLst>
                                        <p:tav tm="0">
                                          <p:val>
                                            <p:strVal val="#ppt_x"/>
                                          </p:val>
                                        </p:tav>
                                        <p:tav tm="100000">
                                          <p:val>
                                            <p:strVal val="#ppt_x"/>
                                          </p:val>
                                        </p:tav>
                                      </p:tavLst>
                                    </p:anim>
                                    <p:anim calcmode="lin" valueType="num">
                                      <p:cBhvr>
                                        <p:cTn id="76" dur="450" fill="hold"/>
                                        <p:tgtEl>
                                          <p:spTgt spid="49"/>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700"/>
                                  </p:stCondLst>
                                  <p:childTnLst>
                                    <p:set>
                                      <p:cBhvr>
                                        <p:cTn id="78" dur="1" fill="hold">
                                          <p:stCondLst>
                                            <p:cond delay="0"/>
                                          </p:stCondLst>
                                        </p:cTn>
                                        <p:tgtEl>
                                          <p:spTgt spid="39"/>
                                        </p:tgtEl>
                                        <p:attrNameLst>
                                          <p:attrName>style.visibility</p:attrName>
                                        </p:attrNameLst>
                                      </p:cBhvr>
                                      <p:to>
                                        <p:strVal val="visible"/>
                                      </p:to>
                                    </p:set>
                                    <p:animEffect transition="in" filter="fade">
                                      <p:cBhvr>
                                        <p:cTn id="79" dur="450"/>
                                        <p:tgtEl>
                                          <p:spTgt spid="39"/>
                                        </p:tgtEl>
                                      </p:cBhvr>
                                    </p:animEffect>
                                    <p:anim calcmode="lin" valueType="num">
                                      <p:cBhvr>
                                        <p:cTn id="80" dur="450" fill="hold"/>
                                        <p:tgtEl>
                                          <p:spTgt spid="39"/>
                                        </p:tgtEl>
                                        <p:attrNameLst>
                                          <p:attrName>ppt_x</p:attrName>
                                        </p:attrNameLst>
                                      </p:cBhvr>
                                      <p:tavLst>
                                        <p:tav tm="0">
                                          <p:val>
                                            <p:strVal val="#ppt_x"/>
                                          </p:val>
                                        </p:tav>
                                        <p:tav tm="100000">
                                          <p:val>
                                            <p:strVal val="#ppt_x"/>
                                          </p:val>
                                        </p:tav>
                                      </p:tavLst>
                                    </p:anim>
                                    <p:anim calcmode="lin" valueType="num">
                                      <p:cBhvr>
                                        <p:cTn id="81" dur="45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nodeType="clickEffect">
                                  <p:stCondLst>
                                    <p:cond delay="0"/>
                                  </p:stCondLst>
                                  <p:childTnLst>
                                    <p:set>
                                      <p:cBhvr>
                                        <p:cTn id="85" dur="1" fill="hold">
                                          <p:stCondLst>
                                            <p:cond delay="0"/>
                                          </p:stCondLst>
                                        </p:cTn>
                                        <p:tgtEl>
                                          <p:spTgt spid="51"/>
                                        </p:tgtEl>
                                        <p:attrNameLst>
                                          <p:attrName>style.visibility</p:attrName>
                                        </p:attrNameLst>
                                      </p:cBhvr>
                                      <p:to>
                                        <p:strVal val="visible"/>
                                      </p:to>
                                    </p:set>
                                    <p:animEffect transition="in" filter="fade">
                                      <p:cBhvr>
                                        <p:cTn id="86" dur="450"/>
                                        <p:tgtEl>
                                          <p:spTgt spid="51"/>
                                        </p:tgtEl>
                                      </p:cBhvr>
                                    </p:animEffect>
                                    <p:anim calcmode="lin" valueType="num">
                                      <p:cBhvr>
                                        <p:cTn id="87" dur="450" fill="hold"/>
                                        <p:tgtEl>
                                          <p:spTgt spid="51"/>
                                        </p:tgtEl>
                                        <p:attrNameLst>
                                          <p:attrName>ppt_x</p:attrName>
                                        </p:attrNameLst>
                                      </p:cBhvr>
                                      <p:tavLst>
                                        <p:tav tm="0">
                                          <p:val>
                                            <p:strVal val="#ppt_x"/>
                                          </p:val>
                                        </p:tav>
                                        <p:tav tm="100000">
                                          <p:val>
                                            <p:strVal val="#ppt_x"/>
                                          </p:val>
                                        </p:tav>
                                      </p:tavLst>
                                    </p:anim>
                                    <p:anim calcmode="lin" valueType="num">
                                      <p:cBhvr>
                                        <p:cTn id="88" dur="450" fill="hold"/>
                                        <p:tgtEl>
                                          <p:spTgt spid="51"/>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150"/>
                                  </p:stCondLst>
                                  <p:childTnLst>
                                    <p:set>
                                      <p:cBhvr>
                                        <p:cTn id="90" dur="1" fill="hold">
                                          <p:stCondLst>
                                            <p:cond delay="0"/>
                                          </p:stCondLst>
                                        </p:cTn>
                                        <p:tgtEl>
                                          <p:spTgt spid="52"/>
                                        </p:tgtEl>
                                        <p:attrNameLst>
                                          <p:attrName>style.visibility</p:attrName>
                                        </p:attrNameLst>
                                      </p:cBhvr>
                                      <p:to>
                                        <p:strVal val="visible"/>
                                      </p:to>
                                    </p:set>
                                    <p:animEffect transition="in" filter="fade">
                                      <p:cBhvr>
                                        <p:cTn id="91" dur="450"/>
                                        <p:tgtEl>
                                          <p:spTgt spid="52"/>
                                        </p:tgtEl>
                                      </p:cBhvr>
                                    </p:animEffect>
                                    <p:anim calcmode="lin" valueType="num">
                                      <p:cBhvr>
                                        <p:cTn id="92" dur="450" fill="hold"/>
                                        <p:tgtEl>
                                          <p:spTgt spid="52"/>
                                        </p:tgtEl>
                                        <p:attrNameLst>
                                          <p:attrName>ppt_x</p:attrName>
                                        </p:attrNameLst>
                                      </p:cBhvr>
                                      <p:tavLst>
                                        <p:tav tm="0">
                                          <p:val>
                                            <p:strVal val="#ppt_x"/>
                                          </p:val>
                                        </p:tav>
                                        <p:tav tm="100000">
                                          <p:val>
                                            <p:strVal val="#ppt_x"/>
                                          </p:val>
                                        </p:tav>
                                      </p:tavLst>
                                    </p:anim>
                                    <p:anim calcmode="lin" valueType="num">
                                      <p:cBhvr>
                                        <p:cTn id="93" dur="45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Built on the open-source Python stack</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06 · TECH STACK</a:t>
            </a:r>
          </a:p>
        </p:txBody>
      </p:sp>
      <p:grpSp>
        <p:nvGrpSpPr>
          <p:cNvPr id="4" name="stack_1"/>
          <p:cNvGrpSpPr/>
          <p:nvPr/>
        </p:nvGrpSpPr>
        <p:grpSpPr>
          <a:xfrm>
            <a:off x="640080" y="1783080"/>
            <a:ext cx="2542032" cy="3794760"/>
            <a:chOff x="640080" y="1783080"/>
            <a:chExt cx="2542032" cy="3794760"/>
          </a:xfrm>
        </p:grpSpPr>
        <p:sp>
          <p:nvSpPr>
            <p:cNvPr id="5" name="stack_1_bg"/>
            <p:cNvSpPr/>
            <p:nvPr/>
          </p:nvSpPr>
          <p:spPr>
            <a:xfrm>
              <a:off x="640080" y="1783080"/>
              <a:ext cx="2542032" cy="3794760"/>
            </a:xfrm>
            <a:prstGeom prst="roundRect">
              <a:avLst>
                <a:gd name="adj" fmla="val 4316"/>
              </a:avLst>
            </a:prstGeom>
            <a:solidFill>
              <a:srgbClr val="111823">
                <a:alpha val="88000"/>
              </a:srgbClr>
            </a:solidFill>
            <a:ln w="9525">
              <a:solidFill>
                <a:srgbClr val="243245"/>
              </a:solidFill>
            </a:ln>
          </p:spPr>
          <p:txBody>
            <a:bodyPr lIns="0" tIns="0" rIns="0" bIns="0" rtlCol="0" anchor="ctr"/>
            <a:lstStyle/>
            <a:p>
              <a:pPr algn="ctr"/>
              <a:endParaRPr/>
            </a:p>
          </p:txBody>
        </p:sp>
        <p:sp>
          <p:nvSpPr>
            <p:cNvPr id="6" name="TextBox 5"/>
            <p:cNvSpPr txBox="1"/>
            <p:nvPr/>
          </p:nvSpPr>
          <p:spPr>
            <a:xfrm>
              <a:off x="914400" y="2057400"/>
              <a:ext cx="2011680" cy="256032"/>
            </a:xfrm>
            <a:prstGeom prst="rect">
              <a:avLst/>
            </a:prstGeom>
            <a:noFill/>
          </p:spPr>
          <p:txBody>
            <a:bodyPr wrap="square" lIns="0" tIns="0" rIns="0" bIns="0" anchor="t">
              <a:noAutofit/>
            </a:bodyPr>
            <a:lstStyle/>
            <a:p>
              <a:pPr algn="l">
                <a:spcAft>
                  <a:spcPts val="0"/>
                </a:spcAft>
              </a:pPr>
              <a:r>
                <a:rPr sz="1200" b="0" i="0" spc="200">
                  <a:solidFill>
                    <a:srgbClr val="FFB547"/>
                  </a:solidFill>
                  <a:latin typeface="Consolas"/>
                </a:rPr>
                <a:t>DATA</a:t>
              </a:r>
            </a:p>
          </p:txBody>
        </p:sp>
        <p:sp>
          <p:nvSpPr>
            <p:cNvPr id="7" name="TextBox 6"/>
            <p:cNvSpPr txBox="1"/>
            <p:nvPr/>
          </p:nvSpPr>
          <p:spPr>
            <a:xfrm>
              <a:off x="914400" y="2359152"/>
              <a:ext cx="2011680" cy="329184"/>
            </a:xfrm>
            <a:prstGeom prst="rect">
              <a:avLst/>
            </a:prstGeom>
            <a:noFill/>
          </p:spPr>
          <p:txBody>
            <a:bodyPr wrap="square" lIns="0" tIns="0" rIns="0" bIns="0" anchor="t">
              <a:noAutofit/>
            </a:bodyPr>
            <a:lstStyle/>
            <a:p>
              <a:pPr algn="l">
                <a:spcAft>
                  <a:spcPts val="0"/>
                </a:spcAft>
              </a:pPr>
              <a:r>
                <a:rPr sz="1700" b="0" i="0">
                  <a:solidFill>
                    <a:srgbClr val="EAF0F6"/>
                  </a:solidFill>
                  <a:latin typeface="Segoe UI Semibold"/>
                </a:rPr>
                <a:t>Acquire &amp; engineer</a:t>
              </a:r>
            </a:p>
          </p:txBody>
        </p:sp>
        <p:cxnSp>
          <p:nvCxnSpPr>
            <p:cNvPr id="8" name="Connector 7"/>
            <p:cNvCxnSpPr/>
            <p:nvPr/>
          </p:nvCxnSpPr>
          <p:spPr>
            <a:xfrm>
              <a:off x="914400" y="2880360"/>
              <a:ext cx="1993392" cy="0"/>
            </a:xfrm>
            <a:prstGeom prst="line">
              <a:avLst/>
            </a:prstGeom>
            <a:ln w="9525">
              <a:solidFill>
                <a:srgbClr val="243245"/>
              </a:solidFill>
            </a:ln>
          </p:spPr>
        </p:cxnSp>
        <p:sp>
          <p:nvSpPr>
            <p:cNvPr id="9" name="TextBox 8"/>
            <p:cNvSpPr txBox="1"/>
            <p:nvPr/>
          </p:nvSpPr>
          <p:spPr>
            <a:xfrm>
              <a:off x="914400" y="3063240"/>
              <a:ext cx="2011680" cy="274320"/>
            </a:xfrm>
            <a:prstGeom prst="rect">
              <a:avLst/>
            </a:prstGeom>
            <a:noFill/>
          </p:spPr>
          <p:txBody>
            <a:bodyPr wrap="square" lIns="0" tIns="0" rIns="0" bIns="0" anchor="t">
              <a:noAutofit/>
            </a:bodyPr>
            <a:lstStyle/>
            <a:p>
              <a:pPr algn="l">
                <a:spcAft>
                  <a:spcPts val="0"/>
                </a:spcAft>
              </a:pPr>
              <a:r>
                <a:rPr sz="1500" b="0" i="0">
                  <a:solidFill>
                    <a:srgbClr val="EAF0F6"/>
                  </a:solidFill>
                  <a:latin typeface="Segoe UI"/>
                </a:rPr>
                <a:t>Python</a:t>
              </a:r>
            </a:p>
          </p:txBody>
        </p:sp>
        <p:sp>
          <p:nvSpPr>
            <p:cNvPr id="10" name="TextBox 9"/>
            <p:cNvSpPr txBox="1"/>
            <p:nvPr/>
          </p:nvSpPr>
          <p:spPr>
            <a:xfrm>
              <a:off x="914400" y="3337560"/>
              <a:ext cx="2011680" cy="22860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3.14.3</a:t>
              </a:r>
            </a:p>
          </p:txBody>
        </p:sp>
        <p:sp>
          <p:nvSpPr>
            <p:cNvPr id="11" name="TextBox 10"/>
            <p:cNvSpPr txBox="1"/>
            <p:nvPr/>
          </p:nvSpPr>
          <p:spPr>
            <a:xfrm>
              <a:off x="914400" y="3666744"/>
              <a:ext cx="2011680" cy="274320"/>
            </a:xfrm>
            <a:prstGeom prst="rect">
              <a:avLst/>
            </a:prstGeom>
            <a:noFill/>
          </p:spPr>
          <p:txBody>
            <a:bodyPr wrap="square" lIns="0" tIns="0" rIns="0" bIns="0" anchor="t">
              <a:noAutofit/>
            </a:bodyPr>
            <a:lstStyle/>
            <a:p>
              <a:pPr algn="l">
                <a:spcAft>
                  <a:spcPts val="0"/>
                </a:spcAft>
              </a:pPr>
              <a:r>
                <a:rPr sz="1500" b="0" i="0">
                  <a:solidFill>
                    <a:srgbClr val="EAF0F6"/>
                  </a:solidFill>
                  <a:latin typeface="Segoe UI"/>
                </a:rPr>
                <a:t>pandas</a:t>
              </a:r>
            </a:p>
          </p:txBody>
        </p:sp>
        <p:sp>
          <p:nvSpPr>
            <p:cNvPr id="12" name="TextBox 11"/>
            <p:cNvSpPr txBox="1"/>
            <p:nvPr/>
          </p:nvSpPr>
          <p:spPr>
            <a:xfrm>
              <a:off x="914400" y="3941064"/>
              <a:ext cx="2011680" cy="22860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2.3.3</a:t>
              </a:r>
            </a:p>
          </p:txBody>
        </p:sp>
        <p:sp>
          <p:nvSpPr>
            <p:cNvPr id="13" name="TextBox 12"/>
            <p:cNvSpPr txBox="1"/>
            <p:nvPr/>
          </p:nvSpPr>
          <p:spPr>
            <a:xfrm>
              <a:off x="914400" y="4270248"/>
              <a:ext cx="2011680" cy="274320"/>
            </a:xfrm>
            <a:prstGeom prst="rect">
              <a:avLst/>
            </a:prstGeom>
            <a:noFill/>
          </p:spPr>
          <p:txBody>
            <a:bodyPr wrap="square" lIns="0" tIns="0" rIns="0" bIns="0" anchor="t">
              <a:noAutofit/>
            </a:bodyPr>
            <a:lstStyle/>
            <a:p>
              <a:pPr algn="l">
                <a:spcAft>
                  <a:spcPts val="0"/>
                </a:spcAft>
              </a:pPr>
              <a:r>
                <a:rPr sz="1500" b="0" i="0">
                  <a:solidFill>
                    <a:srgbClr val="EAF0F6"/>
                  </a:solidFill>
                  <a:latin typeface="Segoe UI"/>
                </a:rPr>
                <a:t>NumPy</a:t>
              </a:r>
            </a:p>
          </p:txBody>
        </p:sp>
        <p:sp>
          <p:nvSpPr>
            <p:cNvPr id="14" name="TextBox 13"/>
            <p:cNvSpPr txBox="1"/>
            <p:nvPr/>
          </p:nvSpPr>
          <p:spPr>
            <a:xfrm>
              <a:off x="914400" y="4544568"/>
              <a:ext cx="2011680" cy="22860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2.4.3</a:t>
              </a:r>
            </a:p>
          </p:txBody>
        </p:sp>
        <p:sp>
          <p:nvSpPr>
            <p:cNvPr id="15" name="TextBox 14"/>
            <p:cNvSpPr txBox="1"/>
            <p:nvPr/>
          </p:nvSpPr>
          <p:spPr>
            <a:xfrm>
              <a:off x="914400" y="4873752"/>
              <a:ext cx="2011680" cy="274320"/>
            </a:xfrm>
            <a:prstGeom prst="rect">
              <a:avLst/>
            </a:prstGeom>
            <a:noFill/>
          </p:spPr>
          <p:txBody>
            <a:bodyPr wrap="square" lIns="0" tIns="0" rIns="0" bIns="0" anchor="t">
              <a:noAutofit/>
            </a:bodyPr>
            <a:lstStyle/>
            <a:p>
              <a:pPr algn="l">
                <a:spcAft>
                  <a:spcPts val="0"/>
                </a:spcAft>
              </a:pPr>
              <a:r>
                <a:rPr sz="1500" b="0" i="0">
                  <a:solidFill>
                    <a:srgbClr val="EAF0F6"/>
                  </a:solidFill>
                  <a:latin typeface="Segoe UI"/>
                </a:rPr>
                <a:t>yfinance</a:t>
              </a:r>
            </a:p>
          </p:txBody>
        </p:sp>
        <p:sp>
          <p:nvSpPr>
            <p:cNvPr id="16" name="TextBox 15"/>
            <p:cNvSpPr txBox="1"/>
            <p:nvPr/>
          </p:nvSpPr>
          <p:spPr>
            <a:xfrm>
              <a:off x="914400" y="5148072"/>
              <a:ext cx="2011680" cy="22860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Yahoo Finance OHLCV</a:t>
              </a:r>
            </a:p>
          </p:txBody>
        </p:sp>
      </p:grpSp>
      <p:grpSp>
        <p:nvGrpSpPr>
          <p:cNvPr id="17" name="stack_2"/>
          <p:cNvGrpSpPr/>
          <p:nvPr/>
        </p:nvGrpSpPr>
        <p:grpSpPr>
          <a:xfrm>
            <a:off x="3429914" y="1783080"/>
            <a:ext cx="2542032" cy="3794760"/>
            <a:chOff x="3429914" y="1783080"/>
            <a:chExt cx="2542032" cy="3794760"/>
          </a:xfrm>
        </p:grpSpPr>
        <p:sp>
          <p:nvSpPr>
            <p:cNvPr id="18" name="stack_2_bg"/>
            <p:cNvSpPr/>
            <p:nvPr/>
          </p:nvSpPr>
          <p:spPr>
            <a:xfrm>
              <a:off x="3429914" y="1783080"/>
              <a:ext cx="2542032" cy="3794760"/>
            </a:xfrm>
            <a:prstGeom prst="roundRect">
              <a:avLst>
                <a:gd name="adj" fmla="val 4316"/>
              </a:avLst>
            </a:prstGeom>
            <a:solidFill>
              <a:srgbClr val="111823">
                <a:alpha val="88000"/>
              </a:srgbClr>
            </a:solidFill>
            <a:ln w="9525">
              <a:solidFill>
                <a:srgbClr val="243245"/>
              </a:solidFill>
            </a:ln>
          </p:spPr>
          <p:txBody>
            <a:bodyPr lIns="0" tIns="0" rIns="0" bIns="0" rtlCol="0" anchor="ctr"/>
            <a:lstStyle/>
            <a:p>
              <a:pPr algn="ctr"/>
              <a:endParaRPr/>
            </a:p>
          </p:txBody>
        </p:sp>
        <p:sp>
          <p:nvSpPr>
            <p:cNvPr id="19" name="TextBox 18"/>
            <p:cNvSpPr txBox="1"/>
            <p:nvPr/>
          </p:nvSpPr>
          <p:spPr>
            <a:xfrm>
              <a:off x="3704234" y="2057400"/>
              <a:ext cx="2011680" cy="256032"/>
            </a:xfrm>
            <a:prstGeom prst="rect">
              <a:avLst/>
            </a:prstGeom>
            <a:noFill/>
          </p:spPr>
          <p:txBody>
            <a:bodyPr wrap="square" lIns="0" tIns="0" rIns="0" bIns="0" anchor="t">
              <a:noAutofit/>
            </a:bodyPr>
            <a:lstStyle/>
            <a:p>
              <a:pPr algn="l">
                <a:spcAft>
                  <a:spcPts val="0"/>
                </a:spcAft>
              </a:pPr>
              <a:r>
                <a:rPr sz="1200" b="0" i="0" spc="200">
                  <a:solidFill>
                    <a:srgbClr val="FFB547"/>
                  </a:solidFill>
                  <a:latin typeface="Consolas"/>
                </a:rPr>
                <a:t>MODELLING</a:t>
              </a:r>
            </a:p>
          </p:txBody>
        </p:sp>
        <p:sp>
          <p:nvSpPr>
            <p:cNvPr id="20" name="TextBox 19"/>
            <p:cNvSpPr txBox="1"/>
            <p:nvPr/>
          </p:nvSpPr>
          <p:spPr>
            <a:xfrm>
              <a:off x="3704234" y="2359152"/>
              <a:ext cx="2011680" cy="329184"/>
            </a:xfrm>
            <a:prstGeom prst="rect">
              <a:avLst/>
            </a:prstGeom>
            <a:noFill/>
          </p:spPr>
          <p:txBody>
            <a:bodyPr wrap="square" lIns="0" tIns="0" rIns="0" bIns="0" anchor="t">
              <a:noAutofit/>
            </a:bodyPr>
            <a:lstStyle/>
            <a:p>
              <a:pPr algn="l">
                <a:spcAft>
                  <a:spcPts val="0"/>
                </a:spcAft>
              </a:pPr>
              <a:r>
                <a:rPr sz="1700" b="0" i="0">
                  <a:solidFill>
                    <a:srgbClr val="EAF0F6"/>
                  </a:solidFill>
                  <a:latin typeface="Segoe UI Semibold"/>
                </a:rPr>
                <a:t>Learn P(Up)</a:t>
              </a:r>
            </a:p>
          </p:txBody>
        </p:sp>
        <p:cxnSp>
          <p:nvCxnSpPr>
            <p:cNvPr id="21" name="Connector 20"/>
            <p:cNvCxnSpPr/>
            <p:nvPr/>
          </p:nvCxnSpPr>
          <p:spPr>
            <a:xfrm>
              <a:off x="3704234" y="2880360"/>
              <a:ext cx="1993392" cy="0"/>
            </a:xfrm>
            <a:prstGeom prst="line">
              <a:avLst/>
            </a:prstGeom>
            <a:ln w="9525">
              <a:solidFill>
                <a:srgbClr val="243245"/>
              </a:solidFill>
            </a:ln>
          </p:spPr>
        </p:cxnSp>
        <p:sp>
          <p:nvSpPr>
            <p:cNvPr id="22" name="TextBox 21"/>
            <p:cNvSpPr txBox="1"/>
            <p:nvPr/>
          </p:nvSpPr>
          <p:spPr>
            <a:xfrm>
              <a:off x="3704234" y="3063240"/>
              <a:ext cx="2011680" cy="274320"/>
            </a:xfrm>
            <a:prstGeom prst="rect">
              <a:avLst/>
            </a:prstGeom>
            <a:noFill/>
          </p:spPr>
          <p:txBody>
            <a:bodyPr wrap="square" lIns="0" tIns="0" rIns="0" bIns="0" anchor="t">
              <a:noAutofit/>
            </a:bodyPr>
            <a:lstStyle/>
            <a:p>
              <a:pPr algn="l">
                <a:spcAft>
                  <a:spcPts val="0"/>
                </a:spcAft>
              </a:pPr>
              <a:r>
                <a:rPr sz="1500" b="0" i="0">
                  <a:solidFill>
                    <a:srgbClr val="EAF0F6"/>
                  </a:solidFill>
                  <a:latin typeface="Segoe UI"/>
                </a:rPr>
                <a:t>scikit-learn</a:t>
              </a:r>
            </a:p>
          </p:txBody>
        </p:sp>
        <p:sp>
          <p:nvSpPr>
            <p:cNvPr id="23" name="TextBox 22"/>
            <p:cNvSpPr txBox="1"/>
            <p:nvPr/>
          </p:nvSpPr>
          <p:spPr>
            <a:xfrm>
              <a:off x="3704234" y="3337560"/>
              <a:ext cx="2011680" cy="22860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1.8.0</a:t>
              </a:r>
            </a:p>
          </p:txBody>
        </p:sp>
        <p:sp>
          <p:nvSpPr>
            <p:cNvPr id="24" name="TextBox 23"/>
            <p:cNvSpPr txBox="1"/>
            <p:nvPr/>
          </p:nvSpPr>
          <p:spPr>
            <a:xfrm>
              <a:off x="3704234" y="3666744"/>
              <a:ext cx="2011680" cy="274320"/>
            </a:xfrm>
            <a:prstGeom prst="rect">
              <a:avLst/>
            </a:prstGeom>
            <a:noFill/>
          </p:spPr>
          <p:txBody>
            <a:bodyPr wrap="square" lIns="0" tIns="0" rIns="0" bIns="0" anchor="t">
              <a:noAutofit/>
            </a:bodyPr>
            <a:lstStyle/>
            <a:p>
              <a:pPr algn="l">
                <a:spcAft>
                  <a:spcPts val="0"/>
                </a:spcAft>
              </a:pPr>
              <a:r>
                <a:rPr sz="1500" b="0" i="0">
                  <a:solidFill>
                    <a:srgbClr val="EAF0F6"/>
                  </a:solidFill>
                  <a:latin typeface="Segoe UI"/>
                </a:rPr>
                <a:t>XGBoost</a:t>
              </a:r>
            </a:p>
          </p:txBody>
        </p:sp>
        <p:sp>
          <p:nvSpPr>
            <p:cNvPr id="25" name="TextBox 24"/>
            <p:cNvSpPr txBox="1"/>
            <p:nvPr/>
          </p:nvSpPr>
          <p:spPr>
            <a:xfrm>
              <a:off x="3704234" y="3941064"/>
              <a:ext cx="2011680" cy="22860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3.2.0</a:t>
              </a:r>
            </a:p>
          </p:txBody>
        </p:sp>
        <p:sp>
          <p:nvSpPr>
            <p:cNvPr id="26" name="TextBox 25"/>
            <p:cNvSpPr txBox="1"/>
            <p:nvPr/>
          </p:nvSpPr>
          <p:spPr>
            <a:xfrm>
              <a:off x="3704234" y="4270248"/>
              <a:ext cx="2011680" cy="274320"/>
            </a:xfrm>
            <a:prstGeom prst="rect">
              <a:avLst/>
            </a:prstGeom>
            <a:noFill/>
          </p:spPr>
          <p:txBody>
            <a:bodyPr wrap="square" lIns="0" tIns="0" rIns="0" bIns="0" anchor="t">
              <a:noAutofit/>
            </a:bodyPr>
            <a:lstStyle/>
            <a:p>
              <a:pPr algn="l">
                <a:spcAft>
                  <a:spcPts val="0"/>
                </a:spcAft>
              </a:pPr>
              <a:r>
                <a:rPr sz="1500" b="0" i="0">
                  <a:solidFill>
                    <a:srgbClr val="EAF0F6"/>
                  </a:solidFill>
                  <a:latin typeface="Segoe UI"/>
                </a:rPr>
                <a:t>PyTorch</a:t>
              </a:r>
            </a:p>
          </p:txBody>
        </p:sp>
        <p:sp>
          <p:nvSpPr>
            <p:cNvPr id="27" name="TextBox 26"/>
            <p:cNvSpPr txBox="1"/>
            <p:nvPr/>
          </p:nvSpPr>
          <p:spPr>
            <a:xfrm>
              <a:off x="3704234" y="4544568"/>
              <a:ext cx="2011680" cy="22860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2.11.0 · CPU</a:t>
              </a:r>
            </a:p>
          </p:txBody>
        </p:sp>
      </p:grpSp>
      <p:grpSp>
        <p:nvGrpSpPr>
          <p:cNvPr id="28" name="stack_3"/>
          <p:cNvGrpSpPr/>
          <p:nvPr/>
        </p:nvGrpSpPr>
        <p:grpSpPr>
          <a:xfrm>
            <a:off x="6219749" y="1783080"/>
            <a:ext cx="2542032" cy="3794760"/>
            <a:chOff x="6219749" y="1783080"/>
            <a:chExt cx="2542032" cy="3794760"/>
          </a:xfrm>
        </p:grpSpPr>
        <p:sp>
          <p:nvSpPr>
            <p:cNvPr id="29" name="stack_3_bg"/>
            <p:cNvSpPr/>
            <p:nvPr/>
          </p:nvSpPr>
          <p:spPr>
            <a:xfrm>
              <a:off x="6219749" y="1783080"/>
              <a:ext cx="2542032" cy="3794760"/>
            </a:xfrm>
            <a:prstGeom prst="roundRect">
              <a:avLst>
                <a:gd name="adj" fmla="val 4316"/>
              </a:avLst>
            </a:prstGeom>
            <a:solidFill>
              <a:srgbClr val="111823">
                <a:alpha val="88000"/>
              </a:srgbClr>
            </a:solidFill>
            <a:ln w="9525">
              <a:solidFill>
                <a:srgbClr val="243245"/>
              </a:solidFill>
            </a:ln>
          </p:spPr>
          <p:txBody>
            <a:bodyPr lIns="0" tIns="0" rIns="0" bIns="0" rtlCol="0" anchor="ctr"/>
            <a:lstStyle/>
            <a:p>
              <a:pPr algn="ctr"/>
              <a:endParaRPr/>
            </a:p>
          </p:txBody>
        </p:sp>
        <p:sp>
          <p:nvSpPr>
            <p:cNvPr id="30" name="TextBox 29"/>
            <p:cNvSpPr txBox="1"/>
            <p:nvPr/>
          </p:nvSpPr>
          <p:spPr>
            <a:xfrm>
              <a:off x="6494069" y="2057400"/>
              <a:ext cx="2011680" cy="256032"/>
            </a:xfrm>
            <a:prstGeom prst="rect">
              <a:avLst/>
            </a:prstGeom>
            <a:noFill/>
          </p:spPr>
          <p:txBody>
            <a:bodyPr wrap="square" lIns="0" tIns="0" rIns="0" bIns="0" anchor="t">
              <a:noAutofit/>
            </a:bodyPr>
            <a:lstStyle/>
            <a:p>
              <a:pPr algn="l">
                <a:spcAft>
                  <a:spcPts val="0"/>
                </a:spcAft>
              </a:pPr>
              <a:r>
                <a:rPr sz="1200" b="0" i="0" spc="200">
                  <a:solidFill>
                    <a:srgbClr val="FFB547"/>
                  </a:solidFill>
                  <a:latin typeface="Consolas"/>
                </a:rPr>
                <a:t>EVALUATION</a:t>
              </a:r>
            </a:p>
          </p:txBody>
        </p:sp>
        <p:sp>
          <p:nvSpPr>
            <p:cNvPr id="31" name="TextBox 30"/>
            <p:cNvSpPr txBox="1"/>
            <p:nvPr/>
          </p:nvSpPr>
          <p:spPr>
            <a:xfrm>
              <a:off x="6494069" y="2359152"/>
              <a:ext cx="2011680" cy="329184"/>
            </a:xfrm>
            <a:prstGeom prst="rect">
              <a:avLst/>
            </a:prstGeom>
            <a:noFill/>
          </p:spPr>
          <p:txBody>
            <a:bodyPr wrap="square" lIns="0" tIns="0" rIns="0" bIns="0" anchor="t">
              <a:noAutofit/>
            </a:bodyPr>
            <a:lstStyle/>
            <a:p>
              <a:pPr algn="l">
                <a:spcAft>
                  <a:spcPts val="0"/>
                </a:spcAft>
              </a:pPr>
              <a:r>
                <a:rPr sz="1700" b="0" i="0">
                  <a:solidFill>
                    <a:srgbClr val="EAF0F6"/>
                  </a:solidFill>
                  <a:latin typeface="Segoe UI Semibold"/>
                </a:rPr>
                <a:t>Measure honestly</a:t>
              </a:r>
            </a:p>
          </p:txBody>
        </p:sp>
        <p:cxnSp>
          <p:nvCxnSpPr>
            <p:cNvPr id="32" name="Connector 31"/>
            <p:cNvCxnSpPr/>
            <p:nvPr/>
          </p:nvCxnSpPr>
          <p:spPr>
            <a:xfrm>
              <a:off x="6494069" y="2880360"/>
              <a:ext cx="1993392" cy="0"/>
            </a:xfrm>
            <a:prstGeom prst="line">
              <a:avLst/>
            </a:prstGeom>
            <a:ln w="9525">
              <a:solidFill>
                <a:srgbClr val="243245"/>
              </a:solidFill>
            </a:ln>
          </p:spPr>
        </p:cxnSp>
        <p:sp>
          <p:nvSpPr>
            <p:cNvPr id="33" name="TextBox 32"/>
            <p:cNvSpPr txBox="1"/>
            <p:nvPr/>
          </p:nvSpPr>
          <p:spPr>
            <a:xfrm>
              <a:off x="6494069" y="3063240"/>
              <a:ext cx="2011680" cy="274320"/>
            </a:xfrm>
            <a:prstGeom prst="rect">
              <a:avLst/>
            </a:prstGeom>
            <a:noFill/>
          </p:spPr>
          <p:txBody>
            <a:bodyPr wrap="square" lIns="0" tIns="0" rIns="0" bIns="0" anchor="t">
              <a:noAutofit/>
            </a:bodyPr>
            <a:lstStyle/>
            <a:p>
              <a:pPr algn="l">
                <a:spcAft>
                  <a:spcPts val="0"/>
                </a:spcAft>
              </a:pPr>
              <a:r>
                <a:rPr sz="1500" b="0" i="0">
                  <a:solidFill>
                    <a:srgbClr val="EAF0F6"/>
                  </a:solidFill>
                  <a:latin typeface="Segoe UI"/>
                </a:rPr>
                <a:t>SciPy</a:t>
              </a:r>
            </a:p>
          </p:txBody>
        </p:sp>
        <p:sp>
          <p:nvSpPr>
            <p:cNvPr id="34" name="TextBox 33"/>
            <p:cNvSpPr txBox="1"/>
            <p:nvPr/>
          </p:nvSpPr>
          <p:spPr>
            <a:xfrm>
              <a:off x="6494069" y="3337560"/>
              <a:ext cx="2011680" cy="22860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statistics</a:t>
              </a:r>
            </a:p>
          </p:txBody>
        </p:sp>
        <p:sp>
          <p:nvSpPr>
            <p:cNvPr id="35" name="TextBox 34"/>
            <p:cNvSpPr txBox="1"/>
            <p:nvPr/>
          </p:nvSpPr>
          <p:spPr>
            <a:xfrm>
              <a:off x="6494069" y="3666744"/>
              <a:ext cx="2011680" cy="274320"/>
            </a:xfrm>
            <a:prstGeom prst="rect">
              <a:avLst/>
            </a:prstGeom>
            <a:noFill/>
          </p:spPr>
          <p:txBody>
            <a:bodyPr wrap="square" lIns="0" tIns="0" rIns="0" bIns="0" anchor="t">
              <a:noAutofit/>
            </a:bodyPr>
            <a:lstStyle/>
            <a:p>
              <a:pPr algn="l">
                <a:spcAft>
                  <a:spcPts val="0"/>
                </a:spcAft>
              </a:pPr>
              <a:r>
                <a:rPr sz="1500" b="0" i="0">
                  <a:solidFill>
                    <a:srgbClr val="EAF0F6"/>
                  </a:solidFill>
                  <a:latin typeface="Segoe UI"/>
                </a:rPr>
                <a:t>matplotlib</a:t>
              </a:r>
            </a:p>
          </p:txBody>
        </p:sp>
        <p:sp>
          <p:nvSpPr>
            <p:cNvPr id="36" name="TextBox 35"/>
            <p:cNvSpPr txBox="1"/>
            <p:nvPr/>
          </p:nvSpPr>
          <p:spPr>
            <a:xfrm>
              <a:off x="6494069" y="3941064"/>
              <a:ext cx="2011680" cy="22860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46 figures</a:t>
              </a:r>
            </a:p>
          </p:txBody>
        </p:sp>
        <p:sp>
          <p:nvSpPr>
            <p:cNvPr id="37" name="TextBox 36"/>
            <p:cNvSpPr txBox="1"/>
            <p:nvPr/>
          </p:nvSpPr>
          <p:spPr>
            <a:xfrm>
              <a:off x="6494069" y="4270248"/>
              <a:ext cx="2011680" cy="274320"/>
            </a:xfrm>
            <a:prstGeom prst="rect">
              <a:avLst/>
            </a:prstGeom>
            <a:noFill/>
          </p:spPr>
          <p:txBody>
            <a:bodyPr wrap="square" lIns="0" tIns="0" rIns="0" bIns="0" anchor="t">
              <a:noAutofit/>
            </a:bodyPr>
            <a:lstStyle/>
            <a:p>
              <a:pPr algn="l">
                <a:spcAft>
                  <a:spcPts val="0"/>
                </a:spcAft>
              </a:pPr>
              <a:r>
                <a:rPr sz="1500" b="0" i="0">
                  <a:solidFill>
                    <a:srgbClr val="EAF0F6"/>
                  </a:solidFill>
                  <a:latin typeface="Segoe UI"/>
                </a:rPr>
                <a:t>pytest</a:t>
              </a:r>
            </a:p>
          </p:txBody>
        </p:sp>
        <p:sp>
          <p:nvSpPr>
            <p:cNvPr id="38" name="TextBox 37"/>
            <p:cNvSpPr txBox="1"/>
            <p:nvPr/>
          </p:nvSpPr>
          <p:spPr>
            <a:xfrm>
              <a:off x="6494069" y="4544568"/>
              <a:ext cx="2011680" cy="22860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301 tests</a:t>
              </a:r>
            </a:p>
          </p:txBody>
        </p:sp>
      </p:grpSp>
      <p:grpSp>
        <p:nvGrpSpPr>
          <p:cNvPr id="39" name="stack_4"/>
          <p:cNvGrpSpPr/>
          <p:nvPr/>
        </p:nvGrpSpPr>
        <p:grpSpPr>
          <a:xfrm>
            <a:off x="9009583" y="1783080"/>
            <a:ext cx="2542032" cy="3794760"/>
            <a:chOff x="9009583" y="1783080"/>
            <a:chExt cx="2542032" cy="3794760"/>
          </a:xfrm>
        </p:grpSpPr>
        <p:sp>
          <p:nvSpPr>
            <p:cNvPr id="40" name="stack_4_bg"/>
            <p:cNvSpPr/>
            <p:nvPr/>
          </p:nvSpPr>
          <p:spPr>
            <a:xfrm>
              <a:off x="9009583" y="1783080"/>
              <a:ext cx="2542032" cy="3794760"/>
            </a:xfrm>
            <a:prstGeom prst="roundRect">
              <a:avLst>
                <a:gd name="adj" fmla="val 4316"/>
              </a:avLst>
            </a:prstGeom>
            <a:solidFill>
              <a:srgbClr val="111823">
                <a:alpha val="88000"/>
              </a:srgbClr>
            </a:solidFill>
            <a:ln w="9525">
              <a:solidFill>
                <a:srgbClr val="243245"/>
              </a:solidFill>
            </a:ln>
          </p:spPr>
          <p:txBody>
            <a:bodyPr lIns="0" tIns="0" rIns="0" bIns="0" rtlCol="0" anchor="ctr"/>
            <a:lstStyle/>
            <a:p>
              <a:pPr algn="ctr"/>
              <a:endParaRPr/>
            </a:p>
          </p:txBody>
        </p:sp>
        <p:sp>
          <p:nvSpPr>
            <p:cNvPr id="41" name="TextBox 40"/>
            <p:cNvSpPr txBox="1"/>
            <p:nvPr/>
          </p:nvSpPr>
          <p:spPr>
            <a:xfrm>
              <a:off x="9283903" y="2057400"/>
              <a:ext cx="2011680" cy="256032"/>
            </a:xfrm>
            <a:prstGeom prst="rect">
              <a:avLst/>
            </a:prstGeom>
            <a:noFill/>
          </p:spPr>
          <p:txBody>
            <a:bodyPr wrap="square" lIns="0" tIns="0" rIns="0" bIns="0" anchor="t">
              <a:noAutofit/>
            </a:bodyPr>
            <a:lstStyle/>
            <a:p>
              <a:pPr algn="l">
                <a:spcAft>
                  <a:spcPts val="0"/>
                </a:spcAft>
              </a:pPr>
              <a:r>
                <a:rPr sz="1200" b="0" i="0" spc="200">
                  <a:solidFill>
                    <a:srgbClr val="FFB547"/>
                  </a:solidFill>
                  <a:latin typeface="Consolas"/>
                </a:rPr>
                <a:t>DELIVERY</a:t>
              </a:r>
            </a:p>
          </p:txBody>
        </p:sp>
        <p:sp>
          <p:nvSpPr>
            <p:cNvPr id="42" name="TextBox 41"/>
            <p:cNvSpPr txBox="1"/>
            <p:nvPr/>
          </p:nvSpPr>
          <p:spPr>
            <a:xfrm>
              <a:off x="9283903" y="2359152"/>
              <a:ext cx="2011680" cy="329184"/>
            </a:xfrm>
            <a:prstGeom prst="rect">
              <a:avLst/>
            </a:prstGeom>
            <a:noFill/>
          </p:spPr>
          <p:txBody>
            <a:bodyPr wrap="square" lIns="0" tIns="0" rIns="0" bIns="0" anchor="t">
              <a:noAutofit/>
            </a:bodyPr>
            <a:lstStyle/>
            <a:p>
              <a:pPr algn="l">
                <a:spcAft>
                  <a:spcPts val="0"/>
                </a:spcAft>
              </a:pPr>
              <a:r>
                <a:rPr sz="1700" b="0" i="0">
                  <a:solidFill>
                    <a:srgbClr val="EAF0F6"/>
                  </a:solidFill>
                  <a:latin typeface="Segoe UI Semibold"/>
                </a:rPr>
                <a:t>Show &amp; share</a:t>
              </a:r>
            </a:p>
          </p:txBody>
        </p:sp>
        <p:cxnSp>
          <p:nvCxnSpPr>
            <p:cNvPr id="43" name="Connector 42"/>
            <p:cNvCxnSpPr/>
            <p:nvPr/>
          </p:nvCxnSpPr>
          <p:spPr>
            <a:xfrm>
              <a:off x="9283903" y="2880360"/>
              <a:ext cx="1993392" cy="0"/>
            </a:xfrm>
            <a:prstGeom prst="line">
              <a:avLst/>
            </a:prstGeom>
            <a:ln w="9525">
              <a:solidFill>
                <a:srgbClr val="243245"/>
              </a:solidFill>
            </a:ln>
          </p:spPr>
        </p:cxnSp>
        <p:sp>
          <p:nvSpPr>
            <p:cNvPr id="44" name="TextBox 43"/>
            <p:cNvSpPr txBox="1"/>
            <p:nvPr/>
          </p:nvSpPr>
          <p:spPr>
            <a:xfrm>
              <a:off x="9283903" y="3063240"/>
              <a:ext cx="2011680" cy="274320"/>
            </a:xfrm>
            <a:prstGeom prst="rect">
              <a:avLst/>
            </a:prstGeom>
            <a:noFill/>
          </p:spPr>
          <p:txBody>
            <a:bodyPr wrap="square" lIns="0" tIns="0" rIns="0" bIns="0" anchor="t">
              <a:noAutofit/>
            </a:bodyPr>
            <a:lstStyle/>
            <a:p>
              <a:pPr algn="l">
                <a:spcAft>
                  <a:spcPts val="0"/>
                </a:spcAft>
              </a:pPr>
              <a:r>
                <a:rPr sz="1500" b="0" i="0">
                  <a:solidFill>
                    <a:srgbClr val="EAF0F6"/>
                  </a:solidFill>
                  <a:latin typeface="Segoe UI"/>
                </a:rPr>
                <a:t>Streamlit</a:t>
              </a:r>
            </a:p>
          </p:txBody>
        </p:sp>
        <p:sp>
          <p:nvSpPr>
            <p:cNvPr id="45" name="TextBox 44"/>
            <p:cNvSpPr txBox="1"/>
            <p:nvPr/>
          </p:nvSpPr>
          <p:spPr>
            <a:xfrm>
              <a:off x="9283903" y="3337560"/>
              <a:ext cx="2011680" cy="22860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interactive dashboard</a:t>
              </a:r>
            </a:p>
          </p:txBody>
        </p:sp>
        <p:sp>
          <p:nvSpPr>
            <p:cNvPr id="46" name="TextBox 45"/>
            <p:cNvSpPr txBox="1"/>
            <p:nvPr/>
          </p:nvSpPr>
          <p:spPr>
            <a:xfrm>
              <a:off x="9283903" y="3666744"/>
              <a:ext cx="2011680" cy="274320"/>
            </a:xfrm>
            <a:prstGeom prst="rect">
              <a:avLst/>
            </a:prstGeom>
            <a:noFill/>
          </p:spPr>
          <p:txBody>
            <a:bodyPr wrap="square" lIns="0" tIns="0" rIns="0" bIns="0" anchor="t">
              <a:noAutofit/>
            </a:bodyPr>
            <a:lstStyle/>
            <a:p>
              <a:pPr algn="l">
                <a:spcAft>
                  <a:spcPts val="0"/>
                </a:spcAft>
              </a:pPr>
              <a:r>
                <a:rPr sz="1500" b="0" i="0">
                  <a:solidFill>
                    <a:srgbClr val="EAF0F6"/>
                  </a:solidFill>
                  <a:latin typeface="Segoe UI"/>
                </a:rPr>
                <a:t>Plotly</a:t>
              </a:r>
            </a:p>
          </p:txBody>
        </p:sp>
        <p:sp>
          <p:nvSpPr>
            <p:cNvPr id="47" name="TextBox 46"/>
            <p:cNvSpPr txBox="1"/>
            <p:nvPr/>
          </p:nvSpPr>
          <p:spPr>
            <a:xfrm>
              <a:off x="9283903" y="3941064"/>
              <a:ext cx="2011680" cy="22860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dashboard charts</a:t>
              </a:r>
            </a:p>
          </p:txBody>
        </p:sp>
        <p:sp>
          <p:nvSpPr>
            <p:cNvPr id="48" name="TextBox 47"/>
            <p:cNvSpPr txBox="1"/>
            <p:nvPr/>
          </p:nvSpPr>
          <p:spPr>
            <a:xfrm>
              <a:off x="9283903" y="4270248"/>
              <a:ext cx="2011680" cy="274320"/>
            </a:xfrm>
            <a:prstGeom prst="rect">
              <a:avLst/>
            </a:prstGeom>
            <a:noFill/>
          </p:spPr>
          <p:txBody>
            <a:bodyPr wrap="square" lIns="0" tIns="0" rIns="0" bIns="0" anchor="t">
              <a:noAutofit/>
            </a:bodyPr>
            <a:lstStyle/>
            <a:p>
              <a:pPr algn="l">
                <a:spcAft>
                  <a:spcPts val="0"/>
                </a:spcAft>
              </a:pPr>
              <a:r>
                <a:rPr sz="1500" b="0" i="0">
                  <a:solidFill>
                    <a:srgbClr val="EAF0F6"/>
                  </a:solidFill>
                  <a:latin typeface="Segoe UI"/>
                </a:rPr>
                <a:t>Jupyter</a:t>
              </a:r>
            </a:p>
          </p:txBody>
        </p:sp>
        <p:sp>
          <p:nvSpPr>
            <p:cNvPr id="49" name="TextBox 48"/>
            <p:cNvSpPr txBox="1"/>
            <p:nvPr/>
          </p:nvSpPr>
          <p:spPr>
            <a:xfrm>
              <a:off x="9283903" y="4544568"/>
              <a:ext cx="2011680" cy="22860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3 executed notebooks</a:t>
              </a:r>
            </a:p>
          </p:txBody>
        </p:sp>
        <p:sp>
          <p:nvSpPr>
            <p:cNvPr id="50" name="TextBox 49"/>
            <p:cNvSpPr txBox="1"/>
            <p:nvPr/>
          </p:nvSpPr>
          <p:spPr>
            <a:xfrm>
              <a:off x="9283903" y="4873752"/>
              <a:ext cx="2011680" cy="274320"/>
            </a:xfrm>
            <a:prstGeom prst="rect">
              <a:avLst/>
            </a:prstGeom>
            <a:noFill/>
          </p:spPr>
          <p:txBody>
            <a:bodyPr wrap="square" lIns="0" tIns="0" rIns="0" bIns="0" anchor="t">
              <a:noAutofit/>
            </a:bodyPr>
            <a:lstStyle/>
            <a:p>
              <a:pPr algn="l">
                <a:spcAft>
                  <a:spcPts val="0"/>
                </a:spcAft>
              </a:pPr>
              <a:r>
                <a:rPr sz="1500" b="0" i="0">
                  <a:solidFill>
                    <a:srgbClr val="EAF0F6"/>
                  </a:solidFill>
                  <a:latin typeface="Segoe UI"/>
                </a:rPr>
                <a:t>python-docx</a:t>
              </a:r>
            </a:p>
          </p:txBody>
        </p:sp>
        <p:sp>
          <p:nvSpPr>
            <p:cNvPr id="51" name="TextBox 50"/>
            <p:cNvSpPr txBox="1"/>
            <p:nvPr/>
          </p:nvSpPr>
          <p:spPr>
            <a:xfrm>
              <a:off x="9283903" y="5148072"/>
              <a:ext cx="2011680" cy="228600"/>
            </a:xfrm>
            <a:prstGeom prst="rect">
              <a:avLst/>
            </a:prstGeom>
            <a:noFill/>
          </p:spPr>
          <p:txBody>
            <a:bodyPr wrap="square" lIns="0" tIns="0" rIns="0" bIns="0" anchor="t">
              <a:noAutofit/>
            </a:bodyPr>
            <a:lstStyle/>
            <a:p>
              <a:pPr algn="l">
                <a:spcAft>
                  <a:spcPts val="0"/>
                </a:spcAft>
              </a:pPr>
              <a:r>
                <a:rPr sz="1100" b="0" i="0">
                  <a:solidFill>
                    <a:srgbClr val="8291A2"/>
                  </a:solidFill>
                  <a:latin typeface="Consolas"/>
                </a:rPr>
                <a:t>IEEE report builder</a:t>
              </a:r>
            </a:p>
          </p:txBody>
        </p:sp>
      </p:grpSp>
      <p:sp>
        <p:nvSpPr>
          <p:cNvPr id="52" name="caption"/>
          <p:cNvSpPr txBox="1"/>
          <p:nvPr/>
        </p:nvSpPr>
        <p:spPr>
          <a:xfrm>
            <a:off x="640080" y="5779008"/>
            <a:ext cx="10911535" cy="274320"/>
          </a:xfrm>
          <a:prstGeom prst="rect">
            <a:avLst/>
          </a:prstGeom>
          <a:noFill/>
        </p:spPr>
        <p:txBody>
          <a:bodyPr wrap="square" lIns="0" tIns="0" rIns="0" bIns="0" anchor="t">
            <a:noAutofit/>
          </a:bodyPr>
          <a:lstStyle/>
          <a:p>
            <a:pPr algn="l">
              <a:spcAft>
                <a:spcPts val="0"/>
              </a:spcAft>
            </a:pPr>
            <a:r>
              <a:rPr sz="1200" b="0" i="0">
                <a:solidFill>
                  <a:srgbClr val="8291A2"/>
                </a:solidFill>
                <a:latin typeface="Segoe UI"/>
              </a:rPr>
              <a:t>Versions as recorded for the reported run (results/metrics/run_summary.json). One configuration file, config.yaml, with a fixed seed (42).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2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anim calcmode="lin" valueType="num">
                                      <p:cBhvr>
                                        <p:cTn id="13" dur="500" fill="hold"/>
                                        <p:tgtEl>
                                          <p:spTgt spid="17"/>
                                        </p:tgtEl>
                                        <p:attrNameLst>
                                          <p:attrName>ppt_x</p:attrName>
                                        </p:attrNameLst>
                                      </p:cBhvr>
                                      <p:tavLst>
                                        <p:tav tm="0">
                                          <p:val>
                                            <p:strVal val="#ppt_x"/>
                                          </p:val>
                                        </p:tav>
                                        <p:tav tm="100000">
                                          <p:val>
                                            <p:strVal val="#ppt_x"/>
                                          </p:val>
                                        </p:tav>
                                      </p:tavLst>
                                    </p:anim>
                                    <p:anim calcmode="lin" valueType="num">
                                      <p:cBhvr>
                                        <p:cTn id="14" dur="5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4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anim calcmode="lin" valueType="num">
                                      <p:cBhvr>
                                        <p:cTn id="18" dur="500" fill="hold"/>
                                        <p:tgtEl>
                                          <p:spTgt spid="28"/>
                                        </p:tgtEl>
                                        <p:attrNameLst>
                                          <p:attrName>ppt_x</p:attrName>
                                        </p:attrNameLst>
                                      </p:cBhvr>
                                      <p:tavLst>
                                        <p:tav tm="0">
                                          <p:val>
                                            <p:strVal val="#ppt_x"/>
                                          </p:val>
                                        </p:tav>
                                        <p:tav tm="100000">
                                          <p:val>
                                            <p:strVal val="#ppt_x"/>
                                          </p:val>
                                        </p:tav>
                                      </p:tavLst>
                                    </p:anim>
                                    <p:anim calcmode="lin" valueType="num">
                                      <p:cBhvr>
                                        <p:cTn id="19" dur="500" fill="hold"/>
                                        <p:tgtEl>
                                          <p:spTgt spid="2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6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500"/>
                                        <p:tgtEl>
                                          <p:spTgt spid="39"/>
                                        </p:tgtEl>
                                      </p:cBhvr>
                                    </p:animEffect>
                                    <p:anim calcmode="lin" valueType="num">
                                      <p:cBhvr>
                                        <p:cTn id="23" dur="500" fill="hold"/>
                                        <p:tgtEl>
                                          <p:spTgt spid="39"/>
                                        </p:tgtEl>
                                        <p:attrNameLst>
                                          <p:attrName>ppt_x</p:attrName>
                                        </p:attrNameLst>
                                      </p:cBhvr>
                                      <p:tavLst>
                                        <p:tav tm="0">
                                          <p:val>
                                            <p:strVal val="#ppt_x"/>
                                          </p:val>
                                        </p:tav>
                                        <p:tav tm="100000">
                                          <p:val>
                                            <p:strVal val="#ppt_x"/>
                                          </p:val>
                                        </p:tav>
                                      </p:tavLst>
                                    </p:anim>
                                    <p:anim calcmode="lin" valueType="num">
                                      <p:cBhvr>
                                        <p:cTn id="24" dur="500" fill="hold"/>
                                        <p:tgtEl>
                                          <p:spTgt spid="39"/>
                                        </p:tgtEl>
                                        <p:attrNameLst>
                                          <p:attrName>ppt_y</p:attrName>
                                        </p:attrNameLst>
                                      </p:cBhvr>
                                      <p:tavLst>
                                        <p:tav tm="0">
                                          <p:val>
                                            <p:strVal val="#ppt_y+.1"/>
                                          </p:val>
                                        </p:tav>
                                        <p:tav tm="100000">
                                          <p:val>
                                            <p:strVal val="#ppt_y"/>
                                          </p:val>
                                        </p:tav>
                                      </p:tavLst>
                                    </p:anim>
                                  </p:childTnLst>
                                </p:cTn>
                              </p:par>
                            </p:childTnLst>
                          </p:cTn>
                        </p:par>
                        <p:par>
                          <p:cTn id="25" fill="hold">
                            <p:stCondLst>
                              <p:cond delay="860"/>
                            </p:stCondLst>
                            <p:childTnLst>
                              <p:par>
                                <p:cTn id="26" presetID="10" presetClass="entr" presetSubtype="0" fill="hold" grpId="0" nodeType="after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fade">
                                      <p:cBhvr>
                                        <p:cTn id="28"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Time only flows forward: chronological splits</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07 · METHODOLOGY</a:t>
            </a:r>
          </a:p>
        </p:txBody>
      </p:sp>
      <p:sp>
        <p:nvSpPr>
          <p:cNvPr id="4" name="!!yr2011"/>
          <p:cNvSpPr txBox="1"/>
          <p:nvPr/>
        </p:nvSpPr>
        <p:spPr>
          <a:xfrm>
            <a:off x="1234440"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2011</a:t>
            </a:r>
          </a:p>
        </p:txBody>
      </p:sp>
      <p:sp>
        <p:nvSpPr>
          <p:cNvPr id="5" name="!!yr2012"/>
          <p:cNvSpPr txBox="1"/>
          <p:nvPr/>
        </p:nvSpPr>
        <p:spPr>
          <a:xfrm>
            <a:off x="1898904"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2012</a:t>
            </a:r>
          </a:p>
        </p:txBody>
      </p:sp>
      <p:sp>
        <p:nvSpPr>
          <p:cNvPr id="6" name="!!yr2013"/>
          <p:cNvSpPr txBox="1"/>
          <p:nvPr/>
        </p:nvSpPr>
        <p:spPr>
          <a:xfrm>
            <a:off x="2563368"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2013</a:t>
            </a:r>
          </a:p>
        </p:txBody>
      </p:sp>
      <p:sp>
        <p:nvSpPr>
          <p:cNvPr id="7" name="!!yr2014"/>
          <p:cNvSpPr txBox="1"/>
          <p:nvPr/>
        </p:nvSpPr>
        <p:spPr>
          <a:xfrm>
            <a:off x="3227832"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2014</a:t>
            </a:r>
          </a:p>
        </p:txBody>
      </p:sp>
      <p:sp>
        <p:nvSpPr>
          <p:cNvPr id="8" name="!!yr2015"/>
          <p:cNvSpPr txBox="1"/>
          <p:nvPr/>
        </p:nvSpPr>
        <p:spPr>
          <a:xfrm>
            <a:off x="3892296"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2015</a:t>
            </a:r>
          </a:p>
        </p:txBody>
      </p:sp>
      <p:sp>
        <p:nvSpPr>
          <p:cNvPr id="9" name="!!yr2016"/>
          <p:cNvSpPr txBox="1"/>
          <p:nvPr/>
        </p:nvSpPr>
        <p:spPr>
          <a:xfrm>
            <a:off x="4556760"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2016</a:t>
            </a:r>
          </a:p>
        </p:txBody>
      </p:sp>
      <p:sp>
        <p:nvSpPr>
          <p:cNvPr id="10" name="!!yr2017"/>
          <p:cNvSpPr txBox="1"/>
          <p:nvPr/>
        </p:nvSpPr>
        <p:spPr>
          <a:xfrm>
            <a:off x="5221224"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2017</a:t>
            </a:r>
          </a:p>
        </p:txBody>
      </p:sp>
      <p:sp>
        <p:nvSpPr>
          <p:cNvPr id="11" name="!!yr2018"/>
          <p:cNvSpPr txBox="1"/>
          <p:nvPr/>
        </p:nvSpPr>
        <p:spPr>
          <a:xfrm>
            <a:off x="5885688"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2018</a:t>
            </a:r>
          </a:p>
        </p:txBody>
      </p:sp>
      <p:sp>
        <p:nvSpPr>
          <p:cNvPr id="12" name="!!yr2019"/>
          <p:cNvSpPr txBox="1"/>
          <p:nvPr/>
        </p:nvSpPr>
        <p:spPr>
          <a:xfrm>
            <a:off x="6550152"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2019</a:t>
            </a:r>
          </a:p>
        </p:txBody>
      </p:sp>
      <p:sp>
        <p:nvSpPr>
          <p:cNvPr id="13" name="!!yr2020"/>
          <p:cNvSpPr txBox="1"/>
          <p:nvPr/>
        </p:nvSpPr>
        <p:spPr>
          <a:xfrm>
            <a:off x="7214616"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2020</a:t>
            </a:r>
          </a:p>
        </p:txBody>
      </p:sp>
      <p:sp>
        <p:nvSpPr>
          <p:cNvPr id="14" name="!!yr2021"/>
          <p:cNvSpPr txBox="1"/>
          <p:nvPr/>
        </p:nvSpPr>
        <p:spPr>
          <a:xfrm>
            <a:off x="7879080"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2021</a:t>
            </a:r>
          </a:p>
        </p:txBody>
      </p:sp>
      <p:sp>
        <p:nvSpPr>
          <p:cNvPr id="15" name="!!yr2022"/>
          <p:cNvSpPr txBox="1"/>
          <p:nvPr/>
        </p:nvSpPr>
        <p:spPr>
          <a:xfrm>
            <a:off x="8543544"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2022</a:t>
            </a:r>
          </a:p>
        </p:txBody>
      </p:sp>
      <p:sp>
        <p:nvSpPr>
          <p:cNvPr id="16" name="!!yr2023"/>
          <p:cNvSpPr txBox="1"/>
          <p:nvPr/>
        </p:nvSpPr>
        <p:spPr>
          <a:xfrm>
            <a:off x="9208008"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2023</a:t>
            </a:r>
          </a:p>
        </p:txBody>
      </p:sp>
      <p:sp>
        <p:nvSpPr>
          <p:cNvPr id="17" name="!!yr2024"/>
          <p:cNvSpPr txBox="1"/>
          <p:nvPr/>
        </p:nvSpPr>
        <p:spPr>
          <a:xfrm>
            <a:off x="9872472"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2024</a:t>
            </a:r>
          </a:p>
        </p:txBody>
      </p:sp>
      <p:sp>
        <p:nvSpPr>
          <p:cNvPr id="18" name="!!yr2025"/>
          <p:cNvSpPr txBox="1"/>
          <p:nvPr/>
        </p:nvSpPr>
        <p:spPr>
          <a:xfrm>
            <a:off x="10536936"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2025</a:t>
            </a:r>
          </a:p>
        </p:txBody>
      </p:sp>
      <p:sp>
        <p:nvSpPr>
          <p:cNvPr id="19" name="!!yr2026"/>
          <p:cNvSpPr txBox="1"/>
          <p:nvPr/>
        </p:nvSpPr>
        <p:spPr>
          <a:xfrm>
            <a:off x="11201400"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2026</a:t>
            </a:r>
          </a:p>
        </p:txBody>
      </p:sp>
      <p:cxnSp>
        <p:nvCxnSpPr>
          <p:cNvPr id="20" name="!!axis"/>
          <p:cNvCxnSpPr/>
          <p:nvPr/>
        </p:nvCxnSpPr>
        <p:spPr>
          <a:xfrm>
            <a:off x="1508760" y="2157984"/>
            <a:ext cx="9966960" cy="0"/>
          </a:xfrm>
          <a:prstGeom prst="line">
            <a:avLst/>
          </a:prstGeom>
          <a:ln w="12700">
            <a:solidFill>
              <a:srgbClr val="3A4D63"/>
            </a:solidFill>
          </a:ln>
        </p:spPr>
      </p:cxnSp>
      <p:sp>
        <p:nvSpPr>
          <p:cNvPr id="21" name="!!seg_train"/>
          <p:cNvSpPr/>
          <p:nvPr/>
        </p:nvSpPr>
        <p:spPr>
          <a:xfrm>
            <a:off x="1577089" y="2505456"/>
            <a:ext cx="5889028" cy="566928"/>
          </a:xfrm>
          <a:prstGeom prst="roundRect">
            <a:avLst>
              <a:gd name="adj" fmla="val 9677"/>
            </a:avLst>
          </a:prstGeom>
          <a:solidFill>
            <a:srgbClr val="4CC9F0">
              <a:alpha val="32000"/>
            </a:srgbClr>
          </a:solidFill>
          <a:ln w="9525">
            <a:solidFill>
              <a:srgbClr val="4CC9F0">
                <a:alpha val="85000"/>
              </a:srgbClr>
            </a:solidFill>
          </a:ln>
        </p:spPr>
        <p:txBody>
          <a:bodyPr lIns="0" tIns="0" rIns="0" bIns="0" rtlCol="0" anchor="ctr"/>
          <a:lstStyle/>
          <a:p>
            <a:pPr algn="ctr"/>
            <a:endParaRPr/>
          </a:p>
        </p:txBody>
      </p:sp>
      <p:sp>
        <p:nvSpPr>
          <p:cNvPr id="22" name="!!seg_val"/>
          <p:cNvSpPr/>
          <p:nvPr/>
        </p:nvSpPr>
        <p:spPr>
          <a:xfrm>
            <a:off x="7504467" y="2505456"/>
            <a:ext cx="1294219" cy="566928"/>
          </a:xfrm>
          <a:prstGeom prst="roundRect">
            <a:avLst>
              <a:gd name="adj" fmla="val 9677"/>
            </a:avLst>
          </a:prstGeom>
          <a:solidFill>
            <a:srgbClr val="FFB547">
              <a:alpha val="90000"/>
            </a:srgbClr>
          </a:solidFill>
          <a:ln w="9525">
            <a:solidFill>
              <a:srgbClr val="FFB547"/>
            </a:solidFill>
          </a:ln>
        </p:spPr>
        <p:txBody>
          <a:bodyPr lIns="0" tIns="0" rIns="0" bIns="0" rtlCol="0" anchor="ctr"/>
          <a:lstStyle/>
          <a:p>
            <a:pPr algn="ctr"/>
            <a:endParaRPr/>
          </a:p>
        </p:txBody>
      </p:sp>
      <p:sp>
        <p:nvSpPr>
          <p:cNvPr id="23" name="!!seg_test"/>
          <p:cNvSpPr/>
          <p:nvPr/>
        </p:nvSpPr>
        <p:spPr>
          <a:xfrm>
            <a:off x="8835221" y="2505456"/>
            <a:ext cx="2621322" cy="566928"/>
          </a:xfrm>
          <a:prstGeom prst="roundRect">
            <a:avLst>
              <a:gd name="adj" fmla="val 9677"/>
            </a:avLst>
          </a:prstGeom>
          <a:solidFill>
            <a:srgbClr val="EAF0F6">
              <a:alpha val="92000"/>
            </a:srgbClr>
          </a:solidFill>
          <a:ln w="9525">
            <a:solidFill>
              <a:srgbClr val="EAF0F6"/>
            </a:solidFill>
          </a:ln>
        </p:spPr>
        <p:txBody>
          <a:bodyPr lIns="0" tIns="0" rIns="0" bIns="0" rtlCol="0" anchor="ctr"/>
          <a:lstStyle/>
          <a:p>
            <a:pPr algn="ctr"/>
            <a:endParaRPr/>
          </a:p>
        </p:txBody>
      </p:sp>
      <p:sp>
        <p:nvSpPr>
          <p:cNvPr id="24" name="lbl_train"/>
          <p:cNvSpPr txBox="1"/>
          <p:nvPr/>
        </p:nvSpPr>
        <p:spPr>
          <a:xfrm>
            <a:off x="1746253" y="2505456"/>
            <a:ext cx="3657600" cy="566928"/>
          </a:xfrm>
          <a:prstGeom prst="rect">
            <a:avLst/>
          </a:prstGeom>
          <a:noFill/>
        </p:spPr>
        <p:txBody>
          <a:bodyPr wrap="square" lIns="0" tIns="0" rIns="0" bIns="0" anchor="ctr">
            <a:noAutofit/>
          </a:bodyPr>
          <a:lstStyle/>
          <a:p>
            <a:pPr algn="l">
              <a:spcAft>
                <a:spcPts val="0"/>
              </a:spcAft>
            </a:pPr>
            <a:r>
              <a:rPr sz="1200" b="0" i="0">
                <a:solidFill>
                  <a:srgbClr val="4CC9F0"/>
                </a:solidFill>
                <a:latin typeface="Consolas"/>
              </a:rPr>
              <a:t>TRAIN  </a:t>
            </a:r>
            <a:r>
              <a:rPr sz="1300" b="0" i="0">
                <a:solidFill>
                  <a:srgbClr val="EAF0F6"/>
                </a:solidFill>
                <a:latin typeface="Segoe UI Semibold"/>
              </a:rPr>
              <a:t>2,243 days</a:t>
            </a:r>
          </a:p>
        </p:txBody>
      </p:sp>
      <p:sp>
        <p:nvSpPr>
          <p:cNvPr id="25" name="lbl_val"/>
          <p:cNvSpPr txBox="1"/>
          <p:nvPr/>
        </p:nvSpPr>
        <p:spPr>
          <a:xfrm>
            <a:off x="7600479" y="2505456"/>
            <a:ext cx="1188720" cy="566928"/>
          </a:xfrm>
          <a:prstGeom prst="rect">
            <a:avLst/>
          </a:prstGeom>
          <a:noFill/>
        </p:spPr>
        <p:txBody>
          <a:bodyPr wrap="square" lIns="0" tIns="0" rIns="0" bIns="0" anchor="ctr">
            <a:noAutofit/>
          </a:bodyPr>
          <a:lstStyle/>
          <a:p>
            <a:pPr algn="l">
              <a:spcAft>
                <a:spcPts val="0"/>
              </a:spcAft>
            </a:pPr>
            <a:r>
              <a:rPr sz="1200" b="0" i="0">
                <a:solidFill>
                  <a:srgbClr val="0A0E14"/>
                </a:solidFill>
                <a:latin typeface="Segoe UI Semibold"/>
              </a:rPr>
              <a:t>VAL · 503</a:t>
            </a:r>
          </a:p>
        </p:txBody>
      </p:sp>
      <p:sp>
        <p:nvSpPr>
          <p:cNvPr id="26" name="lbl_test"/>
          <p:cNvSpPr txBox="1"/>
          <p:nvPr/>
        </p:nvSpPr>
        <p:spPr>
          <a:xfrm>
            <a:off x="9004385" y="2505456"/>
            <a:ext cx="2377440" cy="566928"/>
          </a:xfrm>
          <a:prstGeom prst="rect">
            <a:avLst/>
          </a:prstGeom>
          <a:noFill/>
        </p:spPr>
        <p:txBody>
          <a:bodyPr wrap="square" lIns="0" tIns="0" rIns="0" bIns="0" anchor="ctr">
            <a:noAutofit/>
          </a:bodyPr>
          <a:lstStyle/>
          <a:p>
            <a:pPr algn="l">
              <a:spcAft>
                <a:spcPts val="0"/>
              </a:spcAft>
            </a:pPr>
            <a:r>
              <a:rPr sz="1200" b="0" i="0">
                <a:solidFill>
                  <a:srgbClr val="0A0E14"/>
                </a:solidFill>
                <a:latin typeface="Consolas"/>
              </a:rPr>
              <a:t>TEST  </a:t>
            </a:r>
            <a:r>
              <a:rPr sz="1300" b="0" i="0">
                <a:solidFill>
                  <a:srgbClr val="0A0E14"/>
                </a:solidFill>
                <a:latin typeface="Segoe UI Semibold"/>
              </a:rPr>
              <a:t>1,001 days</a:t>
            </a:r>
          </a:p>
        </p:txBody>
      </p:sp>
      <p:sp>
        <p:nvSpPr>
          <p:cNvPr id="27" name="purge_1"/>
          <p:cNvSpPr txBox="1"/>
          <p:nvPr/>
        </p:nvSpPr>
        <p:spPr>
          <a:xfrm>
            <a:off x="6942111" y="2240280"/>
            <a:ext cx="1097280" cy="219456"/>
          </a:xfrm>
          <a:prstGeom prst="rect">
            <a:avLst/>
          </a:prstGeom>
          <a:noFill/>
        </p:spPr>
        <p:txBody>
          <a:bodyPr wrap="square" lIns="0" tIns="0" rIns="0" bIns="0" anchor="t">
            <a:noAutofit/>
          </a:bodyPr>
          <a:lstStyle/>
          <a:p>
            <a:pPr algn="ctr">
              <a:spcAft>
                <a:spcPts val="0"/>
              </a:spcAft>
            </a:pPr>
            <a:r>
              <a:rPr sz="1000" b="0" i="0">
                <a:solidFill>
                  <a:srgbClr val="FFB547"/>
                </a:solidFill>
                <a:latin typeface="Consolas"/>
              </a:rPr>
              <a:t>2-day purge</a:t>
            </a:r>
          </a:p>
        </p:txBody>
      </p:sp>
      <p:sp>
        <p:nvSpPr>
          <p:cNvPr id="28" name="purge_2"/>
          <p:cNvSpPr txBox="1"/>
          <p:nvPr/>
        </p:nvSpPr>
        <p:spPr>
          <a:xfrm>
            <a:off x="8272865" y="2240280"/>
            <a:ext cx="1097280" cy="219456"/>
          </a:xfrm>
          <a:prstGeom prst="rect">
            <a:avLst/>
          </a:prstGeom>
          <a:noFill/>
        </p:spPr>
        <p:txBody>
          <a:bodyPr wrap="square" lIns="0" tIns="0" rIns="0" bIns="0" anchor="t">
            <a:noAutofit/>
          </a:bodyPr>
          <a:lstStyle/>
          <a:p>
            <a:pPr algn="ctr">
              <a:spcAft>
                <a:spcPts val="0"/>
              </a:spcAft>
            </a:pPr>
            <a:r>
              <a:rPr sz="1000" b="0" i="0">
                <a:solidFill>
                  <a:srgbClr val="FFB547"/>
                </a:solidFill>
                <a:latin typeface="Consolas"/>
              </a:rPr>
              <a:t>2-day purge</a:t>
            </a:r>
          </a:p>
        </p:txBody>
      </p:sp>
      <p:grpSp>
        <p:nvGrpSpPr>
          <p:cNvPr id="29" name="role_train"/>
          <p:cNvGrpSpPr/>
          <p:nvPr/>
        </p:nvGrpSpPr>
        <p:grpSpPr>
          <a:xfrm>
            <a:off x="640080" y="3566160"/>
            <a:ext cx="3474720" cy="1874520"/>
            <a:chOff x="640080" y="3566160"/>
            <a:chExt cx="3474720" cy="1874520"/>
          </a:xfrm>
        </p:grpSpPr>
        <p:sp>
          <p:nvSpPr>
            <p:cNvPr id="30" name="role_train_bg"/>
            <p:cNvSpPr/>
            <p:nvPr/>
          </p:nvSpPr>
          <p:spPr>
            <a:xfrm>
              <a:off x="640080" y="3566160"/>
              <a:ext cx="3474720" cy="1874520"/>
            </a:xfrm>
            <a:prstGeom prst="roundRect">
              <a:avLst>
                <a:gd name="adj" fmla="val 5853"/>
              </a:avLst>
            </a:prstGeom>
            <a:solidFill>
              <a:srgbClr val="111823">
                <a:alpha val="88000"/>
              </a:srgbClr>
            </a:solidFill>
            <a:ln w="9525">
              <a:solidFill>
                <a:srgbClr val="243245"/>
              </a:solidFill>
            </a:ln>
          </p:spPr>
          <p:txBody>
            <a:bodyPr lIns="0" tIns="0" rIns="0" bIns="0" rtlCol="0" anchor="ctr"/>
            <a:lstStyle/>
            <a:p>
              <a:pPr algn="ctr"/>
              <a:endParaRPr/>
            </a:p>
          </p:txBody>
        </p:sp>
        <p:sp>
          <p:nvSpPr>
            <p:cNvPr id="31" name="TextBox 30"/>
            <p:cNvSpPr txBox="1"/>
            <p:nvPr/>
          </p:nvSpPr>
          <p:spPr>
            <a:xfrm>
              <a:off x="914400" y="3794760"/>
              <a:ext cx="2926080" cy="256032"/>
            </a:xfrm>
            <a:prstGeom prst="rect">
              <a:avLst/>
            </a:prstGeom>
            <a:noFill/>
          </p:spPr>
          <p:txBody>
            <a:bodyPr wrap="square" lIns="0" tIns="0" rIns="0" bIns="0" anchor="t">
              <a:noAutofit/>
            </a:bodyPr>
            <a:lstStyle/>
            <a:p>
              <a:pPr algn="l">
                <a:spcAft>
                  <a:spcPts val="0"/>
                </a:spcAft>
              </a:pPr>
              <a:r>
                <a:rPr sz="1200" b="0" i="0" spc="100">
                  <a:solidFill>
                    <a:srgbClr val="4CC9F0"/>
                  </a:solidFill>
                  <a:latin typeface="Consolas"/>
                </a:rPr>
                <a:t>TRAIN</a:t>
              </a:r>
              <a:r>
                <a:rPr sz="1200" b="0" i="0" spc="100">
                  <a:solidFill>
                    <a:srgbClr val="8291A2"/>
                  </a:solidFill>
                  <a:latin typeface="Consolas"/>
                </a:rPr>
                <a:t>  ·  2011–2019</a:t>
              </a:r>
            </a:p>
          </p:txBody>
        </p:sp>
        <p:sp>
          <p:nvSpPr>
            <p:cNvPr id="32" name="TextBox 31"/>
            <p:cNvSpPr txBox="1"/>
            <p:nvPr/>
          </p:nvSpPr>
          <p:spPr>
            <a:xfrm>
              <a:off x="914400" y="4160520"/>
              <a:ext cx="2926080" cy="1170432"/>
            </a:xfrm>
            <a:prstGeom prst="rect">
              <a:avLst/>
            </a:prstGeom>
            <a:noFill/>
          </p:spPr>
          <p:txBody>
            <a:bodyPr wrap="square" lIns="0" tIns="0" rIns="0" bIns="0" anchor="t">
              <a:noAutofit/>
            </a:bodyPr>
            <a:lstStyle/>
            <a:p>
              <a:pPr algn="l">
                <a:lnSpc>
                  <a:spcPct val="110000"/>
                </a:lnSpc>
                <a:spcAft>
                  <a:spcPts val="0"/>
                </a:spcAft>
              </a:pPr>
              <a:r>
                <a:rPr sz="1400" b="0" i="0">
                  <a:solidFill>
                    <a:srgbClr val="AAB6C3"/>
                  </a:solidFill>
                  <a:latin typeface="Segoe UI"/>
                </a:rPr>
                <a:t>Fit every model. Tabular models are tuned with purged time-series CV (4 folds, gap 2) on log loss; the LSTM on a purged hold-out slice.</a:t>
              </a:r>
            </a:p>
          </p:txBody>
        </p:sp>
      </p:grpSp>
      <p:grpSp>
        <p:nvGrpSpPr>
          <p:cNvPr id="33" name="role_validation"/>
          <p:cNvGrpSpPr/>
          <p:nvPr/>
        </p:nvGrpSpPr>
        <p:grpSpPr>
          <a:xfrm>
            <a:off x="4358488" y="3566160"/>
            <a:ext cx="3474720" cy="1874520"/>
            <a:chOff x="4358488" y="3566160"/>
            <a:chExt cx="3474720" cy="1874520"/>
          </a:xfrm>
        </p:grpSpPr>
        <p:sp>
          <p:nvSpPr>
            <p:cNvPr id="34" name="role_validation_bg"/>
            <p:cNvSpPr/>
            <p:nvPr/>
          </p:nvSpPr>
          <p:spPr>
            <a:xfrm>
              <a:off x="4358488" y="3566160"/>
              <a:ext cx="3474720" cy="1874520"/>
            </a:xfrm>
            <a:prstGeom prst="roundRect">
              <a:avLst>
                <a:gd name="adj" fmla="val 5853"/>
              </a:avLst>
            </a:prstGeom>
            <a:solidFill>
              <a:srgbClr val="111823">
                <a:alpha val="88000"/>
              </a:srgbClr>
            </a:solidFill>
            <a:ln w="9525">
              <a:solidFill>
                <a:srgbClr val="243245"/>
              </a:solidFill>
            </a:ln>
          </p:spPr>
          <p:txBody>
            <a:bodyPr lIns="0" tIns="0" rIns="0" bIns="0" rtlCol="0" anchor="ctr"/>
            <a:lstStyle/>
            <a:p>
              <a:pPr algn="ctr"/>
              <a:endParaRPr/>
            </a:p>
          </p:txBody>
        </p:sp>
        <p:sp>
          <p:nvSpPr>
            <p:cNvPr id="35" name="TextBox 34"/>
            <p:cNvSpPr txBox="1"/>
            <p:nvPr/>
          </p:nvSpPr>
          <p:spPr>
            <a:xfrm>
              <a:off x="4632808" y="3794760"/>
              <a:ext cx="2926080" cy="256032"/>
            </a:xfrm>
            <a:prstGeom prst="rect">
              <a:avLst/>
            </a:prstGeom>
            <a:noFill/>
          </p:spPr>
          <p:txBody>
            <a:bodyPr wrap="square" lIns="0" tIns="0" rIns="0" bIns="0" anchor="t">
              <a:noAutofit/>
            </a:bodyPr>
            <a:lstStyle/>
            <a:p>
              <a:pPr algn="l">
                <a:spcAft>
                  <a:spcPts val="0"/>
                </a:spcAft>
              </a:pPr>
              <a:r>
                <a:rPr sz="1200" b="0" i="0" spc="100">
                  <a:solidFill>
                    <a:srgbClr val="FFB547"/>
                  </a:solidFill>
                  <a:latin typeface="Consolas"/>
                </a:rPr>
                <a:t>VALIDATION</a:t>
              </a:r>
              <a:r>
                <a:rPr sz="1200" b="0" i="0" spc="100">
                  <a:solidFill>
                    <a:srgbClr val="8291A2"/>
                  </a:solidFill>
                  <a:latin typeface="Consolas"/>
                </a:rPr>
                <a:t>  ·  2020–2021</a:t>
              </a:r>
            </a:p>
          </p:txBody>
        </p:sp>
        <p:sp>
          <p:nvSpPr>
            <p:cNvPr id="36" name="TextBox 35"/>
            <p:cNvSpPr txBox="1"/>
            <p:nvPr/>
          </p:nvSpPr>
          <p:spPr>
            <a:xfrm>
              <a:off x="4632808" y="4160520"/>
              <a:ext cx="2926080" cy="1170432"/>
            </a:xfrm>
            <a:prstGeom prst="rect">
              <a:avLst/>
            </a:prstGeom>
            <a:noFill/>
          </p:spPr>
          <p:txBody>
            <a:bodyPr wrap="square" lIns="0" tIns="0" rIns="0" bIns="0" anchor="t">
              <a:noAutofit/>
            </a:bodyPr>
            <a:lstStyle/>
            <a:p>
              <a:pPr algn="l">
                <a:lnSpc>
                  <a:spcPct val="110000"/>
                </a:lnSpc>
                <a:spcAft>
                  <a:spcPts val="0"/>
                </a:spcAft>
              </a:pPr>
              <a:r>
                <a:rPr sz="1400" b="0" i="0">
                  <a:solidFill>
                    <a:srgbClr val="AAB6C3"/>
                  </a:solidFill>
                  <a:latin typeface="Segoe UI"/>
                </a:rPr>
                <a:t>Choose ensemble members (log loss) and the threshold τ from 14 values (Sharpe).</a:t>
              </a:r>
            </a:p>
          </p:txBody>
        </p:sp>
      </p:grpSp>
      <p:grpSp>
        <p:nvGrpSpPr>
          <p:cNvPr id="37" name="role_test"/>
          <p:cNvGrpSpPr/>
          <p:nvPr/>
        </p:nvGrpSpPr>
        <p:grpSpPr>
          <a:xfrm>
            <a:off x="8076895" y="3566160"/>
            <a:ext cx="3474720" cy="1874520"/>
            <a:chOff x="8076895" y="3566160"/>
            <a:chExt cx="3474720" cy="1874520"/>
          </a:xfrm>
        </p:grpSpPr>
        <p:sp>
          <p:nvSpPr>
            <p:cNvPr id="38" name="role_test_bg"/>
            <p:cNvSpPr/>
            <p:nvPr/>
          </p:nvSpPr>
          <p:spPr>
            <a:xfrm>
              <a:off x="8076895" y="3566160"/>
              <a:ext cx="3474720" cy="1874520"/>
            </a:xfrm>
            <a:prstGeom prst="roundRect">
              <a:avLst>
                <a:gd name="adj" fmla="val 5853"/>
              </a:avLst>
            </a:prstGeom>
            <a:solidFill>
              <a:srgbClr val="111823">
                <a:alpha val="88000"/>
              </a:srgbClr>
            </a:solidFill>
            <a:ln w="9525">
              <a:solidFill>
                <a:srgbClr val="243245"/>
              </a:solidFill>
            </a:ln>
          </p:spPr>
          <p:txBody>
            <a:bodyPr lIns="0" tIns="0" rIns="0" bIns="0" rtlCol="0" anchor="ctr"/>
            <a:lstStyle/>
            <a:p>
              <a:pPr algn="ctr"/>
              <a:endParaRPr/>
            </a:p>
          </p:txBody>
        </p:sp>
        <p:sp>
          <p:nvSpPr>
            <p:cNvPr id="39" name="TextBox 38"/>
            <p:cNvSpPr txBox="1"/>
            <p:nvPr/>
          </p:nvSpPr>
          <p:spPr>
            <a:xfrm>
              <a:off x="8351215" y="3794760"/>
              <a:ext cx="2926080" cy="256032"/>
            </a:xfrm>
            <a:prstGeom prst="rect">
              <a:avLst/>
            </a:prstGeom>
            <a:noFill/>
          </p:spPr>
          <p:txBody>
            <a:bodyPr wrap="square" lIns="0" tIns="0" rIns="0" bIns="0" anchor="t">
              <a:noAutofit/>
            </a:bodyPr>
            <a:lstStyle/>
            <a:p>
              <a:pPr algn="l">
                <a:spcAft>
                  <a:spcPts val="0"/>
                </a:spcAft>
              </a:pPr>
              <a:r>
                <a:rPr sz="1200" b="0" i="0" spc="100">
                  <a:solidFill>
                    <a:srgbClr val="EAF0F6"/>
                  </a:solidFill>
                  <a:latin typeface="Consolas"/>
                </a:rPr>
                <a:t>TEST</a:t>
              </a:r>
              <a:r>
                <a:rPr sz="1200" b="0" i="0" spc="100">
                  <a:solidFill>
                    <a:srgbClr val="8291A2"/>
                  </a:solidFill>
                  <a:latin typeface="Consolas"/>
                </a:rPr>
                <a:t>  ·  2022–2025</a:t>
              </a:r>
            </a:p>
          </p:txBody>
        </p:sp>
        <p:sp>
          <p:nvSpPr>
            <p:cNvPr id="40" name="TextBox 39"/>
            <p:cNvSpPr txBox="1"/>
            <p:nvPr/>
          </p:nvSpPr>
          <p:spPr>
            <a:xfrm>
              <a:off x="8351215" y="4160520"/>
              <a:ext cx="2926080" cy="1170432"/>
            </a:xfrm>
            <a:prstGeom prst="rect">
              <a:avLst/>
            </a:prstGeom>
            <a:noFill/>
          </p:spPr>
          <p:txBody>
            <a:bodyPr wrap="square" lIns="0" tIns="0" rIns="0" bIns="0" anchor="t">
              <a:noAutofit/>
            </a:bodyPr>
            <a:lstStyle/>
            <a:p>
              <a:pPr algn="l">
                <a:lnSpc>
                  <a:spcPct val="110000"/>
                </a:lnSpc>
                <a:spcAft>
                  <a:spcPts val="0"/>
                </a:spcAft>
              </a:pPr>
              <a:r>
                <a:rPr sz="1400" b="0" i="0">
                  <a:solidFill>
                    <a:srgbClr val="AAB6C3"/>
                  </a:solidFill>
                  <a:latin typeface="Segoe UI"/>
                </a:rPr>
                <a:t>Never used for fitting or for choosing τ. Main results come from here; robustness checks re-use it and are labelled.</a:t>
              </a:r>
            </a:p>
          </p:txBody>
        </p:sp>
      </p:grpSp>
      <p:sp>
        <p:nvSpPr>
          <p:cNvPr id="41" name="note"/>
          <p:cNvSpPr txBox="1"/>
          <p:nvPr/>
        </p:nvSpPr>
        <p:spPr>
          <a:xfrm>
            <a:off x="640080" y="5623560"/>
            <a:ext cx="10911535" cy="457200"/>
          </a:xfrm>
          <a:prstGeom prst="rect">
            <a:avLst/>
          </a:prstGeom>
          <a:noFill/>
        </p:spPr>
        <p:txBody>
          <a:bodyPr wrap="square" lIns="0" tIns="0" rIns="0" bIns="0" anchor="t">
            <a:noAutofit/>
          </a:bodyPr>
          <a:lstStyle/>
          <a:p>
            <a:pPr algn="l">
              <a:spcAft>
                <a:spcPts val="0"/>
              </a:spcAft>
            </a:pPr>
            <a:r>
              <a:rPr sz="1300" b="0" i="0">
                <a:solidFill>
                  <a:srgbClr val="8291A2"/>
                </a:solidFill>
                <a:latin typeface="Segoe UI"/>
              </a:rPr>
              <a:t>Rows are never shuffled. Each label looks two opens ahead, so the last two rows before every boundary are purged from the earlier segment.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6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par>
                                <p:cTn id="11" presetID="10" presetClass="entr" presetSubtype="0" fill="hold" grpId="0" nodeType="withEffect">
                                  <p:stCondLst>
                                    <p:cond delay="3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300"/>
                                        <p:tgtEl>
                                          <p:spTgt spid="5"/>
                                        </p:tgtEl>
                                      </p:cBhvr>
                                    </p:animEffect>
                                  </p:childTnLst>
                                </p:cTn>
                              </p:par>
                              <p:par>
                                <p:cTn id="14" presetID="10" presetClass="entr" presetSubtype="0" fill="hold" grpId="0" nodeType="withEffect">
                                  <p:stCondLst>
                                    <p:cond delay="6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00"/>
                                        <p:tgtEl>
                                          <p:spTgt spid="6"/>
                                        </p:tgtEl>
                                      </p:cBhvr>
                                    </p:animEffect>
                                  </p:childTnLst>
                                </p:cTn>
                              </p:par>
                              <p:par>
                                <p:cTn id="17" presetID="10" presetClass="entr" presetSubtype="0" fill="hold" grpId="0" nodeType="withEffect">
                                  <p:stCondLst>
                                    <p:cond delay="9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300"/>
                                        <p:tgtEl>
                                          <p:spTgt spid="7"/>
                                        </p:tgtEl>
                                      </p:cBhvr>
                                    </p:animEffect>
                                  </p:childTnLst>
                                </p:cTn>
                              </p:par>
                              <p:par>
                                <p:cTn id="20" presetID="10" presetClass="entr" presetSubtype="0" fill="hold" grpId="0" nodeType="withEffect">
                                  <p:stCondLst>
                                    <p:cond delay="12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300"/>
                                        <p:tgtEl>
                                          <p:spTgt spid="8"/>
                                        </p:tgtEl>
                                      </p:cBhvr>
                                    </p:animEffect>
                                  </p:childTnLst>
                                </p:cTn>
                              </p:par>
                              <p:par>
                                <p:cTn id="23" presetID="10" presetClass="entr" presetSubtype="0" fill="hold" grpId="0" nodeType="withEffect">
                                  <p:stCondLst>
                                    <p:cond delay="1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300"/>
                                        <p:tgtEl>
                                          <p:spTgt spid="9"/>
                                        </p:tgtEl>
                                      </p:cBhvr>
                                    </p:animEffect>
                                  </p:childTnLst>
                                </p:cTn>
                              </p:par>
                              <p:par>
                                <p:cTn id="26" presetID="10" presetClass="entr" presetSubtype="0" fill="hold" grpId="0" nodeType="withEffect">
                                  <p:stCondLst>
                                    <p:cond delay="18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300"/>
                                        <p:tgtEl>
                                          <p:spTgt spid="10"/>
                                        </p:tgtEl>
                                      </p:cBhvr>
                                    </p:animEffect>
                                  </p:childTnLst>
                                </p:cTn>
                              </p:par>
                              <p:par>
                                <p:cTn id="29" presetID="10" presetClass="entr" presetSubtype="0" fill="hold" grpId="0" nodeType="withEffect">
                                  <p:stCondLst>
                                    <p:cond delay="21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300"/>
                                        <p:tgtEl>
                                          <p:spTgt spid="11"/>
                                        </p:tgtEl>
                                      </p:cBhvr>
                                    </p:animEffect>
                                  </p:childTnLst>
                                </p:cTn>
                              </p:par>
                              <p:par>
                                <p:cTn id="32" presetID="10" presetClass="entr" presetSubtype="0" fill="hold" grpId="0" nodeType="withEffect">
                                  <p:stCondLst>
                                    <p:cond delay="24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00"/>
                                        <p:tgtEl>
                                          <p:spTgt spid="12"/>
                                        </p:tgtEl>
                                      </p:cBhvr>
                                    </p:animEffect>
                                  </p:childTnLst>
                                </p:cTn>
                              </p:par>
                              <p:par>
                                <p:cTn id="35" presetID="10" presetClass="entr" presetSubtype="0" fill="hold" grpId="0" nodeType="withEffect">
                                  <p:stCondLst>
                                    <p:cond delay="27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300"/>
                                        <p:tgtEl>
                                          <p:spTgt spid="13"/>
                                        </p:tgtEl>
                                      </p:cBhvr>
                                    </p:animEffect>
                                  </p:childTnLst>
                                </p:cTn>
                              </p:par>
                              <p:par>
                                <p:cTn id="38" presetID="10" presetClass="entr" presetSubtype="0" fill="hold" grpId="0" nodeType="withEffect">
                                  <p:stCondLst>
                                    <p:cond delay="30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300"/>
                                        <p:tgtEl>
                                          <p:spTgt spid="14"/>
                                        </p:tgtEl>
                                      </p:cBhvr>
                                    </p:animEffect>
                                  </p:childTnLst>
                                </p:cTn>
                              </p:par>
                              <p:par>
                                <p:cTn id="41" presetID="10" presetClass="entr" presetSubtype="0" fill="hold" grpId="0" nodeType="withEffect">
                                  <p:stCondLst>
                                    <p:cond delay="33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300"/>
                                        <p:tgtEl>
                                          <p:spTgt spid="15"/>
                                        </p:tgtEl>
                                      </p:cBhvr>
                                    </p:animEffect>
                                  </p:childTnLst>
                                </p:cTn>
                              </p:par>
                              <p:par>
                                <p:cTn id="44" presetID="10" presetClass="entr" presetSubtype="0" fill="hold" grpId="0" nodeType="withEffect">
                                  <p:stCondLst>
                                    <p:cond delay="36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300"/>
                                        <p:tgtEl>
                                          <p:spTgt spid="16"/>
                                        </p:tgtEl>
                                      </p:cBhvr>
                                    </p:animEffect>
                                  </p:childTnLst>
                                </p:cTn>
                              </p:par>
                              <p:par>
                                <p:cTn id="47" presetID="10" presetClass="entr" presetSubtype="0" fill="hold" grpId="0" nodeType="withEffect">
                                  <p:stCondLst>
                                    <p:cond delay="39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300"/>
                                        <p:tgtEl>
                                          <p:spTgt spid="17"/>
                                        </p:tgtEl>
                                      </p:cBhvr>
                                    </p:animEffect>
                                  </p:childTnLst>
                                </p:cTn>
                              </p:par>
                              <p:par>
                                <p:cTn id="50" presetID="10" presetClass="entr" presetSubtype="0" fill="hold" grpId="0" nodeType="withEffect">
                                  <p:stCondLst>
                                    <p:cond delay="42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300"/>
                                        <p:tgtEl>
                                          <p:spTgt spid="18"/>
                                        </p:tgtEl>
                                      </p:cBhvr>
                                    </p:animEffect>
                                  </p:childTnLst>
                                </p:cTn>
                              </p:par>
                              <p:par>
                                <p:cTn id="53" presetID="10" presetClass="entr" presetSubtype="0" fill="hold" grpId="0" nodeType="withEffect">
                                  <p:stCondLst>
                                    <p:cond delay="45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300"/>
                                        <p:tgtEl>
                                          <p:spTgt spid="19"/>
                                        </p:tgtEl>
                                      </p:cBhvr>
                                    </p:animEffect>
                                  </p:childTnLst>
                                </p:cTn>
                              </p:par>
                            </p:childTnLst>
                          </p:cTn>
                        </p:par>
                        <p:par>
                          <p:cTn id="56" fill="hold">
                            <p:stCondLst>
                              <p:cond delay="750"/>
                            </p:stCondLst>
                            <p:childTnLst>
                              <p:par>
                                <p:cTn id="57" presetID="22" presetClass="entr" presetSubtype="8" fill="hold" grpId="0"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wipe(left)">
                                      <p:cBhvr>
                                        <p:cTn id="59" dur="800"/>
                                        <p:tgtEl>
                                          <p:spTgt spid="21"/>
                                        </p:tgtEl>
                                      </p:cBhvr>
                                    </p:animEffect>
                                  </p:childTnLst>
                                </p:cTn>
                              </p:par>
                              <p:par>
                                <p:cTn id="60" presetID="10" presetClass="entr" presetSubtype="0" fill="hold" grpId="0" nodeType="withEffect">
                                  <p:stCondLst>
                                    <p:cond delay="40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00"/>
                                        <p:tgtEl>
                                          <p:spTgt spid="24"/>
                                        </p:tgtEl>
                                      </p:cBhvr>
                                    </p:animEffect>
                                  </p:childTnLst>
                                </p:cTn>
                              </p:par>
                            </p:childTnLst>
                          </p:cTn>
                        </p:par>
                        <p:par>
                          <p:cTn id="63" fill="hold">
                            <p:stCondLst>
                              <p:cond delay="1550"/>
                            </p:stCondLst>
                            <p:childTnLst>
                              <p:par>
                                <p:cTn id="64" presetID="10" presetClass="entr" presetSubtype="0" fill="hold" grpId="0" nodeType="after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300"/>
                                        <p:tgtEl>
                                          <p:spTgt spid="27"/>
                                        </p:tgtEl>
                                      </p:cBhvr>
                                    </p:animEffect>
                                  </p:childTnLst>
                                </p:cTn>
                              </p:par>
                              <p:par>
                                <p:cTn id="67" presetID="22" presetClass="entr" presetSubtype="8" fill="hold" grpId="0" nodeType="withEffect">
                                  <p:stCondLst>
                                    <p:cond delay="100"/>
                                  </p:stCondLst>
                                  <p:childTnLst>
                                    <p:set>
                                      <p:cBhvr>
                                        <p:cTn id="68" dur="1" fill="hold">
                                          <p:stCondLst>
                                            <p:cond delay="0"/>
                                          </p:stCondLst>
                                        </p:cTn>
                                        <p:tgtEl>
                                          <p:spTgt spid="22"/>
                                        </p:tgtEl>
                                        <p:attrNameLst>
                                          <p:attrName>style.visibility</p:attrName>
                                        </p:attrNameLst>
                                      </p:cBhvr>
                                      <p:to>
                                        <p:strVal val="visible"/>
                                      </p:to>
                                    </p:set>
                                    <p:animEffect transition="in" filter="wipe(left)">
                                      <p:cBhvr>
                                        <p:cTn id="69" dur="350"/>
                                        <p:tgtEl>
                                          <p:spTgt spid="22"/>
                                        </p:tgtEl>
                                      </p:cBhvr>
                                    </p:animEffect>
                                  </p:childTnLst>
                                </p:cTn>
                              </p:par>
                              <p:par>
                                <p:cTn id="70" presetID="10" presetClass="entr" presetSubtype="0" fill="hold" grpId="0" nodeType="withEffect">
                                  <p:stCondLst>
                                    <p:cond delay="25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300"/>
                                        <p:tgtEl>
                                          <p:spTgt spid="25"/>
                                        </p:tgtEl>
                                      </p:cBhvr>
                                    </p:animEffect>
                                  </p:childTnLst>
                                </p:cTn>
                              </p:par>
                            </p:childTnLst>
                          </p:cTn>
                        </p:par>
                        <p:par>
                          <p:cTn id="73" fill="hold">
                            <p:stCondLst>
                              <p:cond delay="2100"/>
                            </p:stCondLst>
                            <p:childTnLst>
                              <p:par>
                                <p:cTn id="74" presetID="10" presetClass="entr" presetSubtype="0" fill="hold" grpId="0" nodeType="after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300"/>
                                        <p:tgtEl>
                                          <p:spTgt spid="28"/>
                                        </p:tgtEl>
                                      </p:cBhvr>
                                    </p:animEffect>
                                  </p:childTnLst>
                                </p:cTn>
                              </p:par>
                              <p:par>
                                <p:cTn id="77" presetID="22" presetClass="entr" presetSubtype="8" fill="hold" grpId="0" nodeType="withEffect">
                                  <p:stCondLst>
                                    <p:cond delay="100"/>
                                  </p:stCondLst>
                                  <p:childTnLst>
                                    <p:set>
                                      <p:cBhvr>
                                        <p:cTn id="78" dur="1" fill="hold">
                                          <p:stCondLst>
                                            <p:cond delay="0"/>
                                          </p:stCondLst>
                                        </p:cTn>
                                        <p:tgtEl>
                                          <p:spTgt spid="23"/>
                                        </p:tgtEl>
                                        <p:attrNameLst>
                                          <p:attrName>style.visibility</p:attrName>
                                        </p:attrNameLst>
                                      </p:cBhvr>
                                      <p:to>
                                        <p:strVal val="visible"/>
                                      </p:to>
                                    </p:set>
                                    <p:animEffect transition="in" filter="wipe(left)">
                                      <p:cBhvr>
                                        <p:cTn id="79" dur="500"/>
                                        <p:tgtEl>
                                          <p:spTgt spid="23"/>
                                        </p:tgtEl>
                                      </p:cBhvr>
                                    </p:animEffect>
                                  </p:childTnLst>
                                </p:cTn>
                              </p:par>
                              <p:par>
                                <p:cTn id="80" presetID="10" presetClass="entr" presetSubtype="0" fill="hold" grpId="0" nodeType="withEffect">
                                  <p:stCondLst>
                                    <p:cond delay="30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300"/>
                                        <p:tgtEl>
                                          <p:spTgt spid="26"/>
                                        </p:tgtEl>
                                      </p:cBhvr>
                                    </p:animEffect>
                                  </p:childTnLst>
                                </p:cTn>
                              </p:par>
                            </p:childTnLst>
                          </p:cTn>
                        </p:par>
                        <p:par>
                          <p:cTn id="83" fill="hold">
                            <p:stCondLst>
                              <p:cond delay="2700"/>
                            </p:stCondLst>
                            <p:childTnLst>
                              <p:par>
                                <p:cTn id="84" presetID="42" presetClass="entr" presetSubtype="0" fill="hold" nodeType="after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anim calcmode="lin" valueType="num">
                                      <p:cBhvr>
                                        <p:cTn id="87" dur="500" fill="hold"/>
                                        <p:tgtEl>
                                          <p:spTgt spid="29"/>
                                        </p:tgtEl>
                                        <p:attrNameLst>
                                          <p:attrName>ppt_x</p:attrName>
                                        </p:attrNameLst>
                                      </p:cBhvr>
                                      <p:tavLst>
                                        <p:tav tm="0">
                                          <p:val>
                                            <p:strVal val="#ppt_x"/>
                                          </p:val>
                                        </p:tav>
                                        <p:tav tm="100000">
                                          <p:val>
                                            <p:strVal val="#ppt_x"/>
                                          </p:val>
                                        </p:tav>
                                      </p:tavLst>
                                    </p:anim>
                                    <p:anim calcmode="lin" valueType="num">
                                      <p:cBhvr>
                                        <p:cTn id="88" dur="500" fill="hold"/>
                                        <p:tgtEl>
                                          <p:spTgt spid="29"/>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12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anim calcmode="lin" valueType="num">
                                      <p:cBhvr>
                                        <p:cTn id="92" dur="500" fill="hold"/>
                                        <p:tgtEl>
                                          <p:spTgt spid="33"/>
                                        </p:tgtEl>
                                        <p:attrNameLst>
                                          <p:attrName>ppt_x</p:attrName>
                                        </p:attrNameLst>
                                      </p:cBhvr>
                                      <p:tavLst>
                                        <p:tav tm="0">
                                          <p:val>
                                            <p:strVal val="#ppt_x"/>
                                          </p:val>
                                        </p:tav>
                                        <p:tav tm="100000">
                                          <p:val>
                                            <p:strVal val="#ppt_x"/>
                                          </p:val>
                                        </p:tav>
                                      </p:tavLst>
                                    </p:anim>
                                    <p:anim calcmode="lin" valueType="num">
                                      <p:cBhvr>
                                        <p:cTn id="93" dur="500" fill="hold"/>
                                        <p:tgtEl>
                                          <p:spTgt spid="33"/>
                                        </p:tgtEl>
                                        <p:attrNameLst>
                                          <p:attrName>ppt_y</p:attrName>
                                        </p:attrNameLst>
                                      </p:cBhvr>
                                      <p:tavLst>
                                        <p:tav tm="0">
                                          <p:val>
                                            <p:strVal val="#ppt_y+.1"/>
                                          </p:val>
                                        </p:tav>
                                        <p:tav tm="100000">
                                          <p:val>
                                            <p:strVal val="#ppt_y"/>
                                          </p:val>
                                        </p:tav>
                                      </p:tavLst>
                                    </p:anim>
                                  </p:childTnLst>
                                </p:cTn>
                              </p:par>
                              <p:par>
                                <p:cTn id="94" presetID="42" presetClass="entr" presetSubtype="0" fill="hold" nodeType="withEffect">
                                  <p:stCondLst>
                                    <p:cond delay="240"/>
                                  </p:stCondLst>
                                  <p:childTnLst>
                                    <p:set>
                                      <p:cBhvr>
                                        <p:cTn id="95" dur="1" fill="hold">
                                          <p:stCondLst>
                                            <p:cond delay="0"/>
                                          </p:stCondLst>
                                        </p:cTn>
                                        <p:tgtEl>
                                          <p:spTgt spid="37"/>
                                        </p:tgtEl>
                                        <p:attrNameLst>
                                          <p:attrName>style.visibility</p:attrName>
                                        </p:attrNameLst>
                                      </p:cBhvr>
                                      <p:to>
                                        <p:strVal val="visible"/>
                                      </p:to>
                                    </p:set>
                                    <p:animEffect transition="in" filter="fade">
                                      <p:cBhvr>
                                        <p:cTn id="96" dur="500"/>
                                        <p:tgtEl>
                                          <p:spTgt spid="37"/>
                                        </p:tgtEl>
                                      </p:cBhvr>
                                    </p:animEffect>
                                    <p:anim calcmode="lin" valueType="num">
                                      <p:cBhvr>
                                        <p:cTn id="97" dur="500" fill="hold"/>
                                        <p:tgtEl>
                                          <p:spTgt spid="37"/>
                                        </p:tgtEl>
                                        <p:attrNameLst>
                                          <p:attrName>ppt_x</p:attrName>
                                        </p:attrNameLst>
                                      </p:cBhvr>
                                      <p:tavLst>
                                        <p:tav tm="0">
                                          <p:val>
                                            <p:strVal val="#ppt_x"/>
                                          </p:val>
                                        </p:tav>
                                        <p:tav tm="100000">
                                          <p:val>
                                            <p:strVal val="#ppt_x"/>
                                          </p:val>
                                        </p:tav>
                                      </p:tavLst>
                                    </p:anim>
                                    <p:anim calcmode="lin" valueType="num">
                                      <p:cBhvr>
                                        <p:cTn id="98" dur="500" fill="hold"/>
                                        <p:tgtEl>
                                          <p:spTgt spid="37"/>
                                        </p:tgtEl>
                                        <p:attrNameLst>
                                          <p:attrName>ppt_y</p:attrName>
                                        </p:attrNameLst>
                                      </p:cBhvr>
                                      <p:tavLst>
                                        <p:tav tm="0">
                                          <p:val>
                                            <p:strVal val="#ppt_y+.1"/>
                                          </p:val>
                                        </p:tav>
                                        <p:tav tm="100000">
                                          <p:val>
                                            <p:strVal val="#ppt_y"/>
                                          </p:val>
                                        </p:tav>
                                      </p:tavLst>
                                    </p:anim>
                                  </p:childTnLst>
                                </p:cTn>
                              </p:par>
                            </p:childTnLst>
                          </p:cTn>
                        </p:par>
                        <p:par>
                          <p:cTn id="99" fill="hold">
                            <p:stCondLst>
                              <p:cond delay="3440"/>
                            </p:stCondLst>
                            <p:childTnLst>
                              <p:par>
                                <p:cTn id="100" presetID="10" presetClass="entr" presetSubtype="0" fill="hold" grpId="0" nodeType="after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1" grpId="0" animBg="1"/>
      <p:bldP spid="22" grpId="0" animBg="1"/>
      <p:bldP spid="23" grpId="0" animBg="1"/>
      <p:bldP spid="24" grpId="0"/>
      <p:bldP spid="25" grpId="0"/>
      <p:bldP spid="26" grpId="0"/>
      <p:bldP spid="27" grpId="0"/>
      <p:bldP spid="28" grpId="0"/>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Walk-forward: retrain every year, trade the next</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07 · METHODOLOGY</a:t>
            </a:r>
          </a:p>
        </p:txBody>
      </p:sp>
      <p:sp>
        <p:nvSpPr>
          <p:cNvPr id="4" name="!!yr2011"/>
          <p:cNvSpPr txBox="1"/>
          <p:nvPr/>
        </p:nvSpPr>
        <p:spPr>
          <a:xfrm>
            <a:off x="1234440"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2011</a:t>
            </a:r>
          </a:p>
        </p:txBody>
      </p:sp>
      <p:sp>
        <p:nvSpPr>
          <p:cNvPr id="5" name="!!yr2012"/>
          <p:cNvSpPr txBox="1"/>
          <p:nvPr/>
        </p:nvSpPr>
        <p:spPr>
          <a:xfrm>
            <a:off x="1898904"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2012</a:t>
            </a:r>
          </a:p>
        </p:txBody>
      </p:sp>
      <p:sp>
        <p:nvSpPr>
          <p:cNvPr id="6" name="!!yr2013"/>
          <p:cNvSpPr txBox="1"/>
          <p:nvPr/>
        </p:nvSpPr>
        <p:spPr>
          <a:xfrm>
            <a:off x="2563368"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2013</a:t>
            </a:r>
          </a:p>
        </p:txBody>
      </p:sp>
      <p:sp>
        <p:nvSpPr>
          <p:cNvPr id="7" name="!!yr2014"/>
          <p:cNvSpPr txBox="1"/>
          <p:nvPr/>
        </p:nvSpPr>
        <p:spPr>
          <a:xfrm>
            <a:off x="3227832"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2014</a:t>
            </a:r>
          </a:p>
        </p:txBody>
      </p:sp>
      <p:sp>
        <p:nvSpPr>
          <p:cNvPr id="8" name="!!yr2015"/>
          <p:cNvSpPr txBox="1"/>
          <p:nvPr/>
        </p:nvSpPr>
        <p:spPr>
          <a:xfrm>
            <a:off x="3892296"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2015</a:t>
            </a:r>
          </a:p>
        </p:txBody>
      </p:sp>
      <p:sp>
        <p:nvSpPr>
          <p:cNvPr id="9" name="!!yr2016"/>
          <p:cNvSpPr txBox="1"/>
          <p:nvPr/>
        </p:nvSpPr>
        <p:spPr>
          <a:xfrm>
            <a:off x="4556760"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2016</a:t>
            </a:r>
          </a:p>
        </p:txBody>
      </p:sp>
      <p:sp>
        <p:nvSpPr>
          <p:cNvPr id="10" name="!!yr2017"/>
          <p:cNvSpPr txBox="1"/>
          <p:nvPr/>
        </p:nvSpPr>
        <p:spPr>
          <a:xfrm>
            <a:off x="5221224"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2017</a:t>
            </a:r>
          </a:p>
        </p:txBody>
      </p:sp>
      <p:sp>
        <p:nvSpPr>
          <p:cNvPr id="11" name="!!yr2018"/>
          <p:cNvSpPr txBox="1"/>
          <p:nvPr/>
        </p:nvSpPr>
        <p:spPr>
          <a:xfrm>
            <a:off x="5885688"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2018</a:t>
            </a:r>
          </a:p>
        </p:txBody>
      </p:sp>
      <p:sp>
        <p:nvSpPr>
          <p:cNvPr id="12" name="!!yr2019"/>
          <p:cNvSpPr txBox="1"/>
          <p:nvPr/>
        </p:nvSpPr>
        <p:spPr>
          <a:xfrm>
            <a:off x="6550152"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2019</a:t>
            </a:r>
          </a:p>
        </p:txBody>
      </p:sp>
      <p:sp>
        <p:nvSpPr>
          <p:cNvPr id="13" name="!!yr2020"/>
          <p:cNvSpPr txBox="1"/>
          <p:nvPr/>
        </p:nvSpPr>
        <p:spPr>
          <a:xfrm>
            <a:off x="7214616"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2020</a:t>
            </a:r>
          </a:p>
        </p:txBody>
      </p:sp>
      <p:sp>
        <p:nvSpPr>
          <p:cNvPr id="14" name="!!yr2021"/>
          <p:cNvSpPr txBox="1"/>
          <p:nvPr/>
        </p:nvSpPr>
        <p:spPr>
          <a:xfrm>
            <a:off x="7879080"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2021</a:t>
            </a:r>
          </a:p>
        </p:txBody>
      </p:sp>
      <p:sp>
        <p:nvSpPr>
          <p:cNvPr id="15" name="!!yr2022"/>
          <p:cNvSpPr txBox="1"/>
          <p:nvPr/>
        </p:nvSpPr>
        <p:spPr>
          <a:xfrm>
            <a:off x="8543544"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2022</a:t>
            </a:r>
          </a:p>
        </p:txBody>
      </p:sp>
      <p:sp>
        <p:nvSpPr>
          <p:cNvPr id="16" name="!!yr2023"/>
          <p:cNvSpPr txBox="1"/>
          <p:nvPr/>
        </p:nvSpPr>
        <p:spPr>
          <a:xfrm>
            <a:off x="9208008"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2023</a:t>
            </a:r>
          </a:p>
        </p:txBody>
      </p:sp>
      <p:sp>
        <p:nvSpPr>
          <p:cNvPr id="17" name="!!yr2024"/>
          <p:cNvSpPr txBox="1"/>
          <p:nvPr/>
        </p:nvSpPr>
        <p:spPr>
          <a:xfrm>
            <a:off x="9872472"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2024</a:t>
            </a:r>
          </a:p>
        </p:txBody>
      </p:sp>
      <p:sp>
        <p:nvSpPr>
          <p:cNvPr id="18" name="!!yr2025"/>
          <p:cNvSpPr txBox="1"/>
          <p:nvPr/>
        </p:nvSpPr>
        <p:spPr>
          <a:xfrm>
            <a:off x="10536936"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2025</a:t>
            </a:r>
          </a:p>
        </p:txBody>
      </p:sp>
      <p:sp>
        <p:nvSpPr>
          <p:cNvPr id="19" name="!!yr2026"/>
          <p:cNvSpPr txBox="1"/>
          <p:nvPr/>
        </p:nvSpPr>
        <p:spPr>
          <a:xfrm>
            <a:off x="11201400" y="1828800"/>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2026</a:t>
            </a:r>
          </a:p>
        </p:txBody>
      </p:sp>
      <p:cxnSp>
        <p:nvCxnSpPr>
          <p:cNvPr id="20" name="!!axis"/>
          <p:cNvCxnSpPr/>
          <p:nvPr/>
        </p:nvCxnSpPr>
        <p:spPr>
          <a:xfrm>
            <a:off x="1508760" y="2157984"/>
            <a:ext cx="9966960" cy="0"/>
          </a:xfrm>
          <a:prstGeom prst="line">
            <a:avLst/>
          </a:prstGeom>
          <a:ln w="12700">
            <a:solidFill>
              <a:srgbClr val="3A4D63"/>
            </a:solidFill>
          </a:ln>
        </p:spPr>
      </p:cxnSp>
      <p:sp>
        <p:nvSpPr>
          <p:cNvPr id="21" name="wf_2016_train"/>
          <p:cNvSpPr/>
          <p:nvPr/>
        </p:nvSpPr>
        <p:spPr>
          <a:xfrm>
            <a:off x="1577089" y="2395728"/>
            <a:ext cx="2570349" cy="246888"/>
          </a:xfrm>
          <a:prstGeom prst="roundRect">
            <a:avLst>
              <a:gd name="adj" fmla="val 22222"/>
            </a:avLst>
          </a:prstGeom>
          <a:solidFill>
            <a:srgbClr val="4CC9F0">
              <a:alpha val="32000"/>
            </a:srgbClr>
          </a:solidFill>
          <a:ln w="9525">
            <a:solidFill>
              <a:srgbClr val="4CC9F0">
                <a:alpha val="85000"/>
              </a:srgbClr>
            </a:solidFill>
          </a:ln>
        </p:spPr>
        <p:txBody>
          <a:bodyPr lIns="0" tIns="0" rIns="0" bIns="0" rtlCol="0" anchor="ctr"/>
          <a:lstStyle/>
          <a:p>
            <a:pPr algn="ctr"/>
            <a:endParaRPr/>
          </a:p>
        </p:txBody>
      </p:sp>
      <p:sp>
        <p:nvSpPr>
          <p:cNvPr id="22" name="wf_2016_val"/>
          <p:cNvSpPr/>
          <p:nvPr/>
        </p:nvSpPr>
        <p:spPr>
          <a:xfrm>
            <a:off x="4182152" y="2395728"/>
            <a:ext cx="629750" cy="246888"/>
          </a:xfrm>
          <a:prstGeom prst="roundRect">
            <a:avLst>
              <a:gd name="adj" fmla="val 22222"/>
            </a:avLst>
          </a:prstGeom>
          <a:solidFill>
            <a:srgbClr val="FFB547">
              <a:alpha val="90000"/>
            </a:srgbClr>
          </a:solidFill>
          <a:ln w="9525">
            <a:solidFill>
              <a:srgbClr val="FFB547"/>
            </a:solidFill>
          </a:ln>
        </p:spPr>
        <p:txBody>
          <a:bodyPr lIns="0" tIns="0" rIns="0" bIns="0" rtlCol="0" anchor="ctr"/>
          <a:lstStyle/>
          <a:p>
            <a:pPr algn="ctr"/>
            <a:endParaRPr/>
          </a:p>
        </p:txBody>
      </p:sp>
      <p:sp>
        <p:nvSpPr>
          <p:cNvPr id="23" name="wf_2016_test"/>
          <p:cNvSpPr/>
          <p:nvPr/>
        </p:nvSpPr>
        <p:spPr>
          <a:xfrm>
            <a:off x="4846611" y="2395728"/>
            <a:ext cx="633401" cy="246888"/>
          </a:xfrm>
          <a:prstGeom prst="roundRect">
            <a:avLst>
              <a:gd name="adj" fmla="val 22222"/>
            </a:avLst>
          </a:prstGeom>
          <a:solidFill>
            <a:srgbClr val="EAF0F6">
              <a:alpha val="92000"/>
            </a:srgbClr>
          </a:solidFill>
          <a:ln w="9525">
            <a:solidFill>
              <a:srgbClr val="EAF0F6"/>
            </a:solidFill>
          </a:ln>
        </p:spPr>
        <p:txBody>
          <a:bodyPr lIns="0" tIns="0" rIns="0" bIns="0" rtlCol="0" anchor="ctr"/>
          <a:lstStyle/>
          <a:p>
            <a:pPr algn="ctr"/>
            <a:endParaRPr/>
          </a:p>
        </p:txBody>
      </p:sp>
      <p:sp>
        <p:nvSpPr>
          <p:cNvPr id="24" name="wf_lbl_2016"/>
          <p:cNvSpPr txBox="1"/>
          <p:nvPr/>
        </p:nvSpPr>
        <p:spPr>
          <a:xfrm>
            <a:off x="640080" y="2395728"/>
            <a:ext cx="658368" cy="246888"/>
          </a:xfrm>
          <a:prstGeom prst="rect">
            <a:avLst/>
          </a:prstGeom>
          <a:noFill/>
        </p:spPr>
        <p:txBody>
          <a:bodyPr wrap="square" lIns="0" tIns="0" rIns="0" bIns="0" anchor="ctr">
            <a:noAutofit/>
          </a:bodyPr>
          <a:lstStyle/>
          <a:p>
            <a:pPr algn="r">
              <a:spcAft>
                <a:spcPts val="0"/>
              </a:spcAft>
            </a:pPr>
            <a:r>
              <a:rPr sz="1100" b="0" i="0">
                <a:solidFill>
                  <a:srgbClr val="AAB6C3"/>
                </a:solidFill>
                <a:latin typeface="Consolas"/>
              </a:rPr>
              <a:t>2016</a:t>
            </a:r>
          </a:p>
        </p:txBody>
      </p:sp>
      <p:sp>
        <p:nvSpPr>
          <p:cNvPr id="25" name="wf_2017_train"/>
          <p:cNvSpPr/>
          <p:nvPr/>
        </p:nvSpPr>
        <p:spPr>
          <a:xfrm>
            <a:off x="1577089" y="2734056"/>
            <a:ext cx="3234813" cy="246888"/>
          </a:xfrm>
          <a:prstGeom prst="roundRect">
            <a:avLst>
              <a:gd name="adj" fmla="val 22222"/>
            </a:avLst>
          </a:prstGeom>
          <a:solidFill>
            <a:srgbClr val="4CC9F0">
              <a:alpha val="32000"/>
            </a:srgbClr>
          </a:solidFill>
          <a:ln w="9525">
            <a:solidFill>
              <a:srgbClr val="4CC9F0">
                <a:alpha val="85000"/>
              </a:srgbClr>
            </a:solidFill>
          </a:ln>
        </p:spPr>
        <p:txBody>
          <a:bodyPr lIns="0" tIns="0" rIns="0" bIns="0" rtlCol="0" anchor="ctr"/>
          <a:lstStyle/>
          <a:p>
            <a:pPr algn="ctr"/>
            <a:endParaRPr/>
          </a:p>
        </p:txBody>
      </p:sp>
      <p:sp>
        <p:nvSpPr>
          <p:cNvPr id="26" name="wf_2017_val"/>
          <p:cNvSpPr/>
          <p:nvPr/>
        </p:nvSpPr>
        <p:spPr>
          <a:xfrm>
            <a:off x="4850242" y="2734056"/>
            <a:ext cx="624324" cy="246888"/>
          </a:xfrm>
          <a:prstGeom prst="roundRect">
            <a:avLst>
              <a:gd name="adj" fmla="val 22222"/>
            </a:avLst>
          </a:prstGeom>
          <a:solidFill>
            <a:srgbClr val="FFB547">
              <a:alpha val="90000"/>
            </a:srgbClr>
          </a:solidFill>
          <a:ln w="9525">
            <a:solidFill>
              <a:srgbClr val="FFB547"/>
            </a:solidFill>
          </a:ln>
        </p:spPr>
        <p:txBody>
          <a:bodyPr lIns="0" tIns="0" rIns="0" bIns="0" rtlCol="0" anchor="ctr"/>
          <a:lstStyle/>
          <a:p>
            <a:pPr algn="ctr"/>
            <a:endParaRPr/>
          </a:p>
        </p:txBody>
      </p:sp>
      <p:sp>
        <p:nvSpPr>
          <p:cNvPr id="27" name="wf_2017_test"/>
          <p:cNvSpPr/>
          <p:nvPr/>
        </p:nvSpPr>
        <p:spPr>
          <a:xfrm>
            <a:off x="5511080" y="2734056"/>
            <a:ext cx="633391" cy="246888"/>
          </a:xfrm>
          <a:prstGeom prst="roundRect">
            <a:avLst>
              <a:gd name="adj" fmla="val 22222"/>
            </a:avLst>
          </a:prstGeom>
          <a:solidFill>
            <a:srgbClr val="EAF0F6">
              <a:alpha val="92000"/>
            </a:srgbClr>
          </a:solidFill>
          <a:ln w="9525">
            <a:solidFill>
              <a:srgbClr val="EAF0F6"/>
            </a:solidFill>
          </a:ln>
        </p:spPr>
        <p:txBody>
          <a:bodyPr lIns="0" tIns="0" rIns="0" bIns="0" rtlCol="0" anchor="ctr"/>
          <a:lstStyle/>
          <a:p>
            <a:pPr algn="ctr"/>
            <a:endParaRPr/>
          </a:p>
        </p:txBody>
      </p:sp>
      <p:sp>
        <p:nvSpPr>
          <p:cNvPr id="28" name="wf_lbl_2017"/>
          <p:cNvSpPr txBox="1"/>
          <p:nvPr/>
        </p:nvSpPr>
        <p:spPr>
          <a:xfrm>
            <a:off x="640080" y="2734056"/>
            <a:ext cx="658368" cy="246888"/>
          </a:xfrm>
          <a:prstGeom prst="rect">
            <a:avLst/>
          </a:prstGeom>
          <a:noFill/>
        </p:spPr>
        <p:txBody>
          <a:bodyPr wrap="square" lIns="0" tIns="0" rIns="0" bIns="0" anchor="ctr">
            <a:noAutofit/>
          </a:bodyPr>
          <a:lstStyle/>
          <a:p>
            <a:pPr algn="r">
              <a:spcAft>
                <a:spcPts val="0"/>
              </a:spcAft>
            </a:pPr>
            <a:r>
              <a:rPr sz="1100" b="0" i="0">
                <a:solidFill>
                  <a:srgbClr val="AAB6C3"/>
                </a:solidFill>
                <a:latin typeface="Consolas"/>
              </a:rPr>
              <a:t>2017</a:t>
            </a:r>
          </a:p>
        </p:txBody>
      </p:sp>
      <p:sp>
        <p:nvSpPr>
          <p:cNvPr id="29" name="wf_2018_train"/>
          <p:cNvSpPr/>
          <p:nvPr/>
        </p:nvSpPr>
        <p:spPr>
          <a:xfrm>
            <a:off x="1577089" y="3072384"/>
            <a:ext cx="3897477" cy="246888"/>
          </a:xfrm>
          <a:prstGeom prst="roundRect">
            <a:avLst>
              <a:gd name="adj" fmla="val 22222"/>
            </a:avLst>
          </a:prstGeom>
          <a:solidFill>
            <a:srgbClr val="4CC9F0">
              <a:alpha val="32000"/>
            </a:srgbClr>
          </a:solidFill>
          <a:ln w="9525">
            <a:solidFill>
              <a:srgbClr val="4CC9F0">
                <a:alpha val="85000"/>
              </a:srgbClr>
            </a:solidFill>
          </a:ln>
        </p:spPr>
        <p:txBody>
          <a:bodyPr lIns="0" tIns="0" rIns="0" bIns="0" rtlCol="0" anchor="ctr"/>
          <a:lstStyle/>
          <a:p>
            <a:pPr algn="ctr"/>
            <a:endParaRPr/>
          </a:p>
        </p:txBody>
      </p:sp>
      <p:sp>
        <p:nvSpPr>
          <p:cNvPr id="30" name="wf_2018_val"/>
          <p:cNvSpPr/>
          <p:nvPr/>
        </p:nvSpPr>
        <p:spPr>
          <a:xfrm>
            <a:off x="5512901" y="3072384"/>
            <a:ext cx="624289" cy="246888"/>
          </a:xfrm>
          <a:prstGeom prst="roundRect">
            <a:avLst>
              <a:gd name="adj" fmla="val 22222"/>
            </a:avLst>
          </a:prstGeom>
          <a:solidFill>
            <a:srgbClr val="FFB547">
              <a:alpha val="90000"/>
            </a:srgbClr>
          </a:solidFill>
          <a:ln w="9525">
            <a:solidFill>
              <a:srgbClr val="FFB547"/>
            </a:solidFill>
          </a:ln>
        </p:spPr>
        <p:txBody>
          <a:bodyPr lIns="0" tIns="0" rIns="0" bIns="0" rtlCol="0" anchor="ctr"/>
          <a:lstStyle/>
          <a:p>
            <a:pPr algn="ctr"/>
            <a:endParaRPr/>
          </a:p>
        </p:txBody>
      </p:sp>
      <p:sp>
        <p:nvSpPr>
          <p:cNvPr id="31" name="wf_2018_test"/>
          <p:cNvSpPr/>
          <p:nvPr/>
        </p:nvSpPr>
        <p:spPr>
          <a:xfrm>
            <a:off x="6175544" y="3072384"/>
            <a:ext cx="633391" cy="246888"/>
          </a:xfrm>
          <a:prstGeom prst="roundRect">
            <a:avLst>
              <a:gd name="adj" fmla="val 22222"/>
            </a:avLst>
          </a:prstGeom>
          <a:solidFill>
            <a:srgbClr val="EAF0F6">
              <a:alpha val="92000"/>
            </a:srgbClr>
          </a:solidFill>
          <a:ln w="9525">
            <a:solidFill>
              <a:srgbClr val="EAF0F6"/>
            </a:solidFill>
          </a:ln>
        </p:spPr>
        <p:txBody>
          <a:bodyPr lIns="0" tIns="0" rIns="0" bIns="0" rtlCol="0" anchor="ctr"/>
          <a:lstStyle/>
          <a:p>
            <a:pPr algn="ctr"/>
            <a:endParaRPr/>
          </a:p>
        </p:txBody>
      </p:sp>
      <p:sp>
        <p:nvSpPr>
          <p:cNvPr id="32" name="wf_lbl_2018"/>
          <p:cNvSpPr txBox="1"/>
          <p:nvPr/>
        </p:nvSpPr>
        <p:spPr>
          <a:xfrm>
            <a:off x="640080" y="3072384"/>
            <a:ext cx="658368" cy="246888"/>
          </a:xfrm>
          <a:prstGeom prst="rect">
            <a:avLst/>
          </a:prstGeom>
          <a:noFill/>
        </p:spPr>
        <p:txBody>
          <a:bodyPr wrap="square" lIns="0" tIns="0" rIns="0" bIns="0" anchor="ctr">
            <a:noAutofit/>
          </a:bodyPr>
          <a:lstStyle/>
          <a:p>
            <a:pPr algn="r">
              <a:spcAft>
                <a:spcPts val="0"/>
              </a:spcAft>
            </a:pPr>
            <a:r>
              <a:rPr sz="1100" b="0" i="0">
                <a:solidFill>
                  <a:srgbClr val="AAB6C3"/>
                </a:solidFill>
                <a:latin typeface="Consolas"/>
              </a:rPr>
              <a:t>2018</a:t>
            </a:r>
          </a:p>
        </p:txBody>
      </p:sp>
      <p:sp>
        <p:nvSpPr>
          <p:cNvPr id="33" name="wf_2019_train"/>
          <p:cNvSpPr/>
          <p:nvPr/>
        </p:nvSpPr>
        <p:spPr>
          <a:xfrm>
            <a:off x="1577089" y="3410712"/>
            <a:ext cx="4560100" cy="246888"/>
          </a:xfrm>
          <a:prstGeom prst="roundRect">
            <a:avLst>
              <a:gd name="adj" fmla="val 22222"/>
            </a:avLst>
          </a:prstGeom>
          <a:solidFill>
            <a:srgbClr val="4CC9F0">
              <a:alpha val="32000"/>
            </a:srgbClr>
          </a:solidFill>
          <a:ln w="9525">
            <a:solidFill>
              <a:srgbClr val="4CC9F0">
                <a:alpha val="85000"/>
              </a:srgbClr>
            </a:solidFill>
          </a:ln>
        </p:spPr>
        <p:txBody>
          <a:bodyPr lIns="0" tIns="0" rIns="0" bIns="0" rtlCol="0" anchor="ctr"/>
          <a:lstStyle/>
          <a:p>
            <a:pPr algn="ctr"/>
            <a:endParaRPr/>
          </a:p>
        </p:txBody>
      </p:sp>
      <p:sp>
        <p:nvSpPr>
          <p:cNvPr id="34" name="wf_2019_val"/>
          <p:cNvSpPr/>
          <p:nvPr/>
        </p:nvSpPr>
        <p:spPr>
          <a:xfrm>
            <a:off x="6175544" y="3410712"/>
            <a:ext cx="626109" cy="246888"/>
          </a:xfrm>
          <a:prstGeom prst="roundRect">
            <a:avLst>
              <a:gd name="adj" fmla="val 22222"/>
            </a:avLst>
          </a:prstGeom>
          <a:solidFill>
            <a:srgbClr val="FFB547">
              <a:alpha val="90000"/>
            </a:srgbClr>
          </a:solidFill>
          <a:ln w="9525">
            <a:solidFill>
              <a:srgbClr val="FFB547"/>
            </a:solidFill>
          </a:ln>
        </p:spPr>
        <p:txBody>
          <a:bodyPr lIns="0" tIns="0" rIns="0" bIns="0" rtlCol="0" anchor="ctr"/>
          <a:lstStyle/>
          <a:p>
            <a:pPr algn="ctr"/>
            <a:endParaRPr/>
          </a:p>
        </p:txBody>
      </p:sp>
      <p:sp>
        <p:nvSpPr>
          <p:cNvPr id="35" name="wf_2019_test"/>
          <p:cNvSpPr/>
          <p:nvPr/>
        </p:nvSpPr>
        <p:spPr>
          <a:xfrm>
            <a:off x="6840008" y="3410712"/>
            <a:ext cx="633391" cy="246888"/>
          </a:xfrm>
          <a:prstGeom prst="roundRect">
            <a:avLst>
              <a:gd name="adj" fmla="val 22222"/>
            </a:avLst>
          </a:prstGeom>
          <a:solidFill>
            <a:srgbClr val="EAF0F6">
              <a:alpha val="92000"/>
            </a:srgbClr>
          </a:solidFill>
          <a:ln w="9525">
            <a:solidFill>
              <a:srgbClr val="EAF0F6"/>
            </a:solidFill>
          </a:ln>
        </p:spPr>
        <p:txBody>
          <a:bodyPr lIns="0" tIns="0" rIns="0" bIns="0" rtlCol="0" anchor="ctr"/>
          <a:lstStyle/>
          <a:p>
            <a:pPr algn="ctr"/>
            <a:endParaRPr/>
          </a:p>
        </p:txBody>
      </p:sp>
      <p:sp>
        <p:nvSpPr>
          <p:cNvPr id="36" name="wf_lbl_2019"/>
          <p:cNvSpPr txBox="1"/>
          <p:nvPr/>
        </p:nvSpPr>
        <p:spPr>
          <a:xfrm>
            <a:off x="640080" y="3410712"/>
            <a:ext cx="658368" cy="246888"/>
          </a:xfrm>
          <a:prstGeom prst="rect">
            <a:avLst/>
          </a:prstGeom>
          <a:noFill/>
        </p:spPr>
        <p:txBody>
          <a:bodyPr wrap="square" lIns="0" tIns="0" rIns="0" bIns="0" anchor="ctr">
            <a:noAutofit/>
          </a:bodyPr>
          <a:lstStyle/>
          <a:p>
            <a:pPr algn="r">
              <a:spcAft>
                <a:spcPts val="0"/>
              </a:spcAft>
            </a:pPr>
            <a:r>
              <a:rPr sz="1100" b="0" i="0">
                <a:solidFill>
                  <a:srgbClr val="AAB6C3"/>
                </a:solidFill>
                <a:latin typeface="Consolas"/>
              </a:rPr>
              <a:t>2019</a:t>
            </a:r>
          </a:p>
        </p:txBody>
      </p:sp>
      <p:sp>
        <p:nvSpPr>
          <p:cNvPr id="37" name="wf_2020_train"/>
          <p:cNvSpPr/>
          <p:nvPr/>
        </p:nvSpPr>
        <p:spPr>
          <a:xfrm>
            <a:off x="1577089" y="3749040"/>
            <a:ext cx="5224564" cy="246888"/>
          </a:xfrm>
          <a:prstGeom prst="roundRect">
            <a:avLst>
              <a:gd name="adj" fmla="val 22222"/>
            </a:avLst>
          </a:prstGeom>
          <a:solidFill>
            <a:srgbClr val="4CC9F0">
              <a:alpha val="32000"/>
            </a:srgbClr>
          </a:solidFill>
          <a:ln w="9525">
            <a:solidFill>
              <a:srgbClr val="4CC9F0">
                <a:alpha val="85000"/>
              </a:srgbClr>
            </a:solidFill>
          </a:ln>
        </p:spPr>
        <p:txBody>
          <a:bodyPr lIns="0" tIns="0" rIns="0" bIns="0" rtlCol="0" anchor="ctr"/>
          <a:lstStyle/>
          <a:p>
            <a:pPr algn="ctr"/>
            <a:endParaRPr/>
          </a:p>
        </p:txBody>
      </p:sp>
      <p:sp>
        <p:nvSpPr>
          <p:cNvPr id="38" name="wf_2020_val"/>
          <p:cNvSpPr/>
          <p:nvPr/>
        </p:nvSpPr>
        <p:spPr>
          <a:xfrm>
            <a:off x="6840008" y="3749040"/>
            <a:ext cx="626109" cy="246888"/>
          </a:xfrm>
          <a:prstGeom prst="roundRect">
            <a:avLst>
              <a:gd name="adj" fmla="val 22222"/>
            </a:avLst>
          </a:prstGeom>
          <a:solidFill>
            <a:srgbClr val="FFB547">
              <a:alpha val="90000"/>
            </a:srgbClr>
          </a:solidFill>
          <a:ln w="9525">
            <a:solidFill>
              <a:srgbClr val="FFB547"/>
            </a:solidFill>
          </a:ln>
        </p:spPr>
        <p:txBody>
          <a:bodyPr lIns="0" tIns="0" rIns="0" bIns="0" rtlCol="0" anchor="ctr"/>
          <a:lstStyle/>
          <a:p>
            <a:pPr algn="ctr"/>
            <a:endParaRPr/>
          </a:p>
        </p:txBody>
      </p:sp>
      <p:sp>
        <p:nvSpPr>
          <p:cNvPr id="39" name="wf_2020_test"/>
          <p:cNvSpPr/>
          <p:nvPr/>
        </p:nvSpPr>
        <p:spPr>
          <a:xfrm>
            <a:off x="7504467" y="3749040"/>
            <a:ext cx="633401" cy="246888"/>
          </a:xfrm>
          <a:prstGeom prst="roundRect">
            <a:avLst>
              <a:gd name="adj" fmla="val 22222"/>
            </a:avLst>
          </a:prstGeom>
          <a:solidFill>
            <a:srgbClr val="EAF0F6">
              <a:alpha val="92000"/>
            </a:srgbClr>
          </a:solidFill>
          <a:ln w="9525">
            <a:solidFill>
              <a:srgbClr val="EAF0F6"/>
            </a:solidFill>
          </a:ln>
        </p:spPr>
        <p:txBody>
          <a:bodyPr lIns="0" tIns="0" rIns="0" bIns="0" rtlCol="0" anchor="ctr"/>
          <a:lstStyle/>
          <a:p>
            <a:pPr algn="ctr"/>
            <a:endParaRPr/>
          </a:p>
        </p:txBody>
      </p:sp>
      <p:sp>
        <p:nvSpPr>
          <p:cNvPr id="40" name="wf_lbl_2020"/>
          <p:cNvSpPr txBox="1"/>
          <p:nvPr/>
        </p:nvSpPr>
        <p:spPr>
          <a:xfrm>
            <a:off x="640080" y="3749040"/>
            <a:ext cx="658368" cy="246888"/>
          </a:xfrm>
          <a:prstGeom prst="rect">
            <a:avLst/>
          </a:prstGeom>
          <a:noFill/>
        </p:spPr>
        <p:txBody>
          <a:bodyPr wrap="square" lIns="0" tIns="0" rIns="0" bIns="0" anchor="ctr">
            <a:noAutofit/>
          </a:bodyPr>
          <a:lstStyle/>
          <a:p>
            <a:pPr algn="r">
              <a:spcAft>
                <a:spcPts val="0"/>
              </a:spcAft>
            </a:pPr>
            <a:r>
              <a:rPr sz="1100" b="0" i="0">
                <a:solidFill>
                  <a:srgbClr val="AAB6C3"/>
                </a:solidFill>
                <a:latin typeface="Consolas"/>
              </a:rPr>
              <a:t>2020</a:t>
            </a:r>
          </a:p>
        </p:txBody>
      </p:sp>
      <p:sp>
        <p:nvSpPr>
          <p:cNvPr id="41" name="wf_2021_train"/>
          <p:cNvSpPr/>
          <p:nvPr/>
        </p:nvSpPr>
        <p:spPr>
          <a:xfrm>
            <a:off x="1577089" y="4087368"/>
            <a:ext cx="5889028" cy="246888"/>
          </a:xfrm>
          <a:prstGeom prst="roundRect">
            <a:avLst>
              <a:gd name="adj" fmla="val 22222"/>
            </a:avLst>
          </a:prstGeom>
          <a:solidFill>
            <a:srgbClr val="4CC9F0">
              <a:alpha val="32000"/>
            </a:srgbClr>
          </a:solidFill>
          <a:ln w="9525">
            <a:solidFill>
              <a:srgbClr val="4CC9F0">
                <a:alpha val="85000"/>
              </a:srgbClr>
            </a:solidFill>
          </a:ln>
        </p:spPr>
        <p:txBody>
          <a:bodyPr lIns="0" tIns="0" rIns="0" bIns="0" rtlCol="0" anchor="ctr"/>
          <a:lstStyle/>
          <a:p>
            <a:pPr algn="ctr"/>
            <a:endParaRPr/>
          </a:p>
        </p:txBody>
      </p:sp>
      <p:sp>
        <p:nvSpPr>
          <p:cNvPr id="42" name="wf_2021_val"/>
          <p:cNvSpPr/>
          <p:nvPr/>
        </p:nvSpPr>
        <p:spPr>
          <a:xfrm>
            <a:off x="7504467" y="4087368"/>
            <a:ext cx="629770" cy="246888"/>
          </a:xfrm>
          <a:prstGeom prst="roundRect">
            <a:avLst>
              <a:gd name="adj" fmla="val 22222"/>
            </a:avLst>
          </a:prstGeom>
          <a:solidFill>
            <a:srgbClr val="FFB547">
              <a:alpha val="90000"/>
            </a:srgbClr>
          </a:solidFill>
          <a:ln w="9525">
            <a:solidFill>
              <a:srgbClr val="FFB547"/>
            </a:solidFill>
          </a:ln>
        </p:spPr>
        <p:txBody>
          <a:bodyPr lIns="0" tIns="0" rIns="0" bIns="0" rtlCol="0" anchor="ctr"/>
          <a:lstStyle/>
          <a:p>
            <a:pPr algn="ctr"/>
            <a:endParaRPr/>
          </a:p>
        </p:txBody>
      </p:sp>
      <p:sp>
        <p:nvSpPr>
          <p:cNvPr id="43" name="wf_2021_test"/>
          <p:cNvSpPr/>
          <p:nvPr/>
        </p:nvSpPr>
        <p:spPr>
          <a:xfrm>
            <a:off x="8168936" y="4087368"/>
            <a:ext cx="633391" cy="246888"/>
          </a:xfrm>
          <a:prstGeom prst="roundRect">
            <a:avLst>
              <a:gd name="adj" fmla="val 22222"/>
            </a:avLst>
          </a:prstGeom>
          <a:solidFill>
            <a:srgbClr val="EAF0F6">
              <a:alpha val="92000"/>
            </a:srgbClr>
          </a:solidFill>
          <a:ln w="9525">
            <a:solidFill>
              <a:srgbClr val="EAF0F6"/>
            </a:solidFill>
          </a:ln>
        </p:spPr>
        <p:txBody>
          <a:bodyPr lIns="0" tIns="0" rIns="0" bIns="0" rtlCol="0" anchor="ctr"/>
          <a:lstStyle/>
          <a:p>
            <a:pPr algn="ctr"/>
            <a:endParaRPr/>
          </a:p>
        </p:txBody>
      </p:sp>
      <p:sp>
        <p:nvSpPr>
          <p:cNvPr id="44" name="wf_lbl_2021"/>
          <p:cNvSpPr txBox="1"/>
          <p:nvPr/>
        </p:nvSpPr>
        <p:spPr>
          <a:xfrm>
            <a:off x="640080" y="4087368"/>
            <a:ext cx="658368" cy="246888"/>
          </a:xfrm>
          <a:prstGeom prst="rect">
            <a:avLst/>
          </a:prstGeom>
          <a:noFill/>
        </p:spPr>
        <p:txBody>
          <a:bodyPr wrap="square" lIns="0" tIns="0" rIns="0" bIns="0" anchor="ctr">
            <a:noAutofit/>
          </a:bodyPr>
          <a:lstStyle/>
          <a:p>
            <a:pPr algn="r">
              <a:spcAft>
                <a:spcPts val="0"/>
              </a:spcAft>
            </a:pPr>
            <a:r>
              <a:rPr sz="1100" b="0" i="0">
                <a:solidFill>
                  <a:srgbClr val="AAB6C3"/>
                </a:solidFill>
                <a:latin typeface="Consolas"/>
              </a:rPr>
              <a:t>2021</a:t>
            </a:r>
          </a:p>
        </p:txBody>
      </p:sp>
      <p:sp>
        <p:nvSpPr>
          <p:cNvPr id="45" name="wf_2022_train"/>
          <p:cNvSpPr/>
          <p:nvPr/>
        </p:nvSpPr>
        <p:spPr>
          <a:xfrm>
            <a:off x="1577089" y="4425696"/>
            <a:ext cx="6557148" cy="246888"/>
          </a:xfrm>
          <a:prstGeom prst="roundRect">
            <a:avLst>
              <a:gd name="adj" fmla="val 22222"/>
            </a:avLst>
          </a:prstGeom>
          <a:solidFill>
            <a:srgbClr val="4CC9F0">
              <a:alpha val="32000"/>
            </a:srgbClr>
          </a:solidFill>
          <a:ln w="9525">
            <a:solidFill>
              <a:srgbClr val="4CC9F0">
                <a:alpha val="85000"/>
              </a:srgbClr>
            </a:solidFill>
          </a:ln>
        </p:spPr>
        <p:txBody>
          <a:bodyPr lIns="0" tIns="0" rIns="0" bIns="0" rtlCol="0" anchor="ctr"/>
          <a:lstStyle/>
          <a:p>
            <a:pPr algn="ctr"/>
            <a:endParaRPr/>
          </a:p>
        </p:txBody>
      </p:sp>
      <p:sp>
        <p:nvSpPr>
          <p:cNvPr id="46" name="wf_2022_val"/>
          <p:cNvSpPr/>
          <p:nvPr/>
        </p:nvSpPr>
        <p:spPr>
          <a:xfrm>
            <a:off x="8172577" y="4425696"/>
            <a:ext cx="626109" cy="246888"/>
          </a:xfrm>
          <a:prstGeom prst="roundRect">
            <a:avLst>
              <a:gd name="adj" fmla="val 22222"/>
            </a:avLst>
          </a:prstGeom>
          <a:solidFill>
            <a:srgbClr val="FFB547">
              <a:alpha val="90000"/>
            </a:srgbClr>
          </a:solidFill>
          <a:ln w="9525">
            <a:solidFill>
              <a:srgbClr val="FFB547"/>
            </a:solidFill>
          </a:ln>
        </p:spPr>
        <p:txBody>
          <a:bodyPr lIns="0" tIns="0" rIns="0" bIns="0" rtlCol="0" anchor="ctr"/>
          <a:lstStyle/>
          <a:p>
            <a:pPr algn="ctr"/>
            <a:endParaRPr/>
          </a:p>
        </p:txBody>
      </p:sp>
      <p:sp>
        <p:nvSpPr>
          <p:cNvPr id="47" name="wf_2022_test"/>
          <p:cNvSpPr/>
          <p:nvPr/>
        </p:nvSpPr>
        <p:spPr>
          <a:xfrm>
            <a:off x="8833400" y="4425696"/>
            <a:ext cx="633391" cy="246888"/>
          </a:xfrm>
          <a:prstGeom prst="roundRect">
            <a:avLst>
              <a:gd name="adj" fmla="val 22222"/>
            </a:avLst>
          </a:prstGeom>
          <a:solidFill>
            <a:srgbClr val="EAF0F6">
              <a:alpha val="92000"/>
            </a:srgbClr>
          </a:solidFill>
          <a:ln w="9525">
            <a:solidFill>
              <a:srgbClr val="EAF0F6"/>
            </a:solidFill>
          </a:ln>
        </p:spPr>
        <p:txBody>
          <a:bodyPr lIns="0" tIns="0" rIns="0" bIns="0" rtlCol="0" anchor="ctr"/>
          <a:lstStyle/>
          <a:p>
            <a:pPr algn="ctr"/>
            <a:endParaRPr/>
          </a:p>
        </p:txBody>
      </p:sp>
      <p:sp>
        <p:nvSpPr>
          <p:cNvPr id="48" name="wf_lbl_2022"/>
          <p:cNvSpPr txBox="1"/>
          <p:nvPr/>
        </p:nvSpPr>
        <p:spPr>
          <a:xfrm>
            <a:off x="640080" y="4425696"/>
            <a:ext cx="658368" cy="246888"/>
          </a:xfrm>
          <a:prstGeom prst="rect">
            <a:avLst/>
          </a:prstGeom>
          <a:noFill/>
        </p:spPr>
        <p:txBody>
          <a:bodyPr wrap="square" lIns="0" tIns="0" rIns="0" bIns="0" anchor="ctr">
            <a:noAutofit/>
          </a:bodyPr>
          <a:lstStyle/>
          <a:p>
            <a:pPr algn="r">
              <a:spcAft>
                <a:spcPts val="0"/>
              </a:spcAft>
            </a:pPr>
            <a:r>
              <a:rPr sz="1100" b="0" i="0">
                <a:solidFill>
                  <a:srgbClr val="AAB6C3"/>
                </a:solidFill>
                <a:latin typeface="Consolas"/>
              </a:rPr>
              <a:t>2022</a:t>
            </a:r>
          </a:p>
        </p:txBody>
      </p:sp>
      <p:sp>
        <p:nvSpPr>
          <p:cNvPr id="49" name="wf_2023_train"/>
          <p:cNvSpPr/>
          <p:nvPr/>
        </p:nvSpPr>
        <p:spPr>
          <a:xfrm>
            <a:off x="1577089" y="4764024"/>
            <a:ext cx="7221597" cy="246888"/>
          </a:xfrm>
          <a:prstGeom prst="roundRect">
            <a:avLst>
              <a:gd name="adj" fmla="val 22222"/>
            </a:avLst>
          </a:prstGeom>
          <a:solidFill>
            <a:srgbClr val="4CC9F0">
              <a:alpha val="32000"/>
            </a:srgbClr>
          </a:solidFill>
          <a:ln w="9525">
            <a:solidFill>
              <a:srgbClr val="4CC9F0">
                <a:alpha val="85000"/>
              </a:srgbClr>
            </a:solidFill>
          </a:ln>
        </p:spPr>
        <p:txBody>
          <a:bodyPr lIns="0" tIns="0" rIns="0" bIns="0" rtlCol="0" anchor="ctr"/>
          <a:lstStyle/>
          <a:p>
            <a:pPr algn="ctr"/>
            <a:endParaRPr/>
          </a:p>
        </p:txBody>
      </p:sp>
      <p:sp>
        <p:nvSpPr>
          <p:cNvPr id="50" name="wf_2023_val"/>
          <p:cNvSpPr/>
          <p:nvPr/>
        </p:nvSpPr>
        <p:spPr>
          <a:xfrm>
            <a:off x="8835221" y="4764024"/>
            <a:ext cx="626109" cy="246888"/>
          </a:xfrm>
          <a:prstGeom prst="roundRect">
            <a:avLst>
              <a:gd name="adj" fmla="val 22222"/>
            </a:avLst>
          </a:prstGeom>
          <a:solidFill>
            <a:srgbClr val="FFB547">
              <a:alpha val="90000"/>
            </a:srgbClr>
          </a:solidFill>
          <a:ln w="9525">
            <a:solidFill>
              <a:srgbClr val="FFB547"/>
            </a:solidFill>
          </a:ln>
        </p:spPr>
        <p:txBody>
          <a:bodyPr lIns="0" tIns="0" rIns="0" bIns="0" rtlCol="0" anchor="ctr"/>
          <a:lstStyle/>
          <a:p>
            <a:pPr algn="ctr"/>
            <a:endParaRPr/>
          </a:p>
        </p:txBody>
      </p:sp>
      <p:sp>
        <p:nvSpPr>
          <p:cNvPr id="51" name="wf_2023_test"/>
          <p:cNvSpPr/>
          <p:nvPr/>
        </p:nvSpPr>
        <p:spPr>
          <a:xfrm>
            <a:off x="9497864" y="4764024"/>
            <a:ext cx="633391" cy="246888"/>
          </a:xfrm>
          <a:prstGeom prst="roundRect">
            <a:avLst>
              <a:gd name="adj" fmla="val 22222"/>
            </a:avLst>
          </a:prstGeom>
          <a:solidFill>
            <a:srgbClr val="EAF0F6">
              <a:alpha val="92000"/>
            </a:srgbClr>
          </a:solidFill>
          <a:ln w="9525">
            <a:solidFill>
              <a:srgbClr val="EAF0F6"/>
            </a:solidFill>
          </a:ln>
        </p:spPr>
        <p:txBody>
          <a:bodyPr lIns="0" tIns="0" rIns="0" bIns="0" rtlCol="0" anchor="ctr"/>
          <a:lstStyle/>
          <a:p>
            <a:pPr algn="ctr"/>
            <a:endParaRPr/>
          </a:p>
        </p:txBody>
      </p:sp>
      <p:sp>
        <p:nvSpPr>
          <p:cNvPr id="52" name="wf_lbl_2023"/>
          <p:cNvSpPr txBox="1"/>
          <p:nvPr/>
        </p:nvSpPr>
        <p:spPr>
          <a:xfrm>
            <a:off x="640080" y="4764024"/>
            <a:ext cx="658368" cy="246888"/>
          </a:xfrm>
          <a:prstGeom prst="rect">
            <a:avLst/>
          </a:prstGeom>
          <a:noFill/>
        </p:spPr>
        <p:txBody>
          <a:bodyPr wrap="square" lIns="0" tIns="0" rIns="0" bIns="0" anchor="ctr">
            <a:noAutofit/>
          </a:bodyPr>
          <a:lstStyle/>
          <a:p>
            <a:pPr algn="r">
              <a:spcAft>
                <a:spcPts val="0"/>
              </a:spcAft>
            </a:pPr>
            <a:r>
              <a:rPr sz="1100" b="0" i="0">
                <a:solidFill>
                  <a:srgbClr val="AAB6C3"/>
                </a:solidFill>
                <a:latin typeface="Consolas"/>
              </a:rPr>
              <a:t>2023</a:t>
            </a:r>
          </a:p>
        </p:txBody>
      </p:sp>
      <p:sp>
        <p:nvSpPr>
          <p:cNvPr id="53" name="wf_2024_train"/>
          <p:cNvSpPr/>
          <p:nvPr/>
        </p:nvSpPr>
        <p:spPr>
          <a:xfrm>
            <a:off x="1577089" y="5102352"/>
            <a:ext cx="7884241" cy="246888"/>
          </a:xfrm>
          <a:prstGeom prst="roundRect">
            <a:avLst>
              <a:gd name="adj" fmla="val 22222"/>
            </a:avLst>
          </a:prstGeom>
          <a:solidFill>
            <a:srgbClr val="4CC9F0">
              <a:alpha val="32000"/>
            </a:srgbClr>
          </a:solidFill>
          <a:ln w="9525">
            <a:solidFill>
              <a:srgbClr val="4CC9F0">
                <a:alpha val="85000"/>
              </a:srgbClr>
            </a:solidFill>
          </a:ln>
        </p:spPr>
        <p:txBody>
          <a:bodyPr lIns="0" tIns="0" rIns="0" bIns="0" rtlCol="0" anchor="ctr"/>
          <a:lstStyle/>
          <a:p>
            <a:pPr algn="ctr"/>
            <a:endParaRPr/>
          </a:p>
        </p:txBody>
      </p:sp>
      <p:sp>
        <p:nvSpPr>
          <p:cNvPr id="54" name="wf_2024_val"/>
          <p:cNvSpPr/>
          <p:nvPr/>
        </p:nvSpPr>
        <p:spPr>
          <a:xfrm>
            <a:off x="9499685" y="5102352"/>
            <a:ext cx="624289" cy="246888"/>
          </a:xfrm>
          <a:prstGeom prst="roundRect">
            <a:avLst>
              <a:gd name="adj" fmla="val 22222"/>
            </a:avLst>
          </a:prstGeom>
          <a:solidFill>
            <a:srgbClr val="FFB547">
              <a:alpha val="90000"/>
            </a:srgbClr>
          </a:solidFill>
          <a:ln w="9525">
            <a:solidFill>
              <a:srgbClr val="FFB547"/>
            </a:solidFill>
          </a:ln>
        </p:spPr>
        <p:txBody>
          <a:bodyPr lIns="0" tIns="0" rIns="0" bIns="0" rtlCol="0" anchor="ctr"/>
          <a:lstStyle/>
          <a:p>
            <a:pPr algn="ctr"/>
            <a:endParaRPr/>
          </a:p>
        </p:txBody>
      </p:sp>
      <p:sp>
        <p:nvSpPr>
          <p:cNvPr id="55" name="wf_2024_test"/>
          <p:cNvSpPr/>
          <p:nvPr/>
        </p:nvSpPr>
        <p:spPr>
          <a:xfrm>
            <a:off x="10162323" y="5102352"/>
            <a:ext cx="633401" cy="246888"/>
          </a:xfrm>
          <a:prstGeom prst="roundRect">
            <a:avLst>
              <a:gd name="adj" fmla="val 22222"/>
            </a:avLst>
          </a:prstGeom>
          <a:solidFill>
            <a:srgbClr val="EAF0F6">
              <a:alpha val="92000"/>
            </a:srgbClr>
          </a:solidFill>
          <a:ln w="9525">
            <a:solidFill>
              <a:srgbClr val="EAF0F6"/>
            </a:solidFill>
          </a:ln>
        </p:spPr>
        <p:txBody>
          <a:bodyPr lIns="0" tIns="0" rIns="0" bIns="0" rtlCol="0" anchor="ctr"/>
          <a:lstStyle/>
          <a:p>
            <a:pPr algn="ctr"/>
            <a:endParaRPr/>
          </a:p>
        </p:txBody>
      </p:sp>
      <p:sp>
        <p:nvSpPr>
          <p:cNvPr id="56" name="wf_lbl_2024"/>
          <p:cNvSpPr txBox="1"/>
          <p:nvPr/>
        </p:nvSpPr>
        <p:spPr>
          <a:xfrm>
            <a:off x="640080" y="5102352"/>
            <a:ext cx="658368" cy="246888"/>
          </a:xfrm>
          <a:prstGeom prst="rect">
            <a:avLst/>
          </a:prstGeom>
          <a:noFill/>
        </p:spPr>
        <p:txBody>
          <a:bodyPr wrap="square" lIns="0" tIns="0" rIns="0" bIns="0" anchor="ctr">
            <a:noAutofit/>
          </a:bodyPr>
          <a:lstStyle/>
          <a:p>
            <a:pPr algn="r">
              <a:spcAft>
                <a:spcPts val="0"/>
              </a:spcAft>
            </a:pPr>
            <a:r>
              <a:rPr sz="1100" b="0" i="0">
                <a:solidFill>
                  <a:srgbClr val="AAB6C3"/>
                </a:solidFill>
                <a:latin typeface="Consolas"/>
              </a:rPr>
              <a:t>2024</a:t>
            </a:r>
          </a:p>
        </p:txBody>
      </p:sp>
      <p:sp>
        <p:nvSpPr>
          <p:cNvPr id="57" name="!!seg_train"/>
          <p:cNvSpPr/>
          <p:nvPr/>
        </p:nvSpPr>
        <p:spPr>
          <a:xfrm>
            <a:off x="1577089" y="5440680"/>
            <a:ext cx="8546884" cy="246888"/>
          </a:xfrm>
          <a:prstGeom prst="roundRect">
            <a:avLst>
              <a:gd name="adj" fmla="val 22222"/>
            </a:avLst>
          </a:prstGeom>
          <a:solidFill>
            <a:srgbClr val="4CC9F0">
              <a:alpha val="32000"/>
            </a:srgbClr>
          </a:solidFill>
          <a:ln w="9525">
            <a:solidFill>
              <a:srgbClr val="4CC9F0">
                <a:alpha val="85000"/>
              </a:srgbClr>
            </a:solidFill>
          </a:ln>
        </p:spPr>
        <p:txBody>
          <a:bodyPr lIns="0" tIns="0" rIns="0" bIns="0" rtlCol="0" anchor="ctr"/>
          <a:lstStyle/>
          <a:p>
            <a:pPr algn="ctr"/>
            <a:endParaRPr/>
          </a:p>
        </p:txBody>
      </p:sp>
      <p:sp>
        <p:nvSpPr>
          <p:cNvPr id="58" name="!!seg_val"/>
          <p:cNvSpPr/>
          <p:nvPr/>
        </p:nvSpPr>
        <p:spPr>
          <a:xfrm>
            <a:off x="10162323" y="5440680"/>
            <a:ext cx="626139" cy="246888"/>
          </a:xfrm>
          <a:prstGeom prst="roundRect">
            <a:avLst>
              <a:gd name="adj" fmla="val 22222"/>
            </a:avLst>
          </a:prstGeom>
          <a:solidFill>
            <a:srgbClr val="FFB547">
              <a:alpha val="90000"/>
            </a:srgbClr>
          </a:solidFill>
          <a:ln w="9525">
            <a:solidFill>
              <a:srgbClr val="FFB547"/>
            </a:solidFill>
          </a:ln>
        </p:spPr>
        <p:txBody>
          <a:bodyPr lIns="0" tIns="0" rIns="0" bIns="0" rtlCol="0" anchor="ctr"/>
          <a:lstStyle/>
          <a:p>
            <a:pPr algn="ctr"/>
            <a:endParaRPr/>
          </a:p>
        </p:txBody>
      </p:sp>
      <p:sp>
        <p:nvSpPr>
          <p:cNvPr id="59" name="!!seg_test"/>
          <p:cNvSpPr/>
          <p:nvPr/>
        </p:nvSpPr>
        <p:spPr>
          <a:xfrm>
            <a:off x="10826792" y="5440680"/>
            <a:ext cx="633391" cy="246888"/>
          </a:xfrm>
          <a:prstGeom prst="roundRect">
            <a:avLst>
              <a:gd name="adj" fmla="val 22222"/>
            </a:avLst>
          </a:prstGeom>
          <a:solidFill>
            <a:srgbClr val="EAF0F6">
              <a:alpha val="92000"/>
            </a:srgbClr>
          </a:solidFill>
          <a:ln w="9525">
            <a:solidFill>
              <a:srgbClr val="EAF0F6"/>
            </a:solidFill>
          </a:ln>
        </p:spPr>
        <p:txBody>
          <a:bodyPr lIns="0" tIns="0" rIns="0" bIns="0" rtlCol="0" anchor="ctr"/>
          <a:lstStyle/>
          <a:p>
            <a:pPr algn="ctr"/>
            <a:endParaRPr/>
          </a:p>
        </p:txBody>
      </p:sp>
      <p:sp>
        <p:nvSpPr>
          <p:cNvPr id="60" name="wf_lbl_2025"/>
          <p:cNvSpPr txBox="1"/>
          <p:nvPr/>
        </p:nvSpPr>
        <p:spPr>
          <a:xfrm>
            <a:off x="640080" y="5440680"/>
            <a:ext cx="658368" cy="246888"/>
          </a:xfrm>
          <a:prstGeom prst="rect">
            <a:avLst/>
          </a:prstGeom>
          <a:noFill/>
        </p:spPr>
        <p:txBody>
          <a:bodyPr wrap="square" lIns="0" tIns="0" rIns="0" bIns="0" anchor="ctr">
            <a:noAutofit/>
          </a:bodyPr>
          <a:lstStyle/>
          <a:p>
            <a:pPr algn="r">
              <a:spcAft>
                <a:spcPts val="0"/>
              </a:spcAft>
            </a:pPr>
            <a:r>
              <a:rPr sz="1100" b="0" i="0">
                <a:solidFill>
                  <a:srgbClr val="AAB6C3"/>
                </a:solidFill>
                <a:latin typeface="Consolas"/>
              </a:rPr>
              <a:t>2025</a:t>
            </a:r>
          </a:p>
        </p:txBody>
      </p:sp>
      <p:grpSp>
        <p:nvGrpSpPr>
          <p:cNvPr id="61" name="legend"/>
          <p:cNvGrpSpPr/>
          <p:nvPr/>
        </p:nvGrpSpPr>
        <p:grpSpPr>
          <a:xfrm>
            <a:off x="640080" y="5870448"/>
            <a:ext cx="8289951" cy="274320"/>
            <a:chOff x="640080" y="5870448"/>
            <a:chExt cx="8289951" cy="274320"/>
          </a:xfrm>
        </p:grpSpPr>
        <p:sp>
          <p:nvSpPr>
            <p:cNvPr id="62" name="Rounded Rectangle 61"/>
            <p:cNvSpPr/>
            <p:nvPr/>
          </p:nvSpPr>
          <p:spPr>
            <a:xfrm>
              <a:off x="640080" y="5934456"/>
              <a:ext cx="274320" cy="146304"/>
            </a:xfrm>
            <a:prstGeom prst="roundRect">
              <a:avLst>
                <a:gd name="adj" fmla="val 25000"/>
              </a:avLst>
            </a:prstGeom>
            <a:solidFill>
              <a:srgbClr val="4CC9F0">
                <a:alpha val="32000"/>
              </a:srgbClr>
            </a:solidFill>
            <a:ln w="9525">
              <a:solidFill>
                <a:srgbClr val="4CC9F0">
                  <a:alpha val="85000"/>
                </a:srgbClr>
              </a:solidFill>
            </a:ln>
          </p:spPr>
          <p:txBody>
            <a:bodyPr lIns="0" tIns="0" rIns="0" bIns="0" rtlCol="0" anchor="ctr"/>
            <a:lstStyle/>
            <a:p>
              <a:pPr algn="ctr"/>
              <a:endParaRPr/>
            </a:p>
          </p:txBody>
        </p:sp>
        <p:sp>
          <p:nvSpPr>
            <p:cNvPr id="63" name="TextBox 62"/>
            <p:cNvSpPr txBox="1"/>
            <p:nvPr/>
          </p:nvSpPr>
          <p:spPr>
            <a:xfrm>
              <a:off x="1005840" y="5870448"/>
              <a:ext cx="1483157" cy="274320"/>
            </a:xfrm>
            <a:prstGeom prst="rect">
              <a:avLst/>
            </a:prstGeom>
            <a:noFill/>
          </p:spPr>
          <p:txBody>
            <a:bodyPr wrap="square" lIns="0" tIns="0" rIns="0" bIns="0" anchor="t">
              <a:noAutofit/>
            </a:bodyPr>
            <a:lstStyle/>
            <a:p>
              <a:pPr algn="l">
                <a:spcAft>
                  <a:spcPts val="0"/>
                </a:spcAft>
              </a:pPr>
              <a:r>
                <a:rPr sz="1200" b="0" i="0">
                  <a:solidFill>
                    <a:srgbClr val="AAB6C3"/>
                  </a:solidFill>
                  <a:latin typeface="Segoe UI"/>
                </a:rPr>
                <a:t>Train, expanding</a:t>
              </a:r>
            </a:p>
          </p:txBody>
        </p:sp>
        <p:sp>
          <p:nvSpPr>
            <p:cNvPr id="64" name="Rounded Rectangle 63"/>
            <p:cNvSpPr/>
            <p:nvPr/>
          </p:nvSpPr>
          <p:spPr>
            <a:xfrm>
              <a:off x="2809037" y="5934456"/>
              <a:ext cx="274320" cy="146304"/>
            </a:xfrm>
            <a:prstGeom prst="roundRect">
              <a:avLst>
                <a:gd name="adj" fmla="val 25000"/>
              </a:avLst>
            </a:prstGeom>
            <a:solidFill>
              <a:srgbClr val="FFB547">
                <a:alpha val="90000"/>
              </a:srgbClr>
            </a:solidFill>
            <a:ln w="9525">
              <a:solidFill>
                <a:srgbClr val="FFB547"/>
              </a:solidFill>
            </a:ln>
          </p:spPr>
          <p:txBody>
            <a:bodyPr lIns="0" tIns="0" rIns="0" bIns="0" rtlCol="0" anchor="ctr"/>
            <a:lstStyle/>
            <a:p>
              <a:pPr algn="ctr"/>
              <a:endParaRPr/>
            </a:p>
          </p:txBody>
        </p:sp>
        <p:sp>
          <p:nvSpPr>
            <p:cNvPr id="65" name="TextBox 64"/>
            <p:cNvSpPr txBox="1"/>
            <p:nvPr/>
          </p:nvSpPr>
          <p:spPr>
            <a:xfrm>
              <a:off x="3174797" y="5870448"/>
              <a:ext cx="2324405" cy="274320"/>
            </a:xfrm>
            <a:prstGeom prst="rect">
              <a:avLst/>
            </a:prstGeom>
            <a:noFill/>
          </p:spPr>
          <p:txBody>
            <a:bodyPr wrap="square" lIns="0" tIns="0" rIns="0" bIns="0" anchor="t">
              <a:noAutofit/>
            </a:bodyPr>
            <a:lstStyle/>
            <a:p>
              <a:pPr algn="l">
                <a:spcAft>
                  <a:spcPts val="0"/>
                </a:spcAft>
              </a:pPr>
              <a:r>
                <a:rPr sz="1200" b="0" i="0">
                  <a:solidFill>
                    <a:srgbClr val="AAB6C3"/>
                  </a:solidFill>
                  <a:latin typeface="Segoe UI"/>
                </a:rPr>
                <a:t>Validation: τ and ensemble</a:t>
              </a:r>
            </a:p>
          </p:txBody>
        </p:sp>
        <p:sp>
          <p:nvSpPr>
            <p:cNvPr id="66" name="Rounded Rectangle 65"/>
            <p:cNvSpPr/>
            <p:nvPr/>
          </p:nvSpPr>
          <p:spPr>
            <a:xfrm>
              <a:off x="5819242" y="5934456"/>
              <a:ext cx="274320" cy="146304"/>
            </a:xfrm>
            <a:prstGeom prst="roundRect">
              <a:avLst>
                <a:gd name="adj" fmla="val 25000"/>
              </a:avLst>
            </a:prstGeom>
            <a:solidFill>
              <a:srgbClr val="EAF0F6">
                <a:alpha val="92000"/>
              </a:srgbClr>
            </a:solidFill>
            <a:ln w="9525">
              <a:solidFill>
                <a:srgbClr val="EAF0F6"/>
              </a:solidFill>
            </a:ln>
          </p:spPr>
          <p:txBody>
            <a:bodyPr lIns="0" tIns="0" rIns="0" bIns="0" rtlCol="0" anchor="ctr"/>
            <a:lstStyle/>
            <a:p>
              <a:pPr algn="ctr"/>
              <a:endParaRPr/>
            </a:p>
          </p:txBody>
        </p:sp>
        <p:sp>
          <p:nvSpPr>
            <p:cNvPr id="67" name="TextBox 66"/>
            <p:cNvSpPr txBox="1"/>
            <p:nvPr/>
          </p:nvSpPr>
          <p:spPr>
            <a:xfrm>
              <a:off x="6185002" y="5870448"/>
              <a:ext cx="2745029" cy="274320"/>
            </a:xfrm>
            <a:prstGeom prst="rect">
              <a:avLst/>
            </a:prstGeom>
            <a:noFill/>
          </p:spPr>
          <p:txBody>
            <a:bodyPr wrap="square" lIns="0" tIns="0" rIns="0" bIns="0" anchor="t">
              <a:noAutofit/>
            </a:bodyPr>
            <a:lstStyle/>
            <a:p>
              <a:pPr algn="l">
                <a:spcAft>
                  <a:spcPts val="0"/>
                </a:spcAft>
              </a:pPr>
              <a:r>
                <a:rPr sz="1200" b="0" i="0">
                  <a:solidFill>
                    <a:srgbClr val="AAB6C3"/>
                  </a:solidFill>
                  <a:latin typeface="Segoe UI"/>
                </a:rPr>
                <a:t>Test year, traded out-of-sample</a:t>
              </a:r>
            </a:p>
          </p:txBody>
        </p:sp>
      </p:grpSp>
      <p:sp>
        <p:nvSpPr>
          <p:cNvPr id="68" name="legend_r"/>
          <p:cNvSpPr txBox="1"/>
          <p:nvPr/>
        </p:nvSpPr>
        <p:spPr>
          <a:xfrm>
            <a:off x="8778240" y="5870448"/>
            <a:ext cx="2773375" cy="274320"/>
          </a:xfrm>
          <a:prstGeom prst="rect">
            <a:avLst/>
          </a:prstGeom>
          <a:noFill/>
        </p:spPr>
        <p:txBody>
          <a:bodyPr wrap="square" lIns="0" tIns="0" rIns="0" bIns="0" anchor="t">
            <a:noAutofit/>
          </a:bodyPr>
          <a:lstStyle/>
          <a:p>
            <a:pPr algn="r">
              <a:spcAft>
                <a:spcPts val="0"/>
              </a:spcAft>
            </a:pPr>
            <a:r>
              <a:rPr sz="1200" b="0" i="0">
                <a:solidFill>
                  <a:srgbClr val="8291A2"/>
                </a:solidFill>
                <a:latin typeface="Segoe UI"/>
              </a:rPr>
              <a:t>10 folds × 3 tickers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500"/>
                                        <p:tgtEl>
                                          <p:spTgt spid="61"/>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42 point-in-time features, one executable target</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08 · IMPLEMENTATION</a:t>
            </a:r>
          </a:p>
        </p:txBody>
      </p:sp>
      <p:sp>
        <p:nvSpPr>
          <p:cNvPr id="4" name="feat_label"/>
          <p:cNvSpPr txBox="1"/>
          <p:nvPr/>
        </p:nvSpPr>
        <p:spPr>
          <a:xfrm>
            <a:off x="640080" y="1783080"/>
            <a:ext cx="516636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42 FEATURES · 5 GROUPS</a:t>
            </a:r>
          </a:p>
        </p:txBody>
      </p:sp>
      <p:grpSp>
        <p:nvGrpSpPr>
          <p:cNvPr id="5" name="featbar"/>
          <p:cNvGrpSpPr/>
          <p:nvPr/>
        </p:nvGrpSpPr>
        <p:grpSpPr>
          <a:xfrm>
            <a:off x="640080" y="2121408"/>
            <a:ext cx="5138928" cy="457200"/>
            <a:chOff x="640080" y="2121408"/>
            <a:chExt cx="5138928" cy="457200"/>
          </a:xfrm>
        </p:grpSpPr>
        <p:sp>
          <p:nvSpPr>
            <p:cNvPr id="6" name="Rounded Rectangle 5"/>
            <p:cNvSpPr/>
            <p:nvPr/>
          </p:nvSpPr>
          <p:spPr>
            <a:xfrm>
              <a:off x="640080" y="2121408"/>
              <a:ext cx="1694688" cy="457200"/>
            </a:xfrm>
            <a:prstGeom prst="roundRect">
              <a:avLst>
                <a:gd name="adj" fmla="val 10000"/>
              </a:avLst>
            </a:prstGeom>
            <a:solidFill>
              <a:srgbClr val="4CC9F0"/>
            </a:solidFill>
            <a:ln>
              <a:noFill/>
            </a:ln>
          </p:spPr>
          <p:txBody>
            <a:bodyPr wrap="square" lIns="0" tIns="0" rIns="0" bIns="0" rtlCol="0" anchor="ctr">
              <a:noAutofit/>
            </a:bodyPr>
            <a:lstStyle/>
            <a:p>
              <a:pPr algn="ctr">
                <a:spcAft>
                  <a:spcPts val="0"/>
                </a:spcAft>
              </a:pPr>
              <a:r>
                <a:rPr sz="1300" b="0" i="0">
                  <a:solidFill>
                    <a:srgbClr val="0A0E14"/>
                  </a:solidFill>
                  <a:latin typeface="Segoe UI Semibold"/>
                </a:rPr>
                <a:t>14</a:t>
              </a:r>
            </a:p>
          </p:txBody>
        </p:sp>
        <p:sp>
          <p:nvSpPr>
            <p:cNvPr id="7" name="Rounded Rectangle 6"/>
            <p:cNvSpPr/>
            <p:nvPr/>
          </p:nvSpPr>
          <p:spPr>
            <a:xfrm>
              <a:off x="2362200" y="2121408"/>
              <a:ext cx="1817697" cy="457200"/>
            </a:xfrm>
            <a:prstGeom prst="roundRect">
              <a:avLst>
                <a:gd name="adj" fmla="val 10000"/>
              </a:avLst>
            </a:prstGeom>
            <a:solidFill>
              <a:srgbClr val="36A3C8"/>
            </a:solidFill>
            <a:ln>
              <a:noFill/>
            </a:ln>
          </p:spPr>
          <p:txBody>
            <a:bodyPr wrap="square" lIns="0" tIns="0" rIns="0" bIns="0" rtlCol="0" anchor="ctr">
              <a:noAutofit/>
            </a:bodyPr>
            <a:lstStyle/>
            <a:p>
              <a:pPr algn="ctr">
                <a:spcAft>
                  <a:spcPts val="0"/>
                </a:spcAft>
              </a:pPr>
              <a:r>
                <a:rPr sz="1300" b="0" i="0">
                  <a:solidFill>
                    <a:srgbClr val="0A0E14"/>
                  </a:solidFill>
                  <a:latin typeface="Segoe UI Semibold"/>
                </a:rPr>
                <a:t>15</a:t>
              </a:r>
            </a:p>
          </p:txBody>
        </p:sp>
        <p:sp>
          <p:nvSpPr>
            <p:cNvPr id="8" name="Rounded Rectangle 7"/>
            <p:cNvSpPr/>
            <p:nvPr/>
          </p:nvSpPr>
          <p:spPr>
            <a:xfrm>
              <a:off x="4207329" y="2121408"/>
              <a:ext cx="710619" cy="457200"/>
            </a:xfrm>
            <a:prstGeom prst="roundRect">
              <a:avLst>
                <a:gd name="adj" fmla="val 10000"/>
              </a:avLst>
            </a:prstGeom>
            <a:solidFill>
              <a:srgbClr val="2A82A3"/>
            </a:solidFill>
            <a:ln>
              <a:noFill/>
            </a:ln>
          </p:spPr>
          <p:txBody>
            <a:bodyPr wrap="square" lIns="0" tIns="0" rIns="0" bIns="0" rtlCol="0" anchor="ctr">
              <a:noAutofit/>
            </a:bodyPr>
            <a:lstStyle/>
            <a:p>
              <a:pPr algn="ctr">
                <a:spcAft>
                  <a:spcPts val="0"/>
                </a:spcAft>
              </a:pPr>
              <a:r>
                <a:rPr sz="1300" b="0" i="0">
                  <a:solidFill>
                    <a:srgbClr val="EAF0F6"/>
                  </a:solidFill>
                  <a:latin typeface="Segoe UI Semibold"/>
                </a:rPr>
                <a:t>6</a:t>
              </a:r>
            </a:p>
          </p:txBody>
        </p:sp>
        <p:sp>
          <p:nvSpPr>
            <p:cNvPr id="9" name="Rounded Rectangle 8"/>
            <p:cNvSpPr/>
            <p:nvPr/>
          </p:nvSpPr>
          <p:spPr>
            <a:xfrm>
              <a:off x="4945380" y="2121408"/>
              <a:ext cx="341594" cy="457200"/>
            </a:xfrm>
            <a:prstGeom prst="roundRect">
              <a:avLst>
                <a:gd name="adj" fmla="val 13384"/>
              </a:avLst>
            </a:prstGeom>
            <a:solidFill>
              <a:srgbClr val="21657F"/>
            </a:solidFill>
            <a:ln>
              <a:noFill/>
            </a:ln>
          </p:spPr>
          <p:txBody>
            <a:bodyPr wrap="square" lIns="0" tIns="0" rIns="0" bIns="0" rtlCol="0" anchor="ctr">
              <a:noAutofit/>
            </a:bodyPr>
            <a:lstStyle/>
            <a:p>
              <a:pPr algn="ctr">
                <a:spcAft>
                  <a:spcPts val="0"/>
                </a:spcAft>
              </a:pPr>
              <a:r>
                <a:rPr sz="1300" b="0" i="0">
                  <a:solidFill>
                    <a:srgbClr val="EAF0F6"/>
                  </a:solidFill>
                  <a:latin typeface="Segoe UI Semibold"/>
                </a:rPr>
                <a:t>3</a:t>
              </a:r>
            </a:p>
          </p:txBody>
        </p:sp>
        <p:sp>
          <p:nvSpPr>
            <p:cNvPr id="10" name="Rounded Rectangle 9"/>
            <p:cNvSpPr/>
            <p:nvPr/>
          </p:nvSpPr>
          <p:spPr>
            <a:xfrm>
              <a:off x="5314406" y="2121408"/>
              <a:ext cx="464602" cy="457200"/>
            </a:xfrm>
            <a:prstGeom prst="roundRect">
              <a:avLst>
                <a:gd name="adj" fmla="val 10000"/>
              </a:avLst>
            </a:prstGeom>
            <a:solidFill>
              <a:srgbClr val="1A4B5F"/>
            </a:solidFill>
            <a:ln>
              <a:noFill/>
            </a:ln>
          </p:spPr>
          <p:txBody>
            <a:bodyPr wrap="square" lIns="0" tIns="0" rIns="0" bIns="0" rtlCol="0" anchor="ctr">
              <a:noAutofit/>
            </a:bodyPr>
            <a:lstStyle/>
            <a:p>
              <a:pPr algn="ctr">
                <a:spcAft>
                  <a:spcPts val="0"/>
                </a:spcAft>
              </a:pPr>
              <a:r>
                <a:rPr sz="1300" b="0" i="0">
                  <a:solidFill>
                    <a:srgbClr val="EAF0F6"/>
                  </a:solidFill>
                  <a:latin typeface="Segoe UI Semibold"/>
                </a:rPr>
                <a:t>4</a:t>
              </a:r>
            </a:p>
          </p:txBody>
        </p:sp>
      </p:grpSp>
      <p:grpSp>
        <p:nvGrpSpPr>
          <p:cNvPr id="11" name="fg_1"/>
          <p:cNvGrpSpPr/>
          <p:nvPr/>
        </p:nvGrpSpPr>
        <p:grpSpPr>
          <a:xfrm>
            <a:off x="640080" y="2788920"/>
            <a:ext cx="5166360" cy="484632"/>
            <a:chOff x="640080" y="2788920"/>
            <a:chExt cx="5166360" cy="484632"/>
          </a:xfrm>
        </p:grpSpPr>
        <p:sp>
          <p:nvSpPr>
            <p:cNvPr id="12" name="Rounded Rectangle 11"/>
            <p:cNvSpPr/>
            <p:nvPr/>
          </p:nvSpPr>
          <p:spPr>
            <a:xfrm>
              <a:off x="640080" y="2852928"/>
              <a:ext cx="146304" cy="146304"/>
            </a:xfrm>
            <a:prstGeom prst="roundRect">
              <a:avLst>
                <a:gd name="adj" fmla="val 18750"/>
              </a:avLst>
            </a:prstGeom>
            <a:solidFill>
              <a:srgbClr val="4CC9F0"/>
            </a:solidFill>
            <a:ln>
              <a:noFill/>
            </a:ln>
          </p:spPr>
          <p:txBody>
            <a:bodyPr lIns="0" tIns="0" rIns="0" bIns="0" rtlCol="0" anchor="ctr"/>
            <a:lstStyle/>
            <a:p>
              <a:pPr algn="ctr"/>
              <a:endParaRPr/>
            </a:p>
          </p:txBody>
        </p:sp>
        <p:sp>
          <p:nvSpPr>
            <p:cNvPr id="13" name="TextBox 12"/>
            <p:cNvSpPr txBox="1"/>
            <p:nvPr/>
          </p:nvSpPr>
          <p:spPr>
            <a:xfrm>
              <a:off x="914400" y="2788920"/>
              <a:ext cx="1371600" cy="274320"/>
            </a:xfrm>
            <a:prstGeom prst="rect">
              <a:avLst/>
            </a:prstGeom>
            <a:noFill/>
          </p:spPr>
          <p:txBody>
            <a:bodyPr wrap="square" lIns="0" tIns="0" rIns="0" bIns="0" anchor="t">
              <a:noAutofit/>
            </a:bodyPr>
            <a:lstStyle/>
            <a:p>
              <a:pPr algn="l">
                <a:spcAft>
                  <a:spcPts val="0"/>
                </a:spcAft>
              </a:pPr>
              <a:r>
                <a:rPr sz="1400" b="0" i="0">
                  <a:solidFill>
                    <a:srgbClr val="EAF0F6"/>
                  </a:solidFill>
                  <a:latin typeface="Segoe UI Semibold"/>
                </a:rPr>
                <a:t>Returns · 14</a:t>
              </a:r>
            </a:p>
          </p:txBody>
        </p:sp>
        <p:sp>
          <p:nvSpPr>
            <p:cNvPr id="14" name="TextBox 13"/>
            <p:cNvSpPr txBox="1"/>
            <p:nvPr/>
          </p:nvSpPr>
          <p:spPr>
            <a:xfrm>
              <a:off x="2331720" y="2798064"/>
              <a:ext cx="3474720" cy="475488"/>
            </a:xfrm>
            <a:prstGeom prst="rect">
              <a:avLst/>
            </a:prstGeom>
            <a:noFill/>
          </p:spPr>
          <p:txBody>
            <a:bodyPr wrap="square" lIns="0" tIns="0" rIns="0" bIns="0" anchor="t">
              <a:noAutofit/>
            </a:bodyPr>
            <a:lstStyle/>
            <a:p>
              <a:pPr algn="l">
                <a:lnSpc>
                  <a:spcPct val="100000"/>
                </a:lnSpc>
                <a:spcAft>
                  <a:spcPts val="0"/>
                </a:spcAft>
              </a:pPr>
              <a:r>
                <a:rPr sz="1250" b="0" i="0">
                  <a:solidFill>
                    <a:srgbClr val="AAB6C3"/>
                  </a:solidFill>
                  <a:latin typeface="Segoe UI"/>
                </a:rPr>
                <a:t>lags 1, 2, 3 and 5 days, momentum 5–60 days, overnight and intraday moves, range</a:t>
              </a:r>
            </a:p>
          </p:txBody>
        </p:sp>
      </p:grpSp>
      <p:grpSp>
        <p:nvGrpSpPr>
          <p:cNvPr id="15" name="fg_2"/>
          <p:cNvGrpSpPr/>
          <p:nvPr/>
        </p:nvGrpSpPr>
        <p:grpSpPr>
          <a:xfrm>
            <a:off x="640080" y="3300984"/>
            <a:ext cx="5166360" cy="484632"/>
            <a:chOff x="640080" y="3300984"/>
            <a:chExt cx="5166360" cy="484632"/>
          </a:xfrm>
        </p:grpSpPr>
        <p:sp>
          <p:nvSpPr>
            <p:cNvPr id="16" name="Rounded Rectangle 15"/>
            <p:cNvSpPr/>
            <p:nvPr/>
          </p:nvSpPr>
          <p:spPr>
            <a:xfrm>
              <a:off x="640080" y="3364992"/>
              <a:ext cx="146304" cy="146304"/>
            </a:xfrm>
            <a:prstGeom prst="roundRect">
              <a:avLst>
                <a:gd name="adj" fmla="val 18750"/>
              </a:avLst>
            </a:prstGeom>
            <a:solidFill>
              <a:srgbClr val="36A3C8"/>
            </a:solidFill>
            <a:ln>
              <a:noFill/>
            </a:ln>
          </p:spPr>
          <p:txBody>
            <a:bodyPr lIns="0" tIns="0" rIns="0" bIns="0" rtlCol="0" anchor="ctr"/>
            <a:lstStyle/>
            <a:p>
              <a:pPr algn="ctr"/>
              <a:endParaRPr/>
            </a:p>
          </p:txBody>
        </p:sp>
        <p:sp>
          <p:nvSpPr>
            <p:cNvPr id="17" name="TextBox 16"/>
            <p:cNvSpPr txBox="1"/>
            <p:nvPr/>
          </p:nvSpPr>
          <p:spPr>
            <a:xfrm>
              <a:off x="914400" y="3300984"/>
              <a:ext cx="1371600" cy="274320"/>
            </a:xfrm>
            <a:prstGeom prst="rect">
              <a:avLst/>
            </a:prstGeom>
            <a:noFill/>
          </p:spPr>
          <p:txBody>
            <a:bodyPr wrap="square" lIns="0" tIns="0" rIns="0" bIns="0" anchor="t">
              <a:noAutofit/>
            </a:bodyPr>
            <a:lstStyle/>
            <a:p>
              <a:pPr algn="l">
                <a:spcAft>
                  <a:spcPts val="0"/>
                </a:spcAft>
              </a:pPr>
              <a:r>
                <a:rPr sz="1400" b="0" i="0">
                  <a:solidFill>
                    <a:srgbClr val="EAF0F6"/>
                  </a:solidFill>
                  <a:latin typeface="Segoe UI Semibold"/>
                </a:rPr>
                <a:t>Technical · 15</a:t>
              </a:r>
            </a:p>
          </p:txBody>
        </p:sp>
        <p:sp>
          <p:nvSpPr>
            <p:cNvPr id="18" name="TextBox 17"/>
            <p:cNvSpPr txBox="1"/>
            <p:nvPr/>
          </p:nvSpPr>
          <p:spPr>
            <a:xfrm>
              <a:off x="2331720" y="3310128"/>
              <a:ext cx="3474720" cy="475488"/>
            </a:xfrm>
            <a:prstGeom prst="rect">
              <a:avLst/>
            </a:prstGeom>
            <a:noFill/>
          </p:spPr>
          <p:txBody>
            <a:bodyPr wrap="square" lIns="0" tIns="0" rIns="0" bIns="0" anchor="t">
              <a:noAutofit/>
            </a:bodyPr>
            <a:lstStyle/>
            <a:p>
              <a:pPr algn="l">
                <a:lnSpc>
                  <a:spcPct val="100000"/>
                </a:lnSpc>
                <a:spcAft>
                  <a:spcPts val="0"/>
                </a:spcAft>
              </a:pPr>
              <a:r>
                <a:rPr sz="1250" b="0" i="0">
                  <a:solidFill>
                    <a:srgbClr val="AAB6C3"/>
                  </a:solidFill>
                  <a:latin typeface="Segoe UI"/>
                </a:rPr>
                <a:t>close/SMA and close/EMA (5–50), RSI(14), MACD, Bollinger %B and width</a:t>
              </a:r>
            </a:p>
          </p:txBody>
        </p:sp>
      </p:grpSp>
      <p:grpSp>
        <p:nvGrpSpPr>
          <p:cNvPr id="19" name="fg_3"/>
          <p:cNvGrpSpPr/>
          <p:nvPr/>
        </p:nvGrpSpPr>
        <p:grpSpPr>
          <a:xfrm>
            <a:off x="640080" y="3813048"/>
            <a:ext cx="5166360" cy="484632"/>
            <a:chOff x="640080" y="3813048"/>
            <a:chExt cx="5166360" cy="484632"/>
          </a:xfrm>
        </p:grpSpPr>
        <p:sp>
          <p:nvSpPr>
            <p:cNvPr id="20" name="Rounded Rectangle 19"/>
            <p:cNvSpPr/>
            <p:nvPr/>
          </p:nvSpPr>
          <p:spPr>
            <a:xfrm>
              <a:off x="640080" y="3877056"/>
              <a:ext cx="146304" cy="146304"/>
            </a:xfrm>
            <a:prstGeom prst="roundRect">
              <a:avLst>
                <a:gd name="adj" fmla="val 18750"/>
              </a:avLst>
            </a:prstGeom>
            <a:solidFill>
              <a:srgbClr val="2A82A3"/>
            </a:solidFill>
            <a:ln>
              <a:noFill/>
            </a:ln>
          </p:spPr>
          <p:txBody>
            <a:bodyPr lIns="0" tIns="0" rIns="0" bIns="0" rtlCol="0" anchor="ctr"/>
            <a:lstStyle/>
            <a:p>
              <a:pPr algn="ctr"/>
              <a:endParaRPr/>
            </a:p>
          </p:txBody>
        </p:sp>
        <p:sp>
          <p:nvSpPr>
            <p:cNvPr id="21" name="TextBox 20"/>
            <p:cNvSpPr txBox="1"/>
            <p:nvPr/>
          </p:nvSpPr>
          <p:spPr>
            <a:xfrm>
              <a:off x="914400" y="3813048"/>
              <a:ext cx="1371600" cy="274320"/>
            </a:xfrm>
            <a:prstGeom prst="rect">
              <a:avLst/>
            </a:prstGeom>
            <a:noFill/>
          </p:spPr>
          <p:txBody>
            <a:bodyPr wrap="square" lIns="0" tIns="0" rIns="0" bIns="0" anchor="t">
              <a:noAutofit/>
            </a:bodyPr>
            <a:lstStyle/>
            <a:p>
              <a:pPr algn="l">
                <a:spcAft>
                  <a:spcPts val="0"/>
                </a:spcAft>
              </a:pPr>
              <a:r>
                <a:rPr sz="1400" b="0" i="0">
                  <a:solidFill>
                    <a:srgbClr val="EAF0F6"/>
                  </a:solidFill>
                  <a:latin typeface="Segoe UI Semibold"/>
                </a:rPr>
                <a:t>Volatility · 6</a:t>
              </a:r>
            </a:p>
          </p:txBody>
        </p:sp>
        <p:sp>
          <p:nvSpPr>
            <p:cNvPr id="22" name="TextBox 21"/>
            <p:cNvSpPr txBox="1"/>
            <p:nvPr/>
          </p:nvSpPr>
          <p:spPr>
            <a:xfrm>
              <a:off x="2331720" y="3822192"/>
              <a:ext cx="3474720" cy="475488"/>
            </a:xfrm>
            <a:prstGeom prst="rect">
              <a:avLst/>
            </a:prstGeom>
            <a:noFill/>
          </p:spPr>
          <p:txBody>
            <a:bodyPr wrap="square" lIns="0" tIns="0" rIns="0" bIns="0" anchor="t">
              <a:noAutofit/>
            </a:bodyPr>
            <a:lstStyle/>
            <a:p>
              <a:pPr algn="l">
                <a:lnSpc>
                  <a:spcPct val="100000"/>
                </a:lnSpc>
                <a:spcAft>
                  <a:spcPts val="0"/>
                </a:spcAft>
              </a:pPr>
              <a:r>
                <a:rPr sz="1250" b="0" i="0">
                  <a:solidFill>
                    <a:srgbClr val="AAB6C3"/>
                  </a:solidFill>
                  <a:latin typeface="Segoe UI"/>
                </a:rPr>
                <a:t>ATR(14), realised volatility 5/20/60 days, vol ratio, normalised return</a:t>
              </a:r>
            </a:p>
          </p:txBody>
        </p:sp>
      </p:grpSp>
      <p:grpSp>
        <p:nvGrpSpPr>
          <p:cNvPr id="23" name="fg_4"/>
          <p:cNvGrpSpPr/>
          <p:nvPr/>
        </p:nvGrpSpPr>
        <p:grpSpPr>
          <a:xfrm>
            <a:off x="640080" y="4325112"/>
            <a:ext cx="5166360" cy="484632"/>
            <a:chOff x="640080" y="4325112"/>
            <a:chExt cx="5166360" cy="484632"/>
          </a:xfrm>
        </p:grpSpPr>
        <p:sp>
          <p:nvSpPr>
            <p:cNvPr id="24" name="Rounded Rectangle 23"/>
            <p:cNvSpPr/>
            <p:nvPr/>
          </p:nvSpPr>
          <p:spPr>
            <a:xfrm>
              <a:off x="640080" y="4389120"/>
              <a:ext cx="146304" cy="146304"/>
            </a:xfrm>
            <a:prstGeom prst="roundRect">
              <a:avLst>
                <a:gd name="adj" fmla="val 18750"/>
              </a:avLst>
            </a:prstGeom>
            <a:solidFill>
              <a:srgbClr val="21657F"/>
            </a:solidFill>
            <a:ln>
              <a:noFill/>
            </a:ln>
          </p:spPr>
          <p:txBody>
            <a:bodyPr lIns="0" tIns="0" rIns="0" bIns="0" rtlCol="0" anchor="ctr"/>
            <a:lstStyle/>
            <a:p>
              <a:pPr algn="ctr"/>
              <a:endParaRPr/>
            </a:p>
          </p:txBody>
        </p:sp>
        <p:sp>
          <p:nvSpPr>
            <p:cNvPr id="25" name="TextBox 24"/>
            <p:cNvSpPr txBox="1"/>
            <p:nvPr/>
          </p:nvSpPr>
          <p:spPr>
            <a:xfrm>
              <a:off x="914400" y="4325112"/>
              <a:ext cx="1371600" cy="274320"/>
            </a:xfrm>
            <a:prstGeom prst="rect">
              <a:avLst/>
            </a:prstGeom>
            <a:noFill/>
          </p:spPr>
          <p:txBody>
            <a:bodyPr wrap="square" lIns="0" tIns="0" rIns="0" bIns="0" anchor="t">
              <a:noAutofit/>
            </a:bodyPr>
            <a:lstStyle/>
            <a:p>
              <a:pPr algn="l">
                <a:spcAft>
                  <a:spcPts val="0"/>
                </a:spcAft>
              </a:pPr>
              <a:r>
                <a:rPr sz="1400" b="0" i="0">
                  <a:solidFill>
                    <a:srgbClr val="EAF0F6"/>
                  </a:solidFill>
                  <a:latin typeface="Segoe UI Semibold"/>
                </a:rPr>
                <a:t>Volume · 3</a:t>
              </a:r>
            </a:p>
          </p:txBody>
        </p:sp>
        <p:sp>
          <p:nvSpPr>
            <p:cNvPr id="26" name="TextBox 25"/>
            <p:cNvSpPr txBox="1"/>
            <p:nvPr/>
          </p:nvSpPr>
          <p:spPr>
            <a:xfrm>
              <a:off x="2331720" y="4334256"/>
              <a:ext cx="3474720" cy="475488"/>
            </a:xfrm>
            <a:prstGeom prst="rect">
              <a:avLst/>
            </a:prstGeom>
            <a:noFill/>
          </p:spPr>
          <p:txBody>
            <a:bodyPr wrap="square" lIns="0" tIns="0" rIns="0" bIns="0" anchor="t">
              <a:noAutofit/>
            </a:bodyPr>
            <a:lstStyle/>
            <a:p>
              <a:pPr algn="l">
                <a:lnSpc>
                  <a:spcPct val="100000"/>
                </a:lnSpc>
                <a:spcAft>
                  <a:spcPts val="0"/>
                </a:spcAft>
              </a:pPr>
              <a:r>
                <a:rPr sz="1250" b="0" i="0">
                  <a:solidFill>
                    <a:srgbClr val="AAB6C3"/>
                  </a:solidFill>
                  <a:latin typeface="Segoe UI"/>
                </a:rPr>
                <a:t>relative volume (5 and 20 days), volume z-score</a:t>
              </a:r>
            </a:p>
          </p:txBody>
        </p:sp>
      </p:grpSp>
      <p:grpSp>
        <p:nvGrpSpPr>
          <p:cNvPr id="27" name="fg_5"/>
          <p:cNvGrpSpPr/>
          <p:nvPr/>
        </p:nvGrpSpPr>
        <p:grpSpPr>
          <a:xfrm>
            <a:off x="640080" y="4837176"/>
            <a:ext cx="5166360" cy="484632"/>
            <a:chOff x="640080" y="4837176"/>
            <a:chExt cx="5166360" cy="484632"/>
          </a:xfrm>
        </p:grpSpPr>
        <p:sp>
          <p:nvSpPr>
            <p:cNvPr id="28" name="Rounded Rectangle 27"/>
            <p:cNvSpPr/>
            <p:nvPr/>
          </p:nvSpPr>
          <p:spPr>
            <a:xfrm>
              <a:off x="640080" y="4901184"/>
              <a:ext cx="146304" cy="146304"/>
            </a:xfrm>
            <a:prstGeom prst="roundRect">
              <a:avLst>
                <a:gd name="adj" fmla="val 18750"/>
              </a:avLst>
            </a:prstGeom>
            <a:solidFill>
              <a:srgbClr val="1A4B5F"/>
            </a:solidFill>
            <a:ln>
              <a:noFill/>
            </a:ln>
          </p:spPr>
          <p:txBody>
            <a:bodyPr lIns="0" tIns="0" rIns="0" bIns="0" rtlCol="0" anchor="ctr"/>
            <a:lstStyle/>
            <a:p>
              <a:pPr algn="ctr"/>
              <a:endParaRPr/>
            </a:p>
          </p:txBody>
        </p:sp>
        <p:sp>
          <p:nvSpPr>
            <p:cNvPr id="29" name="TextBox 28"/>
            <p:cNvSpPr txBox="1"/>
            <p:nvPr/>
          </p:nvSpPr>
          <p:spPr>
            <a:xfrm>
              <a:off x="914400" y="4837176"/>
              <a:ext cx="1371600" cy="274320"/>
            </a:xfrm>
            <a:prstGeom prst="rect">
              <a:avLst/>
            </a:prstGeom>
            <a:noFill/>
          </p:spPr>
          <p:txBody>
            <a:bodyPr wrap="square" lIns="0" tIns="0" rIns="0" bIns="0" anchor="t">
              <a:noAutofit/>
            </a:bodyPr>
            <a:lstStyle/>
            <a:p>
              <a:pPr algn="l">
                <a:spcAft>
                  <a:spcPts val="0"/>
                </a:spcAft>
              </a:pPr>
              <a:r>
                <a:rPr sz="1400" b="0" i="0">
                  <a:solidFill>
                    <a:srgbClr val="EAF0F6"/>
                  </a:solidFill>
                  <a:latin typeface="Segoe UI Semibold"/>
                </a:rPr>
                <a:t>Regime · 4</a:t>
              </a:r>
            </a:p>
          </p:txBody>
        </p:sp>
        <p:sp>
          <p:nvSpPr>
            <p:cNvPr id="30" name="TextBox 29"/>
            <p:cNvSpPr txBox="1"/>
            <p:nvPr/>
          </p:nvSpPr>
          <p:spPr>
            <a:xfrm>
              <a:off x="2331720" y="4846320"/>
              <a:ext cx="3474720" cy="475488"/>
            </a:xfrm>
            <a:prstGeom prst="rect">
              <a:avLst/>
            </a:prstGeom>
            <a:noFill/>
          </p:spPr>
          <p:txBody>
            <a:bodyPr wrap="square" lIns="0" tIns="0" rIns="0" bIns="0" anchor="t">
              <a:noAutofit/>
            </a:bodyPr>
            <a:lstStyle/>
            <a:p>
              <a:pPr algn="l">
                <a:lnSpc>
                  <a:spcPct val="100000"/>
                </a:lnSpc>
                <a:spcAft>
                  <a:spcPts val="0"/>
                </a:spcAft>
              </a:pPr>
              <a:r>
                <a:rPr sz="1250" b="0" i="0">
                  <a:solidFill>
                    <a:srgbClr val="AAB6C3"/>
                  </a:solidFill>
                  <a:latin typeface="Segoe UI"/>
                </a:rPr>
                <a:t>volatility percentile, close/SMA200, golden cross, 252-day drawdown</a:t>
              </a:r>
            </a:p>
          </p:txBody>
        </p:sp>
      </p:grpSp>
      <p:sp>
        <p:nvSpPr>
          <p:cNvPr id="31" name="feat_note"/>
          <p:cNvSpPr txBox="1"/>
          <p:nvPr/>
        </p:nvSpPr>
        <p:spPr>
          <a:xfrm>
            <a:off x="640080" y="5468112"/>
            <a:ext cx="5166360" cy="594360"/>
          </a:xfrm>
          <a:prstGeom prst="rect">
            <a:avLst/>
          </a:prstGeom>
          <a:noFill/>
        </p:spPr>
        <p:txBody>
          <a:bodyPr wrap="square" lIns="0" tIns="0" rIns="0" bIns="0" anchor="t">
            <a:noAutofit/>
          </a:bodyPr>
          <a:lstStyle/>
          <a:p>
            <a:pPr algn="l">
              <a:lnSpc>
                <a:spcPct val="105000"/>
              </a:lnSpc>
              <a:spcAft>
                <a:spcPts val="0"/>
              </a:spcAft>
            </a:pPr>
            <a:r>
              <a:rPr sz="1200" b="0" i="0">
                <a:solidFill>
                  <a:srgbClr val="8291A2"/>
                </a:solidFill>
                <a:latin typeface="Segoe UI"/>
              </a:rPr>
              <a:t>Only ratios, never price levels, so back-adjusted prices cannot leak the future. A test recomputes features on truncated data and requires identical values.</a:t>
            </a:r>
          </a:p>
        </p:txBody>
      </p:sp>
      <p:sp>
        <p:nvSpPr>
          <p:cNvPr id="32" name="tgt_label"/>
          <p:cNvSpPr txBox="1"/>
          <p:nvPr/>
        </p:nvSpPr>
        <p:spPr>
          <a:xfrm>
            <a:off x="6355080" y="1783080"/>
            <a:ext cx="5193792"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TARGET · WHAT THE MODEL PREDICTS</a:t>
            </a:r>
          </a:p>
        </p:txBody>
      </p:sp>
      <p:grpSp>
        <p:nvGrpSpPr>
          <p:cNvPr id="33" name="timeline"/>
          <p:cNvGrpSpPr/>
          <p:nvPr/>
        </p:nvGrpSpPr>
        <p:grpSpPr>
          <a:xfrm>
            <a:off x="5897880" y="2212848"/>
            <a:ext cx="5669280" cy="1152144"/>
            <a:chOff x="5897880" y="2212848"/>
            <a:chExt cx="5669280" cy="1152144"/>
          </a:xfrm>
        </p:grpSpPr>
        <p:cxnSp>
          <p:nvCxnSpPr>
            <p:cNvPr id="34" name="Connector 33"/>
            <p:cNvCxnSpPr/>
            <p:nvPr/>
          </p:nvCxnSpPr>
          <p:spPr>
            <a:xfrm>
              <a:off x="6492240" y="2697480"/>
              <a:ext cx="4754880" cy="0"/>
            </a:xfrm>
            <a:prstGeom prst="line">
              <a:avLst/>
            </a:prstGeom>
            <a:ln w="19050">
              <a:solidFill>
                <a:srgbClr val="3A4D63"/>
              </a:solidFill>
            </a:ln>
          </p:spPr>
        </p:cxnSp>
        <p:cxnSp>
          <p:nvCxnSpPr>
            <p:cNvPr id="35" name="Connector 34"/>
            <p:cNvCxnSpPr/>
            <p:nvPr/>
          </p:nvCxnSpPr>
          <p:spPr>
            <a:xfrm>
              <a:off x="8732520" y="2697480"/>
              <a:ext cx="2057400" cy="0"/>
            </a:xfrm>
            <a:prstGeom prst="line">
              <a:avLst/>
            </a:prstGeom>
            <a:ln w="38100">
              <a:solidFill>
                <a:srgbClr val="FFB547"/>
              </a:solidFill>
            </a:ln>
          </p:spPr>
        </p:cxnSp>
        <p:sp>
          <p:nvSpPr>
            <p:cNvPr id="36" name="Oval 35"/>
            <p:cNvSpPr/>
            <p:nvPr/>
          </p:nvSpPr>
          <p:spPr>
            <a:xfrm>
              <a:off x="6583680" y="2606040"/>
              <a:ext cx="182880" cy="182880"/>
            </a:xfrm>
            <a:prstGeom prst="ellipse">
              <a:avLst/>
            </a:prstGeom>
            <a:solidFill>
              <a:srgbClr val="0A0E14"/>
            </a:solidFill>
            <a:ln w="22225">
              <a:solidFill>
                <a:srgbClr val="EAF0F6"/>
              </a:solidFill>
            </a:ln>
          </p:spPr>
          <p:txBody>
            <a:bodyPr lIns="0" tIns="0" rIns="0" bIns="0" rtlCol="0" anchor="ctr"/>
            <a:lstStyle/>
            <a:p>
              <a:pPr algn="ctr"/>
              <a:endParaRPr/>
            </a:p>
          </p:txBody>
        </p:sp>
        <p:sp>
          <p:nvSpPr>
            <p:cNvPr id="37" name="TextBox 36"/>
            <p:cNvSpPr txBox="1"/>
            <p:nvPr/>
          </p:nvSpPr>
          <p:spPr>
            <a:xfrm>
              <a:off x="5943600" y="2212848"/>
              <a:ext cx="1463040" cy="256032"/>
            </a:xfrm>
            <a:prstGeom prst="rect">
              <a:avLst/>
            </a:prstGeom>
            <a:noFill/>
          </p:spPr>
          <p:txBody>
            <a:bodyPr wrap="square" lIns="0" tIns="0" rIns="0" bIns="0" anchor="t">
              <a:noAutofit/>
            </a:bodyPr>
            <a:lstStyle/>
            <a:p>
              <a:pPr algn="ctr">
                <a:spcAft>
                  <a:spcPts val="0"/>
                </a:spcAft>
              </a:pPr>
              <a:r>
                <a:rPr sz="1200" b="0" i="0">
                  <a:solidFill>
                    <a:srgbClr val="EAF0F6"/>
                  </a:solidFill>
                  <a:latin typeface="Consolas"/>
                </a:rPr>
                <a:t>close t</a:t>
              </a:r>
            </a:p>
          </p:txBody>
        </p:sp>
        <p:sp>
          <p:nvSpPr>
            <p:cNvPr id="38" name="TextBox 37"/>
            <p:cNvSpPr txBox="1"/>
            <p:nvPr/>
          </p:nvSpPr>
          <p:spPr>
            <a:xfrm>
              <a:off x="5897880" y="2907792"/>
              <a:ext cx="1554480" cy="457200"/>
            </a:xfrm>
            <a:prstGeom prst="rect">
              <a:avLst/>
            </a:prstGeom>
            <a:noFill/>
          </p:spPr>
          <p:txBody>
            <a:bodyPr wrap="square" lIns="0" tIns="0" rIns="0" bIns="0" anchor="t">
              <a:noAutofit/>
            </a:bodyPr>
            <a:lstStyle/>
            <a:p>
              <a:pPr algn="ctr">
                <a:lnSpc>
                  <a:spcPct val="100000"/>
                </a:lnSpc>
                <a:spcAft>
                  <a:spcPts val="0"/>
                </a:spcAft>
              </a:pPr>
              <a:r>
                <a:rPr sz="1200" b="0" i="0">
                  <a:solidFill>
                    <a:srgbClr val="AAB6C3"/>
                  </a:solidFill>
                  <a:latin typeface="Segoe UI"/>
                </a:rPr>
                <a:t>features known, predict</a:t>
              </a:r>
            </a:p>
          </p:txBody>
        </p:sp>
        <p:sp>
          <p:nvSpPr>
            <p:cNvPr id="39" name="Oval 38"/>
            <p:cNvSpPr/>
            <p:nvPr/>
          </p:nvSpPr>
          <p:spPr>
            <a:xfrm>
              <a:off x="8641080" y="2606040"/>
              <a:ext cx="182880" cy="182880"/>
            </a:xfrm>
            <a:prstGeom prst="ellipse">
              <a:avLst/>
            </a:prstGeom>
            <a:solidFill>
              <a:srgbClr val="0A0E14"/>
            </a:solidFill>
            <a:ln w="22225">
              <a:solidFill>
                <a:srgbClr val="FFB547"/>
              </a:solidFill>
            </a:ln>
          </p:spPr>
          <p:txBody>
            <a:bodyPr lIns="0" tIns="0" rIns="0" bIns="0" rtlCol="0" anchor="ctr"/>
            <a:lstStyle/>
            <a:p>
              <a:pPr algn="ctr"/>
              <a:endParaRPr/>
            </a:p>
          </p:txBody>
        </p:sp>
        <p:sp>
          <p:nvSpPr>
            <p:cNvPr id="40" name="TextBox 39"/>
            <p:cNvSpPr txBox="1"/>
            <p:nvPr/>
          </p:nvSpPr>
          <p:spPr>
            <a:xfrm>
              <a:off x="8001000" y="2212848"/>
              <a:ext cx="1463040" cy="256032"/>
            </a:xfrm>
            <a:prstGeom prst="rect">
              <a:avLst/>
            </a:prstGeom>
            <a:noFill/>
          </p:spPr>
          <p:txBody>
            <a:bodyPr wrap="square" lIns="0" tIns="0" rIns="0" bIns="0" anchor="t">
              <a:noAutofit/>
            </a:bodyPr>
            <a:lstStyle/>
            <a:p>
              <a:pPr algn="ctr">
                <a:spcAft>
                  <a:spcPts val="0"/>
                </a:spcAft>
              </a:pPr>
              <a:r>
                <a:rPr sz="1200" b="0" i="0">
                  <a:solidFill>
                    <a:srgbClr val="EAF0F6"/>
                  </a:solidFill>
                  <a:latin typeface="Consolas"/>
                </a:rPr>
                <a:t>open t+1</a:t>
              </a:r>
            </a:p>
          </p:txBody>
        </p:sp>
        <p:sp>
          <p:nvSpPr>
            <p:cNvPr id="41" name="TextBox 40"/>
            <p:cNvSpPr txBox="1"/>
            <p:nvPr/>
          </p:nvSpPr>
          <p:spPr>
            <a:xfrm>
              <a:off x="7955280" y="2907792"/>
              <a:ext cx="1554480" cy="457200"/>
            </a:xfrm>
            <a:prstGeom prst="rect">
              <a:avLst/>
            </a:prstGeom>
            <a:noFill/>
          </p:spPr>
          <p:txBody>
            <a:bodyPr wrap="square" lIns="0" tIns="0" rIns="0" bIns="0" anchor="t">
              <a:noAutofit/>
            </a:bodyPr>
            <a:lstStyle/>
            <a:p>
              <a:pPr algn="ctr">
                <a:lnSpc>
                  <a:spcPct val="100000"/>
                </a:lnSpc>
                <a:spcAft>
                  <a:spcPts val="0"/>
                </a:spcAft>
              </a:pPr>
              <a:r>
                <a:rPr sz="1200" b="0" i="0">
                  <a:solidFill>
                    <a:srgbClr val="AAB6C3"/>
                  </a:solidFill>
                  <a:latin typeface="Segoe UI"/>
                </a:rPr>
                <a:t>enter, or stay in cash</a:t>
              </a:r>
            </a:p>
          </p:txBody>
        </p:sp>
        <p:sp>
          <p:nvSpPr>
            <p:cNvPr id="42" name="Oval 41"/>
            <p:cNvSpPr/>
            <p:nvPr/>
          </p:nvSpPr>
          <p:spPr>
            <a:xfrm>
              <a:off x="10698480" y="2606040"/>
              <a:ext cx="182880" cy="182880"/>
            </a:xfrm>
            <a:prstGeom prst="ellipse">
              <a:avLst/>
            </a:prstGeom>
            <a:solidFill>
              <a:srgbClr val="0A0E14"/>
            </a:solidFill>
            <a:ln w="22225">
              <a:solidFill>
                <a:srgbClr val="FFB547"/>
              </a:solidFill>
            </a:ln>
          </p:spPr>
          <p:txBody>
            <a:bodyPr lIns="0" tIns="0" rIns="0" bIns="0" rtlCol="0" anchor="ctr"/>
            <a:lstStyle/>
            <a:p>
              <a:pPr algn="ctr"/>
              <a:endParaRPr/>
            </a:p>
          </p:txBody>
        </p:sp>
        <p:sp>
          <p:nvSpPr>
            <p:cNvPr id="43" name="TextBox 42"/>
            <p:cNvSpPr txBox="1"/>
            <p:nvPr/>
          </p:nvSpPr>
          <p:spPr>
            <a:xfrm>
              <a:off x="10058400" y="2212848"/>
              <a:ext cx="1463040" cy="256032"/>
            </a:xfrm>
            <a:prstGeom prst="rect">
              <a:avLst/>
            </a:prstGeom>
            <a:noFill/>
          </p:spPr>
          <p:txBody>
            <a:bodyPr wrap="square" lIns="0" tIns="0" rIns="0" bIns="0" anchor="t">
              <a:noAutofit/>
            </a:bodyPr>
            <a:lstStyle/>
            <a:p>
              <a:pPr algn="ctr">
                <a:spcAft>
                  <a:spcPts val="0"/>
                </a:spcAft>
              </a:pPr>
              <a:r>
                <a:rPr sz="1200" b="0" i="0">
                  <a:solidFill>
                    <a:srgbClr val="EAF0F6"/>
                  </a:solidFill>
                  <a:latin typeface="Consolas"/>
                </a:rPr>
                <a:t>open t+2</a:t>
              </a:r>
            </a:p>
          </p:txBody>
        </p:sp>
        <p:sp>
          <p:nvSpPr>
            <p:cNvPr id="44" name="TextBox 43"/>
            <p:cNvSpPr txBox="1"/>
            <p:nvPr/>
          </p:nvSpPr>
          <p:spPr>
            <a:xfrm>
              <a:off x="10012680" y="2907792"/>
              <a:ext cx="1554480" cy="457200"/>
            </a:xfrm>
            <a:prstGeom prst="rect">
              <a:avLst/>
            </a:prstGeom>
            <a:noFill/>
          </p:spPr>
          <p:txBody>
            <a:bodyPr wrap="square" lIns="0" tIns="0" rIns="0" bIns="0" anchor="t">
              <a:noAutofit/>
            </a:bodyPr>
            <a:lstStyle/>
            <a:p>
              <a:pPr algn="ctr">
                <a:lnSpc>
                  <a:spcPct val="100000"/>
                </a:lnSpc>
                <a:spcAft>
                  <a:spcPts val="0"/>
                </a:spcAft>
              </a:pPr>
              <a:r>
                <a:rPr sz="1200" b="0" i="0">
                  <a:solidFill>
                    <a:srgbClr val="AAB6C3"/>
                  </a:solidFill>
                  <a:latin typeface="Segoe UI"/>
                </a:rPr>
                <a:t>exit, or re-decide</a:t>
              </a:r>
            </a:p>
          </p:txBody>
        </p:sp>
      </p:grpSp>
      <p:grpSp>
        <p:nvGrpSpPr>
          <p:cNvPr id="45" name="eq_target"/>
          <p:cNvGrpSpPr/>
          <p:nvPr/>
        </p:nvGrpSpPr>
        <p:grpSpPr>
          <a:xfrm>
            <a:off x="6355080" y="3611880"/>
            <a:ext cx="5193792" cy="914400"/>
            <a:chOff x="6355080" y="3611880"/>
            <a:chExt cx="5193792" cy="914400"/>
          </a:xfrm>
        </p:grpSpPr>
        <p:sp>
          <p:nvSpPr>
            <p:cNvPr id="46" name="eq_target_bg"/>
            <p:cNvSpPr/>
            <p:nvPr/>
          </p:nvSpPr>
          <p:spPr>
            <a:xfrm>
              <a:off x="6355080" y="3611880"/>
              <a:ext cx="5193792" cy="914400"/>
            </a:xfrm>
            <a:prstGeom prst="roundRect">
              <a:avLst>
                <a:gd name="adj" fmla="val 12000"/>
              </a:avLst>
            </a:prstGeom>
            <a:solidFill>
              <a:srgbClr val="111823">
                <a:alpha val="88000"/>
              </a:srgbClr>
            </a:solidFill>
            <a:ln w="12700">
              <a:solidFill>
                <a:srgbClr val="FFB547">
                  <a:alpha val="75000"/>
                </a:srgbClr>
              </a:solidFill>
            </a:ln>
          </p:spPr>
          <p:txBody>
            <a:bodyPr lIns="0" tIns="0" rIns="0" bIns="0" rtlCol="0" anchor="ctr"/>
            <a:lstStyle/>
            <a:p>
              <a:pPr algn="ctr"/>
              <a:endParaRPr/>
            </a:p>
          </p:txBody>
        </p:sp>
        <p:sp>
          <p:nvSpPr>
            <p:cNvPr id="47" name="TextBox 46"/>
            <p:cNvSpPr txBox="1"/>
            <p:nvPr/>
          </p:nvSpPr>
          <p:spPr>
            <a:xfrm>
              <a:off x="6355080" y="3611880"/>
              <a:ext cx="5193792" cy="914400"/>
            </a:xfrm>
            <a:prstGeom prst="rect">
              <a:avLst/>
            </a:prstGeom>
            <a:noFill/>
          </p:spPr>
          <p:txBody>
            <a:bodyPr wrap="square" lIns="0" tIns="0" rIns="0" bIns="0" anchor="ctr">
              <a:noAutofit/>
            </a:bodyPr>
            <a:lstStyle/>
            <a:p>
              <a:pPr algn="ctr">
                <a:spcAft>
                  <a:spcPts val="600"/>
                </a:spcAft>
              </a:pPr>
              <a:r>
                <a:rPr sz="2600" b="0" i="1">
                  <a:solidFill>
                    <a:srgbClr val="EAF0F6"/>
                  </a:solidFill>
                  <a:latin typeface="Cambria"/>
                </a:rPr>
                <a:t>r</a:t>
              </a:r>
              <a:r>
                <a:rPr sz="2600" b="0" i="1" baseline="-25000">
                  <a:solidFill>
                    <a:srgbClr val="EAF0F6"/>
                  </a:solidFill>
                  <a:latin typeface="Cambria"/>
                </a:rPr>
                <a:t>t</a:t>
              </a:r>
              <a:r>
                <a:rPr sz="2600" b="0" i="0">
                  <a:solidFill>
                    <a:srgbClr val="EAF0F6"/>
                  </a:solidFill>
                  <a:latin typeface="Cambria"/>
                </a:rPr>
                <a:t>  =  </a:t>
              </a:r>
              <a:r>
                <a:rPr sz="2600" b="0" i="1">
                  <a:solidFill>
                    <a:srgbClr val="EAF0F6"/>
                  </a:solidFill>
                  <a:latin typeface="Cambria"/>
                </a:rPr>
                <a:t>O</a:t>
              </a:r>
              <a:r>
                <a:rPr sz="2600" b="0" i="1" baseline="-25000">
                  <a:solidFill>
                    <a:srgbClr val="EAF0F6"/>
                  </a:solidFill>
                  <a:latin typeface="Cambria"/>
                </a:rPr>
                <a:t>t+2</a:t>
              </a:r>
              <a:r>
                <a:rPr sz="2600" b="0" i="0">
                  <a:solidFill>
                    <a:srgbClr val="EAF0F6"/>
                  </a:solidFill>
                  <a:latin typeface="Cambria"/>
                </a:rPr>
                <a:t> / </a:t>
              </a:r>
              <a:r>
                <a:rPr sz="2600" b="0" i="1">
                  <a:solidFill>
                    <a:srgbClr val="EAF0F6"/>
                  </a:solidFill>
                  <a:latin typeface="Cambria"/>
                </a:rPr>
                <a:t>O</a:t>
              </a:r>
              <a:r>
                <a:rPr sz="2600" b="0" i="1" baseline="-25000">
                  <a:solidFill>
                    <a:srgbClr val="EAF0F6"/>
                  </a:solidFill>
                  <a:latin typeface="Cambria"/>
                </a:rPr>
                <a:t>t+1</a:t>
              </a:r>
              <a:r>
                <a:rPr sz="2600" b="0" i="0">
                  <a:solidFill>
                    <a:srgbClr val="EAF0F6"/>
                  </a:solidFill>
                  <a:latin typeface="Cambria"/>
                </a:rPr>
                <a:t>  −  1</a:t>
              </a:r>
            </a:p>
          </p:txBody>
        </p:sp>
      </p:grpSp>
      <p:grpSp>
        <p:nvGrpSpPr>
          <p:cNvPr id="48" name="chips_cls"/>
          <p:cNvGrpSpPr/>
          <p:nvPr/>
        </p:nvGrpSpPr>
        <p:grpSpPr>
          <a:xfrm>
            <a:off x="6355080" y="4709160"/>
            <a:ext cx="5193792" cy="530352"/>
            <a:chOff x="6355080" y="4709160"/>
            <a:chExt cx="5193792" cy="530352"/>
          </a:xfrm>
        </p:grpSpPr>
        <p:sp>
          <p:nvSpPr>
            <p:cNvPr id="49" name="Rounded Rectangle 48"/>
            <p:cNvSpPr/>
            <p:nvPr/>
          </p:nvSpPr>
          <p:spPr>
            <a:xfrm>
              <a:off x="6355080" y="4709160"/>
              <a:ext cx="1645920" cy="530352"/>
            </a:xfrm>
            <a:prstGeom prst="roundRect">
              <a:avLst>
                <a:gd name="adj" fmla="val 20689"/>
              </a:avLst>
            </a:prstGeom>
            <a:solidFill>
              <a:srgbClr val="FF6B6B">
                <a:alpha val="14000"/>
              </a:srgbClr>
            </a:solidFill>
            <a:ln w="9525">
              <a:solidFill>
                <a:srgbClr val="FF6B6B">
                  <a:alpha val="80000"/>
                </a:srgbClr>
              </a:solidFill>
            </a:ln>
          </p:spPr>
          <p:txBody>
            <a:bodyPr wrap="square" lIns="0" tIns="0" rIns="0" bIns="0" rtlCol="0" anchor="ctr">
              <a:noAutofit/>
            </a:bodyPr>
            <a:lstStyle/>
            <a:p>
              <a:pPr algn="ctr">
                <a:spcAft>
                  <a:spcPts val="0"/>
                </a:spcAft>
              </a:pPr>
              <a:r>
                <a:rPr sz="1100" b="0" i="0">
                  <a:solidFill>
                    <a:srgbClr val="FF6B6B"/>
                  </a:solidFill>
                  <a:latin typeface="Consolas"/>
                </a:rPr>
                <a:t>DOWN  </a:t>
              </a:r>
              <a:r>
                <a:rPr sz="1400" b="0" i="0">
                  <a:solidFill>
                    <a:srgbClr val="EAF0F6"/>
                  </a:solidFill>
                  <a:latin typeface="Cambria"/>
                </a:rPr>
                <a:t>r &lt; −0.1%</a:t>
              </a:r>
            </a:p>
          </p:txBody>
        </p:sp>
        <p:sp>
          <p:nvSpPr>
            <p:cNvPr id="50" name="Rounded Rectangle 49"/>
            <p:cNvSpPr/>
            <p:nvPr/>
          </p:nvSpPr>
          <p:spPr>
            <a:xfrm>
              <a:off x="8129016" y="4709160"/>
              <a:ext cx="1645920" cy="530352"/>
            </a:xfrm>
            <a:prstGeom prst="roundRect">
              <a:avLst>
                <a:gd name="adj" fmla="val 20689"/>
              </a:avLst>
            </a:prstGeom>
            <a:solidFill>
              <a:srgbClr val="6E7D8C">
                <a:alpha val="14000"/>
              </a:srgbClr>
            </a:solidFill>
            <a:ln w="9525">
              <a:solidFill>
                <a:srgbClr val="6E7D8C">
                  <a:alpha val="80000"/>
                </a:srgbClr>
              </a:solidFill>
            </a:ln>
          </p:spPr>
          <p:txBody>
            <a:bodyPr wrap="square" lIns="0" tIns="0" rIns="0" bIns="0" rtlCol="0" anchor="ctr">
              <a:noAutofit/>
            </a:bodyPr>
            <a:lstStyle/>
            <a:p>
              <a:pPr algn="ctr">
                <a:spcAft>
                  <a:spcPts val="0"/>
                </a:spcAft>
              </a:pPr>
              <a:r>
                <a:rPr sz="1100" b="0" i="0">
                  <a:solidFill>
                    <a:srgbClr val="6E7D8C"/>
                  </a:solidFill>
                  <a:latin typeface="Consolas"/>
                </a:rPr>
                <a:t>NEUTRAL  </a:t>
              </a:r>
              <a:r>
                <a:rPr sz="1400" b="0" i="0">
                  <a:solidFill>
                    <a:srgbClr val="EAF0F6"/>
                  </a:solidFill>
                  <a:latin typeface="Cambria"/>
                </a:rPr>
                <a:t>|r| ≤ 0.1%</a:t>
              </a:r>
            </a:p>
          </p:txBody>
        </p:sp>
        <p:sp>
          <p:nvSpPr>
            <p:cNvPr id="51" name="Rounded Rectangle 50"/>
            <p:cNvSpPr/>
            <p:nvPr/>
          </p:nvSpPr>
          <p:spPr>
            <a:xfrm>
              <a:off x="9902952" y="4709160"/>
              <a:ext cx="1645920" cy="530352"/>
            </a:xfrm>
            <a:prstGeom prst="roundRect">
              <a:avLst>
                <a:gd name="adj" fmla="val 20689"/>
              </a:avLst>
            </a:prstGeom>
            <a:solidFill>
              <a:srgbClr val="3DDBB4">
                <a:alpha val="14000"/>
              </a:srgbClr>
            </a:solidFill>
            <a:ln w="9525">
              <a:solidFill>
                <a:srgbClr val="3DDBB4">
                  <a:alpha val="80000"/>
                </a:srgbClr>
              </a:solidFill>
            </a:ln>
          </p:spPr>
          <p:txBody>
            <a:bodyPr wrap="square" lIns="0" tIns="0" rIns="0" bIns="0" rtlCol="0" anchor="ctr">
              <a:noAutofit/>
            </a:bodyPr>
            <a:lstStyle/>
            <a:p>
              <a:pPr algn="ctr">
                <a:spcAft>
                  <a:spcPts val="0"/>
                </a:spcAft>
              </a:pPr>
              <a:r>
                <a:rPr sz="1100" b="0" i="0">
                  <a:solidFill>
                    <a:srgbClr val="3DDBB4"/>
                  </a:solidFill>
                  <a:latin typeface="Consolas"/>
                </a:rPr>
                <a:t>UP  </a:t>
              </a:r>
              <a:r>
                <a:rPr sz="1400" b="0" i="0">
                  <a:solidFill>
                    <a:srgbClr val="EAF0F6"/>
                  </a:solidFill>
                  <a:latin typeface="Cambria"/>
                </a:rPr>
                <a:t>r &gt; +0.1%</a:t>
              </a:r>
            </a:p>
          </p:txBody>
        </p:sp>
      </p:grpSp>
      <p:sp>
        <p:nvSpPr>
          <p:cNvPr id="52" name="cls_share"/>
          <p:cNvSpPr txBox="1"/>
          <p:nvPr/>
        </p:nvSpPr>
        <p:spPr>
          <a:xfrm>
            <a:off x="6355080" y="5413248"/>
            <a:ext cx="5193792" cy="274320"/>
          </a:xfrm>
          <a:prstGeom prst="rect">
            <a:avLst/>
          </a:prstGeom>
          <a:noFill/>
        </p:spPr>
        <p:txBody>
          <a:bodyPr wrap="square" lIns="0" tIns="0" rIns="0" bIns="0" anchor="t">
            <a:noAutofit/>
          </a:bodyPr>
          <a:lstStyle/>
          <a:p>
            <a:pPr algn="l">
              <a:spcAft>
                <a:spcPts val="0"/>
              </a:spcAft>
            </a:pPr>
            <a:r>
              <a:rPr sz="1200" b="0" i="0">
                <a:solidFill>
                  <a:srgbClr val="8291A2"/>
                </a:solidFill>
                <a:latin typeface="Segoe UI"/>
              </a:rPr>
              <a:t>SPY test days: Up 49.5% · Down 41.2% · Neutral 9.4%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22" presetClass="entr" presetSubtype="8" fill="hold"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800"/>
                                        <p:tgtEl>
                                          <p:spTgt spid="5"/>
                                        </p:tgtEl>
                                      </p:cBhvr>
                                    </p:animEffect>
                                  </p:childTnLst>
                                </p:cTn>
                              </p:par>
                              <p:par>
                                <p:cTn id="11" presetID="42" presetClass="entr" presetSubtype="0" fill="hold" nodeType="withEffect">
                                  <p:stCondLst>
                                    <p:cond delay="4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anim calcmode="lin" valueType="num">
                                      <p:cBhvr>
                                        <p:cTn id="14" dur="450" fill="hold"/>
                                        <p:tgtEl>
                                          <p:spTgt spid="11"/>
                                        </p:tgtEl>
                                        <p:attrNameLst>
                                          <p:attrName>ppt_x</p:attrName>
                                        </p:attrNameLst>
                                      </p:cBhvr>
                                      <p:tavLst>
                                        <p:tav tm="0">
                                          <p:val>
                                            <p:strVal val="#ppt_x"/>
                                          </p:val>
                                        </p:tav>
                                        <p:tav tm="100000">
                                          <p:val>
                                            <p:strVal val="#ppt_x"/>
                                          </p:val>
                                        </p:tav>
                                      </p:tavLst>
                                    </p:anim>
                                    <p:anim calcmode="lin" valueType="num">
                                      <p:cBhvr>
                                        <p:cTn id="15" dur="450" fill="hold"/>
                                        <p:tgtEl>
                                          <p:spTgt spid="11"/>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50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50"/>
                                        <p:tgtEl>
                                          <p:spTgt spid="15"/>
                                        </p:tgtEl>
                                      </p:cBhvr>
                                    </p:animEffect>
                                    <p:anim calcmode="lin" valueType="num">
                                      <p:cBhvr>
                                        <p:cTn id="19" dur="450" fill="hold"/>
                                        <p:tgtEl>
                                          <p:spTgt spid="15"/>
                                        </p:tgtEl>
                                        <p:attrNameLst>
                                          <p:attrName>ppt_x</p:attrName>
                                        </p:attrNameLst>
                                      </p:cBhvr>
                                      <p:tavLst>
                                        <p:tav tm="0">
                                          <p:val>
                                            <p:strVal val="#ppt_x"/>
                                          </p:val>
                                        </p:tav>
                                        <p:tav tm="100000">
                                          <p:val>
                                            <p:strVal val="#ppt_x"/>
                                          </p:val>
                                        </p:tav>
                                      </p:tavLst>
                                    </p:anim>
                                    <p:anim calcmode="lin" valueType="num">
                                      <p:cBhvr>
                                        <p:cTn id="20" dur="450" fill="hold"/>
                                        <p:tgtEl>
                                          <p:spTgt spid="15"/>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60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anim calcmode="lin" valueType="num">
                                      <p:cBhvr>
                                        <p:cTn id="24" dur="450" fill="hold"/>
                                        <p:tgtEl>
                                          <p:spTgt spid="19"/>
                                        </p:tgtEl>
                                        <p:attrNameLst>
                                          <p:attrName>ppt_x</p:attrName>
                                        </p:attrNameLst>
                                      </p:cBhvr>
                                      <p:tavLst>
                                        <p:tav tm="0">
                                          <p:val>
                                            <p:strVal val="#ppt_x"/>
                                          </p:val>
                                        </p:tav>
                                        <p:tav tm="100000">
                                          <p:val>
                                            <p:strVal val="#ppt_x"/>
                                          </p:val>
                                        </p:tav>
                                      </p:tavLst>
                                    </p:anim>
                                    <p:anim calcmode="lin" valueType="num">
                                      <p:cBhvr>
                                        <p:cTn id="25" dur="450" fill="hold"/>
                                        <p:tgtEl>
                                          <p:spTgt spid="19"/>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70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450"/>
                                        <p:tgtEl>
                                          <p:spTgt spid="23"/>
                                        </p:tgtEl>
                                      </p:cBhvr>
                                    </p:animEffect>
                                    <p:anim calcmode="lin" valueType="num">
                                      <p:cBhvr>
                                        <p:cTn id="29" dur="450" fill="hold"/>
                                        <p:tgtEl>
                                          <p:spTgt spid="23"/>
                                        </p:tgtEl>
                                        <p:attrNameLst>
                                          <p:attrName>ppt_x</p:attrName>
                                        </p:attrNameLst>
                                      </p:cBhvr>
                                      <p:tavLst>
                                        <p:tav tm="0">
                                          <p:val>
                                            <p:strVal val="#ppt_x"/>
                                          </p:val>
                                        </p:tav>
                                        <p:tav tm="100000">
                                          <p:val>
                                            <p:strVal val="#ppt_x"/>
                                          </p:val>
                                        </p:tav>
                                      </p:tavLst>
                                    </p:anim>
                                    <p:anim calcmode="lin" valueType="num">
                                      <p:cBhvr>
                                        <p:cTn id="30" dur="450" fill="hold"/>
                                        <p:tgtEl>
                                          <p:spTgt spid="23"/>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80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450"/>
                                        <p:tgtEl>
                                          <p:spTgt spid="27"/>
                                        </p:tgtEl>
                                      </p:cBhvr>
                                    </p:animEffect>
                                    <p:anim calcmode="lin" valueType="num">
                                      <p:cBhvr>
                                        <p:cTn id="34" dur="450" fill="hold"/>
                                        <p:tgtEl>
                                          <p:spTgt spid="27"/>
                                        </p:tgtEl>
                                        <p:attrNameLst>
                                          <p:attrName>ppt_x</p:attrName>
                                        </p:attrNameLst>
                                      </p:cBhvr>
                                      <p:tavLst>
                                        <p:tav tm="0">
                                          <p:val>
                                            <p:strVal val="#ppt_x"/>
                                          </p:val>
                                        </p:tav>
                                        <p:tav tm="100000">
                                          <p:val>
                                            <p:strVal val="#ppt_x"/>
                                          </p:val>
                                        </p:tav>
                                      </p:tavLst>
                                    </p:anim>
                                    <p:anim calcmode="lin" valueType="num">
                                      <p:cBhvr>
                                        <p:cTn id="35" dur="450" fill="hold"/>
                                        <p:tgtEl>
                                          <p:spTgt spid="27"/>
                                        </p:tgtEl>
                                        <p:attrNameLst>
                                          <p:attrName>ppt_y</p:attrName>
                                        </p:attrNameLst>
                                      </p:cBhvr>
                                      <p:tavLst>
                                        <p:tav tm="0">
                                          <p:val>
                                            <p:strVal val="#ppt_y+.1"/>
                                          </p:val>
                                        </p:tav>
                                        <p:tav tm="100000">
                                          <p:val>
                                            <p:strVal val="#ppt_y"/>
                                          </p:val>
                                        </p:tav>
                                      </p:tavLst>
                                    </p:anim>
                                  </p:childTnLst>
                                </p:cTn>
                              </p:par>
                            </p:childTnLst>
                          </p:cTn>
                        </p:par>
                        <p:par>
                          <p:cTn id="36" fill="hold">
                            <p:stCondLst>
                              <p:cond delay="1250"/>
                            </p:stCondLst>
                            <p:childTnLst>
                              <p:par>
                                <p:cTn id="37" presetID="10" presetClass="entr" presetSubtype="0" fill="hold" grpId="0" nodeType="after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400"/>
                                        <p:tgtEl>
                                          <p:spTgt spid="31"/>
                                        </p:tgtEl>
                                      </p:cBhvr>
                                    </p:animEffect>
                                  </p:childTnLst>
                                </p:cTn>
                              </p:par>
                            </p:childTnLst>
                          </p:cTn>
                        </p:par>
                        <p:par>
                          <p:cTn id="40" fill="hold">
                            <p:stCondLst>
                              <p:cond delay="1650"/>
                            </p:stCondLst>
                            <p:childTnLst>
                              <p:par>
                                <p:cTn id="41" presetID="10" presetClass="entr" presetSubtype="0" fill="hold" grpId="0" nodeType="after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300"/>
                                        <p:tgtEl>
                                          <p:spTgt spid="32"/>
                                        </p:tgtEl>
                                      </p:cBhvr>
                                    </p:animEffect>
                                  </p:childTnLst>
                                </p:cTn>
                              </p:par>
                              <p:par>
                                <p:cTn id="44" presetID="22" presetClass="entr" presetSubtype="8" fill="hold" nodeType="withEffect">
                                  <p:stCondLst>
                                    <p:cond delay="100"/>
                                  </p:stCondLst>
                                  <p:childTnLst>
                                    <p:set>
                                      <p:cBhvr>
                                        <p:cTn id="45" dur="1" fill="hold">
                                          <p:stCondLst>
                                            <p:cond delay="0"/>
                                          </p:stCondLst>
                                        </p:cTn>
                                        <p:tgtEl>
                                          <p:spTgt spid="33"/>
                                        </p:tgtEl>
                                        <p:attrNameLst>
                                          <p:attrName>style.visibility</p:attrName>
                                        </p:attrNameLst>
                                      </p:cBhvr>
                                      <p:to>
                                        <p:strVal val="visible"/>
                                      </p:to>
                                    </p:set>
                                    <p:animEffect transition="in" filter="wipe(left)">
                                      <p:cBhvr>
                                        <p:cTn id="46" dur="800"/>
                                        <p:tgtEl>
                                          <p:spTgt spid="33"/>
                                        </p:tgtEl>
                                      </p:cBhvr>
                                    </p:animEffect>
                                  </p:childTnLst>
                                </p:cTn>
                              </p:par>
                            </p:childTnLst>
                          </p:cTn>
                        </p:par>
                        <p:par>
                          <p:cTn id="47" fill="hold">
                            <p:stCondLst>
                              <p:cond delay="2550"/>
                            </p:stCondLst>
                            <p:childTnLst>
                              <p:par>
                                <p:cTn id="48" presetID="42" presetClass="entr" presetSubtype="0" fill="hold" nodeType="after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fade">
                                      <p:cBhvr>
                                        <p:cTn id="50" dur="500"/>
                                        <p:tgtEl>
                                          <p:spTgt spid="45"/>
                                        </p:tgtEl>
                                      </p:cBhvr>
                                    </p:animEffect>
                                    <p:anim calcmode="lin" valueType="num">
                                      <p:cBhvr>
                                        <p:cTn id="51" dur="500" fill="hold"/>
                                        <p:tgtEl>
                                          <p:spTgt spid="45"/>
                                        </p:tgtEl>
                                        <p:attrNameLst>
                                          <p:attrName>ppt_x</p:attrName>
                                        </p:attrNameLst>
                                      </p:cBhvr>
                                      <p:tavLst>
                                        <p:tav tm="0">
                                          <p:val>
                                            <p:strVal val="#ppt_x"/>
                                          </p:val>
                                        </p:tav>
                                        <p:tav tm="100000">
                                          <p:val>
                                            <p:strVal val="#ppt_x"/>
                                          </p:val>
                                        </p:tav>
                                      </p:tavLst>
                                    </p:anim>
                                    <p:anim calcmode="lin" valueType="num">
                                      <p:cBhvr>
                                        <p:cTn id="52" dur="500" fill="hold"/>
                                        <p:tgtEl>
                                          <p:spTgt spid="45"/>
                                        </p:tgtEl>
                                        <p:attrNameLst>
                                          <p:attrName>ppt_y</p:attrName>
                                        </p:attrNameLst>
                                      </p:cBhvr>
                                      <p:tavLst>
                                        <p:tav tm="0">
                                          <p:val>
                                            <p:strVal val="#ppt_y+.1"/>
                                          </p:val>
                                        </p:tav>
                                        <p:tav tm="100000">
                                          <p:val>
                                            <p:strVal val="#ppt_y"/>
                                          </p:val>
                                        </p:tav>
                                      </p:tavLst>
                                    </p:anim>
                                  </p:childTnLst>
                                </p:cTn>
                              </p:par>
                            </p:childTnLst>
                          </p:cTn>
                        </p:par>
                        <p:par>
                          <p:cTn id="53" fill="hold">
                            <p:stCondLst>
                              <p:cond delay="3050"/>
                            </p:stCondLst>
                            <p:childTnLst>
                              <p:par>
                                <p:cTn id="54" presetID="42" presetClass="entr" presetSubtype="0" fill="hold" nodeType="after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fade">
                                      <p:cBhvr>
                                        <p:cTn id="56" dur="450"/>
                                        <p:tgtEl>
                                          <p:spTgt spid="48"/>
                                        </p:tgtEl>
                                      </p:cBhvr>
                                    </p:animEffect>
                                    <p:anim calcmode="lin" valueType="num">
                                      <p:cBhvr>
                                        <p:cTn id="57" dur="450" fill="hold"/>
                                        <p:tgtEl>
                                          <p:spTgt spid="48"/>
                                        </p:tgtEl>
                                        <p:attrNameLst>
                                          <p:attrName>ppt_x</p:attrName>
                                        </p:attrNameLst>
                                      </p:cBhvr>
                                      <p:tavLst>
                                        <p:tav tm="0">
                                          <p:val>
                                            <p:strVal val="#ppt_x"/>
                                          </p:val>
                                        </p:tav>
                                        <p:tav tm="100000">
                                          <p:val>
                                            <p:strVal val="#ppt_x"/>
                                          </p:val>
                                        </p:tav>
                                      </p:tavLst>
                                    </p:anim>
                                    <p:anim calcmode="lin" valueType="num">
                                      <p:cBhvr>
                                        <p:cTn id="58" dur="450" fill="hold"/>
                                        <p:tgtEl>
                                          <p:spTgt spid="48"/>
                                        </p:tgtEl>
                                        <p:attrNameLst>
                                          <p:attrName>ppt_y</p:attrName>
                                        </p:attrNameLst>
                                      </p:cBhvr>
                                      <p:tavLst>
                                        <p:tav tm="0">
                                          <p:val>
                                            <p:strVal val="#ppt_y+.1"/>
                                          </p:val>
                                        </p:tav>
                                        <p:tav tm="100000">
                                          <p:val>
                                            <p:strVal val="#ppt_y"/>
                                          </p:val>
                                        </p:tav>
                                      </p:tavLst>
                                    </p:anim>
                                  </p:childTnLst>
                                </p:cTn>
                              </p:par>
                              <p:par>
                                <p:cTn id="59" presetID="10" presetClass="entr" presetSubtype="0" fill="hold" grpId="0" nodeType="withEffect">
                                  <p:stCondLst>
                                    <p:cond delay="200"/>
                                  </p:stCondLst>
                                  <p:childTnLst>
                                    <p:set>
                                      <p:cBhvr>
                                        <p:cTn id="60" dur="1" fill="hold">
                                          <p:stCondLst>
                                            <p:cond delay="0"/>
                                          </p:stCondLst>
                                        </p:cTn>
                                        <p:tgtEl>
                                          <p:spTgt spid="52"/>
                                        </p:tgtEl>
                                        <p:attrNameLst>
                                          <p:attrName>style.visibility</p:attrName>
                                        </p:attrNameLst>
                                      </p:cBhvr>
                                      <p:to>
                                        <p:strVal val="visible"/>
                                      </p:to>
                                    </p:set>
                                    <p:animEffect transition="in" filter="fade">
                                      <p:cBhvr>
                                        <p:cTn id="61"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1" grpId="0"/>
      <p:bldP spid="32" grpId="0"/>
      <p:bldP spid="5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Five model families, tuned without peeking</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08 · IMPLEMENTATION</a:t>
            </a:r>
          </a:p>
        </p:txBody>
      </p:sp>
      <p:grpSp>
        <p:nvGrpSpPr>
          <p:cNvPr id="4" name="model_1"/>
          <p:cNvGrpSpPr/>
          <p:nvPr/>
        </p:nvGrpSpPr>
        <p:grpSpPr>
          <a:xfrm>
            <a:off x="640080" y="1783080"/>
            <a:ext cx="1984248" cy="2926080"/>
            <a:chOff x="640080" y="1783080"/>
            <a:chExt cx="1984248" cy="2926080"/>
          </a:xfrm>
        </p:grpSpPr>
        <p:sp>
          <p:nvSpPr>
            <p:cNvPr id="5" name="model_1_bg"/>
            <p:cNvSpPr/>
            <p:nvPr/>
          </p:nvSpPr>
          <p:spPr>
            <a:xfrm>
              <a:off x="640080" y="1783080"/>
              <a:ext cx="1984248" cy="2926080"/>
            </a:xfrm>
            <a:prstGeom prst="roundRect">
              <a:avLst>
                <a:gd name="adj" fmla="val 5529"/>
              </a:avLst>
            </a:prstGeom>
            <a:solidFill>
              <a:srgbClr val="111823">
                <a:alpha val="88000"/>
              </a:srgbClr>
            </a:solidFill>
            <a:ln w="9525">
              <a:solidFill>
                <a:srgbClr val="243245"/>
              </a:solidFill>
            </a:ln>
          </p:spPr>
          <p:txBody>
            <a:bodyPr lIns="0" tIns="0" rIns="0" bIns="0" rtlCol="0" anchor="ctr"/>
            <a:lstStyle/>
            <a:p>
              <a:pPr algn="ctr"/>
              <a:endParaRPr/>
            </a:p>
          </p:txBody>
        </p:sp>
        <p:sp>
          <p:nvSpPr>
            <p:cNvPr id="6" name="TextBox 5"/>
            <p:cNvSpPr txBox="1"/>
            <p:nvPr/>
          </p:nvSpPr>
          <p:spPr>
            <a:xfrm>
              <a:off x="868680" y="2011680"/>
              <a:ext cx="1463040" cy="256032"/>
            </a:xfrm>
            <a:prstGeom prst="rect">
              <a:avLst/>
            </a:prstGeom>
            <a:noFill/>
          </p:spPr>
          <p:txBody>
            <a:bodyPr wrap="square" lIns="0" tIns="0" rIns="0" bIns="0" anchor="t">
              <a:noAutofit/>
            </a:bodyPr>
            <a:lstStyle/>
            <a:p>
              <a:pPr algn="l">
                <a:spcAft>
                  <a:spcPts val="0"/>
                </a:spcAft>
              </a:pPr>
              <a:r>
                <a:rPr sz="1300" b="0" i="0" spc="100">
                  <a:solidFill>
                    <a:srgbClr val="FFB547"/>
                  </a:solidFill>
                  <a:latin typeface="Consolas"/>
                </a:rPr>
                <a:t>LR</a:t>
              </a:r>
            </a:p>
          </p:txBody>
        </p:sp>
        <p:sp>
          <p:nvSpPr>
            <p:cNvPr id="7" name="TextBox 6"/>
            <p:cNvSpPr txBox="1"/>
            <p:nvPr/>
          </p:nvSpPr>
          <p:spPr>
            <a:xfrm>
              <a:off x="868680" y="2304288"/>
              <a:ext cx="1600200" cy="594360"/>
            </a:xfrm>
            <a:prstGeom prst="rect">
              <a:avLst/>
            </a:prstGeom>
            <a:noFill/>
          </p:spPr>
          <p:txBody>
            <a:bodyPr wrap="square" lIns="0" tIns="0" rIns="0" bIns="0" anchor="t">
              <a:noAutofit/>
            </a:bodyPr>
            <a:lstStyle/>
            <a:p>
              <a:pPr algn="l">
                <a:lnSpc>
                  <a:spcPct val="95000"/>
                </a:lnSpc>
                <a:spcAft>
                  <a:spcPts val="0"/>
                </a:spcAft>
              </a:pPr>
              <a:r>
                <a:rPr sz="1700" b="0" i="0">
                  <a:solidFill>
                    <a:srgbClr val="EAF0F6"/>
                  </a:solidFill>
                  <a:latin typeface="Segoe UI Semibold"/>
                </a:rPr>
                <a:t>Logistic Regression</a:t>
              </a:r>
            </a:p>
          </p:txBody>
        </p:sp>
        <p:sp>
          <p:nvSpPr>
            <p:cNvPr id="8" name="TextBox 7"/>
            <p:cNvSpPr txBox="1"/>
            <p:nvPr/>
          </p:nvSpPr>
          <p:spPr>
            <a:xfrm>
              <a:off x="868680" y="2926080"/>
              <a:ext cx="1600200" cy="457200"/>
            </a:xfrm>
            <a:prstGeom prst="rect">
              <a:avLst/>
            </a:prstGeom>
            <a:noFill/>
          </p:spPr>
          <p:txBody>
            <a:bodyPr wrap="square" lIns="0" tIns="0" rIns="0" bIns="0" anchor="t">
              <a:noAutofit/>
            </a:bodyPr>
            <a:lstStyle/>
            <a:p>
              <a:pPr algn="l">
                <a:lnSpc>
                  <a:spcPct val="100000"/>
                </a:lnSpc>
                <a:spcAft>
                  <a:spcPts val="0"/>
                </a:spcAft>
              </a:pPr>
              <a:r>
                <a:rPr sz="1300" b="0" i="0">
                  <a:solidFill>
                    <a:srgbClr val="AAB6C3"/>
                  </a:solidFill>
                  <a:latin typeface="Segoe UI"/>
                </a:rPr>
                <a:t>Linear, L2-regularised</a:t>
              </a:r>
            </a:p>
          </p:txBody>
        </p:sp>
        <p:cxnSp>
          <p:nvCxnSpPr>
            <p:cNvPr id="9" name="Connector 8"/>
            <p:cNvCxnSpPr/>
            <p:nvPr/>
          </p:nvCxnSpPr>
          <p:spPr>
            <a:xfrm>
              <a:off x="868680" y="3456432"/>
              <a:ext cx="1527048" cy="0"/>
            </a:xfrm>
            <a:prstGeom prst="line">
              <a:avLst/>
            </a:prstGeom>
            <a:ln w="9525">
              <a:solidFill>
                <a:srgbClr val="243245"/>
              </a:solidFill>
            </a:ln>
          </p:spPr>
        </p:cxnSp>
        <p:sp>
          <p:nvSpPr>
            <p:cNvPr id="10" name="TextBox 9"/>
            <p:cNvSpPr txBox="1"/>
            <p:nvPr/>
          </p:nvSpPr>
          <p:spPr>
            <a:xfrm>
              <a:off x="868680" y="3566160"/>
              <a:ext cx="1600200" cy="219456"/>
            </a:xfrm>
            <a:prstGeom prst="rect">
              <a:avLst/>
            </a:prstGeom>
            <a:noFill/>
          </p:spPr>
          <p:txBody>
            <a:bodyPr wrap="square" lIns="0" tIns="0" rIns="0" bIns="0" anchor="t">
              <a:noAutofit/>
            </a:bodyPr>
            <a:lstStyle/>
            <a:p>
              <a:pPr algn="l">
                <a:spcAft>
                  <a:spcPts val="0"/>
                </a:spcAft>
              </a:pPr>
              <a:r>
                <a:rPr sz="1000" b="0" i="0" spc="200">
                  <a:solidFill>
                    <a:srgbClr val="8291A2"/>
                  </a:solidFill>
                  <a:latin typeface="Consolas"/>
                </a:rPr>
                <a:t>SELECTED</a:t>
              </a:r>
            </a:p>
          </p:txBody>
        </p:sp>
        <p:sp>
          <p:nvSpPr>
            <p:cNvPr id="11" name="TextBox 10"/>
            <p:cNvSpPr txBox="1"/>
            <p:nvPr/>
          </p:nvSpPr>
          <p:spPr>
            <a:xfrm>
              <a:off x="868680" y="3813048"/>
              <a:ext cx="1600200" cy="822960"/>
            </a:xfrm>
            <a:prstGeom prst="rect">
              <a:avLst/>
            </a:prstGeom>
            <a:noFill/>
          </p:spPr>
          <p:txBody>
            <a:bodyPr wrap="square" lIns="0" tIns="0" rIns="0" bIns="0" anchor="t">
              <a:noAutofit/>
            </a:bodyPr>
            <a:lstStyle/>
            <a:p>
              <a:pPr algn="l">
                <a:spcAft>
                  <a:spcPts val="200"/>
                </a:spcAft>
              </a:pPr>
              <a:r>
                <a:rPr sz="1200" b="0" i="0">
                  <a:solidFill>
                    <a:srgbClr val="EAF0F6"/>
                  </a:solidFill>
                  <a:latin typeface="Consolas"/>
                </a:rPr>
                <a:t>C = 0.001</a:t>
              </a:r>
            </a:p>
            <a:p>
              <a:pPr algn="l">
                <a:spcAft>
                  <a:spcPts val="200"/>
                </a:spcAft>
              </a:pPr>
              <a:r>
                <a:rPr sz="1200" b="0" i="0">
                  <a:solidFill>
                    <a:srgbClr val="EAF0F6"/>
                  </a:solidFill>
                  <a:latin typeface="Consolas"/>
                </a:rPr>
                <a:t>all three tickers</a:t>
              </a:r>
            </a:p>
          </p:txBody>
        </p:sp>
      </p:grpSp>
      <p:grpSp>
        <p:nvGrpSpPr>
          <p:cNvPr id="12" name="model_2"/>
          <p:cNvGrpSpPr/>
          <p:nvPr/>
        </p:nvGrpSpPr>
        <p:grpSpPr>
          <a:xfrm>
            <a:off x="2871948" y="1783080"/>
            <a:ext cx="1984248" cy="2926080"/>
            <a:chOff x="2871948" y="1783080"/>
            <a:chExt cx="1984248" cy="2926080"/>
          </a:xfrm>
        </p:grpSpPr>
        <p:sp>
          <p:nvSpPr>
            <p:cNvPr id="13" name="model_2_bg"/>
            <p:cNvSpPr/>
            <p:nvPr/>
          </p:nvSpPr>
          <p:spPr>
            <a:xfrm>
              <a:off x="2871948" y="1783080"/>
              <a:ext cx="1984248" cy="2926080"/>
            </a:xfrm>
            <a:prstGeom prst="roundRect">
              <a:avLst>
                <a:gd name="adj" fmla="val 5529"/>
              </a:avLst>
            </a:prstGeom>
            <a:solidFill>
              <a:srgbClr val="111823">
                <a:alpha val="88000"/>
              </a:srgbClr>
            </a:solidFill>
            <a:ln w="9525">
              <a:solidFill>
                <a:srgbClr val="243245"/>
              </a:solidFill>
            </a:ln>
          </p:spPr>
          <p:txBody>
            <a:bodyPr lIns="0" tIns="0" rIns="0" bIns="0" rtlCol="0" anchor="ctr"/>
            <a:lstStyle/>
            <a:p>
              <a:pPr algn="ctr"/>
              <a:endParaRPr/>
            </a:p>
          </p:txBody>
        </p:sp>
        <p:sp>
          <p:nvSpPr>
            <p:cNvPr id="14" name="TextBox 13"/>
            <p:cNvSpPr txBox="1"/>
            <p:nvPr/>
          </p:nvSpPr>
          <p:spPr>
            <a:xfrm>
              <a:off x="3100548" y="2011680"/>
              <a:ext cx="1463040" cy="256032"/>
            </a:xfrm>
            <a:prstGeom prst="rect">
              <a:avLst/>
            </a:prstGeom>
            <a:noFill/>
          </p:spPr>
          <p:txBody>
            <a:bodyPr wrap="square" lIns="0" tIns="0" rIns="0" bIns="0" anchor="t">
              <a:noAutofit/>
            </a:bodyPr>
            <a:lstStyle/>
            <a:p>
              <a:pPr algn="l">
                <a:spcAft>
                  <a:spcPts val="0"/>
                </a:spcAft>
              </a:pPr>
              <a:r>
                <a:rPr sz="1300" b="0" i="0" spc="100">
                  <a:solidFill>
                    <a:srgbClr val="FFB547"/>
                  </a:solidFill>
                  <a:latin typeface="Consolas"/>
                </a:rPr>
                <a:t>RF</a:t>
              </a:r>
            </a:p>
          </p:txBody>
        </p:sp>
        <p:sp>
          <p:nvSpPr>
            <p:cNvPr id="15" name="TextBox 14"/>
            <p:cNvSpPr txBox="1"/>
            <p:nvPr/>
          </p:nvSpPr>
          <p:spPr>
            <a:xfrm>
              <a:off x="3100548" y="2304288"/>
              <a:ext cx="1600200" cy="594360"/>
            </a:xfrm>
            <a:prstGeom prst="rect">
              <a:avLst/>
            </a:prstGeom>
            <a:noFill/>
          </p:spPr>
          <p:txBody>
            <a:bodyPr wrap="square" lIns="0" tIns="0" rIns="0" bIns="0" anchor="t">
              <a:noAutofit/>
            </a:bodyPr>
            <a:lstStyle/>
            <a:p>
              <a:pPr algn="l">
                <a:lnSpc>
                  <a:spcPct val="95000"/>
                </a:lnSpc>
                <a:spcAft>
                  <a:spcPts val="0"/>
                </a:spcAft>
              </a:pPr>
              <a:r>
                <a:rPr sz="1700" b="0" i="0">
                  <a:solidFill>
                    <a:srgbClr val="EAF0F6"/>
                  </a:solidFill>
                  <a:latin typeface="Segoe UI Semibold"/>
                </a:rPr>
                <a:t>Random Forest</a:t>
              </a:r>
            </a:p>
          </p:txBody>
        </p:sp>
        <p:sp>
          <p:nvSpPr>
            <p:cNvPr id="16" name="TextBox 15"/>
            <p:cNvSpPr txBox="1"/>
            <p:nvPr/>
          </p:nvSpPr>
          <p:spPr>
            <a:xfrm>
              <a:off x="3100548" y="2926080"/>
              <a:ext cx="1600200" cy="457200"/>
            </a:xfrm>
            <a:prstGeom prst="rect">
              <a:avLst/>
            </a:prstGeom>
            <a:noFill/>
          </p:spPr>
          <p:txBody>
            <a:bodyPr wrap="square" lIns="0" tIns="0" rIns="0" bIns="0" anchor="t">
              <a:noAutofit/>
            </a:bodyPr>
            <a:lstStyle/>
            <a:p>
              <a:pPr algn="l">
                <a:lnSpc>
                  <a:spcPct val="100000"/>
                </a:lnSpc>
                <a:spcAft>
                  <a:spcPts val="0"/>
                </a:spcAft>
              </a:pPr>
              <a:r>
                <a:rPr sz="1300" b="0" i="0">
                  <a:solidFill>
                    <a:srgbClr val="AAB6C3"/>
                  </a:solidFill>
                  <a:latin typeface="Segoe UI"/>
                </a:rPr>
                <a:t>300 bagged trees</a:t>
              </a:r>
            </a:p>
          </p:txBody>
        </p:sp>
        <p:cxnSp>
          <p:nvCxnSpPr>
            <p:cNvPr id="17" name="Connector 16"/>
            <p:cNvCxnSpPr/>
            <p:nvPr/>
          </p:nvCxnSpPr>
          <p:spPr>
            <a:xfrm>
              <a:off x="3100548" y="3456432"/>
              <a:ext cx="1527048" cy="0"/>
            </a:xfrm>
            <a:prstGeom prst="line">
              <a:avLst/>
            </a:prstGeom>
            <a:ln w="9525">
              <a:solidFill>
                <a:srgbClr val="243245"/>
              </a:solidFill>
            </a:ln>
          </p:spPr>
        </p:cxnSp>
        <p:sp>
          <p:nvSpPr>
            <p:cNvPr id="18" name="TextBox 17"/>
            <p:cNvSpPr txBox="1"/>
            <p:nvPr/>
          </p:nvSpPr>
          <p:spPr>
            <a:xfrm>
              <a:off x="3100548" y="3566160"/>
              <a:ext cx="1600200" cy="219456"/>
            </a:xfrm>
            <a:prstGeom prst="rect">
              <a:avLst/>
            </a:prstGeom>
            <a:noFill/>
          </p:spPr>
          <p:txBody>
            <a:bodyPr wrap="square" lIns="0" tIns="0" rIns="0" bIns="0" anchor="t">
              <a:noAutofit/>
            </a:bodyPr>
            <a:lstStyle/>
            <a:p>
              <a:pPr algn="l">
                <a:spcAft>
                  <a:spcPts val="0"/>
                </a:spcAft>
              </a:pPr>
              <a:r>
                <a:rPr sz="1000" b="0" i="0" spc="200">
                  <a:solidFill>
                    <a:srgbClr val="8291A2"/>
                  </a:solidFill>
                  <a:latin typeface="Consolas"/>
                </a:rPr>
                <a:t>SELECTED</a:t>
              </a:r>
            </a:p>
          </p:txBody>
        </p:sp>
        <p:sp>
          <p:nvSpPr>
            <p:cNvPr id="19" name="TextBox 18"/>
            <p:cNvSpPr txBox="1"/>
            <p:nvPr/>
          </p:nvSpPr>
          <p:spPr>
            <a:xfrm>
              <a:off x="3100548" y="3813048"/>
              <a:ext cx="1600200" cy="822960"/>
            </a:xfrm>
            <a:prstGeom prst="rect">
              <a:avLst/>
            </a:prstGeom>
            <a:noFill/>
          </p:spPr>
          <p:txBody>
            <a:bodyPr wrap="square" lIns="0" tIns="0" rIns="0" bIns="0" anchor="t">
              <a:noAutofit/>
            </a:bodyPr>
            <a:lstStyle/>
            <a:p>
              <a:pPr algn="l">
                <a:spcAft>
                  <a:spcPts val="200"/>
                </a:spcAft>
              </a:pPr>
              <a:r>
                <a:rPr sz="1200" b="0" i="0">
                  <a:solidFill>
                    <a:srgbClr val="EAF0F6"/>
                  </a:solidFill>
                  <a:latin typeface="Consolas"/>
                </a:rPr>
                <a:t>depth 3</a:t>
              </a:r>
            </a:p>
            <a:p>
              <a:pPr algn="l">
                <a:spcAft>
                  <a:spcPts val="200"/>
                </a:spcAft>
              </a:pPr>
              <a:r>
                <a:rPr sz="1200" b="0" i="0">
                  <a:solidFill>
                    <a:srgbClr val="EAF0F6"/>
                  </a:solidFill>
                  <a:latin typeface="Consolas"/>
                </a:rPr>
                <a:t>min leaf 80/20/80</a:t>
              </a:r>
            </a:p>
          </p:txBody>
        </p:sp>
      </p:grpSp>
      <p:grpSp>
        <p:nvGrpSpPr>
          <p:cNvPr id="20" name="model_3"/>
          <p:cNvGrpSpPr/>
          <p:nvPr/>
        </p:nvGrpSpPr>
        <p:grpSpPr>
          <a:xfrm>
            <a:off x="5103815" y="1783080"/>
            <a:ext cx="1984248" cy="2926080"/>
            <a:chOff x="5103815" y="1783080"/>
            <a:chExt cx="1984248" cy="2926080"/>
          </a:xfrm>
        </p:grpSpPr>
        <p:sp>
          <p:nvSpPr>
            <p:cNvPr id="21" name="model_3_bg"/>
            <p:cNvSpPr/>
            <p:nvPr/>
          </p:nvSpPr>
          <p:spPr>
            <a:xfrm>
              <a:off x="5103815" y="1783080"/>
              <a:ext cx="1984248" cy="2926080"/>
            </a:xfrm>
            <a:prstGeom prst="roundRect">
              <a:avLst>
                <a:gd name="adj" fmla="val 5529"/>
              </a:avLst>
            </a:prstGeom>
            <a:solidFill>
              <a:srgbClr val="111823">
                <a:alpha val="88000"/>
              </a:srgbClr>
            </a:solidFill>
            <a:ln w="12700">
              <a:solidFill>
                <a:srgbClr val="FFB547">
                  <a:alpha val="75000"/>
                </a:srgbClr>
              </a:solidFill>
            </a:ln>
          </p:spPr>
          <p:txBody>
            <a:bodyPr lIns="0" tIns="0" rIns="0" bIns="0" rtlCol="0" anchor="ctr"/>
            <a:lstStyle/>
            <a:p>
              <a:pPr algn="ctr"/>
              <a:endParaRPr/>
            </a:p>
          </p:txBody>
        </p:sp>
        <p:sp>
          <p:nvSpPr>
            <p:cNvPr id="22" name="TextBox 21"/>
            <p:cNvSpPr txBox="1"/>
            <p:nvPr/>
          </p:nvSpPr>
          <p:spPr>
            <a:xfrm>
              <a:off x="5332415" y="2011680"/>
              <a:ext cx="1463040" cy="256032"/>
            </a:xfrm>
            <a:prstGeom prst="rect">
              <a:avLst/>
            </a:prstGeom>
            <a:noFill/>
          </p:spPr>
          <p:txBody>
            <a:bodyPr wrap="square" lIns="0" tIns="0" rIns="0" bIns="0" anchor="t">
              <a:noAutofit/>
            </a:bodyPr>
            <a:lstStyle/>
            <a:p>
              <a:pPr algn="l">
                <a:spcAft>
                  <a:spcPts val="0"/>
                </a:spcAft>
              </a:pPr>
              <a:r>
                <a:rPr sz="1300" b="0" i="0" spc="100">
                  <a:solidFill>
                    <a:srgbClr val="FFB547"/>
                  </a:solidFill>
                  <a:latin typeface="Consolas"/>
                </a:rPr>
                <a:t>XGB</a:t>
              </a:r>
            </a:p>
          </p:txBody>
        </p:sp>
        <p:sp>
          <p:nvSpPr>
            <p:cNvPr id="23" name="TextBox 22"/>
            <p:cNvSpPr txBox="1"/>
            <p:nvPr/>
          </p:nvSpPr>
          <p:spPr>
            <a:xfrm>
              <a:off x="5332415" y="2304288"/>
              <a:ext cx="1600200" cy="594360"/>
            </a:xfrm>
            <a:prstGeom prst="rect">
              <a:avLst/>
            </a:prstGeom>
            <a:noFill/>
          </p:spPr>
          <p:txBody>
            <a:bodyPr wrap="square" lIns="0" tIns="0" rIns="0" bIns="0" anchor="t">
              <a:noAutofit/>
            </a:bodyPr>
            <a:lstStyle/>
            <a:p>
              <a:pPr algn="l">
                <a:lnSpc>
                  <a:spcPct val="95000"/>
                </a:lnSpc>
                <a:spcAft>
                  <a:spcPts val="0"/>
                </a:spcAft>
              </a:pPr>
              <a:r>
                <a:rPr sz="1700" b="0" i="0">
                  <a:solidFill>
                    <a:srgbClr val="EAF0F6"/>
                  </a:solidFill>
                  <a:latin typeface="Segoe UI Semibold"/>
                </a:rPr>
                <a:t>XGBoost</a:t>
              </a:r>
            </a:p>
          </p:txBody>
        </p:sp>
        <p:sp>
          <p:nvSpPr>
            <p:cNvPr id="24" name="TextBox 23"/>
            <p:cNvSpPr txBox="1"/>
            <p:nvPr/>
          </p:nvSpPr>
          <p:spPr>
            <a:xfrm>
              <a:off x="5332415" y="2926080"/>
              <a:ext cx="1600200" cy="457200"/>
            </a:xfrm>
            <a:prstGeom prst="rect">
              <a:avLst/>
            </a:prstGeom>
            <a:noFill/>
          </p:spPr>
          <p:txBody>
            <a:bodyPr wrap="square" lIns="0" tIns="0" rIns="0" bIns="0" anchor="t">
              <a:noAutofit/>
            </a:bodyPr>
            <a:lstStyle/>
            <a:p>
              <a:pPr algn="l">
                <a:lnSpc>
                  <a:spcPct val="100000"/>
                </a:lnSpc>
                <a:spcAft>
                  <a:spcPts val="0"/>
                </a:spcAft>
              </a:pPr>
              <a:r>
                <a:rPr sz="1300" b="0" i="0">
                  <a:solidFill>
                    <a:srgbClr val="AAB6C3"/>
                  </a:solidFill>
                  <a:latin typeface="Segoe UI"/>
                </a:rPr>
                <a:t>Gradient-boosted trees</a:t>
              </a:r>
            </a:p>
          </p:txBody>
        </p:sp>
        <p:cxnSp>
          <p:nvCxnSpPr>
            <p:cNvPr id="25" name="Connector 24"/>
            <p:cNvCxnSpPr/>
            <p:nvPr/>
          </p:nvCxnSpPr>
          <p:spPr>
            <a:xfrm>
              <a:off x="5332415" y="3456432"/>
              <a:ext cx="1527048" cy="0"/>
            </a:xfrm>
            <a:prstGeom prst="line">
              <a:avLst/>
            </a:prstGeom>
            <a:ln w="9525">
              <a:solidFill>
                <a:srgbClr val="243245"/>
              </a:solidFill>
            </a:ln>
          </p:spPr>
        </p:cxnSp>
        <p:sp>
          <p:nvSpPr>
            <p:cNvPr id="26" name="TextBox 25"/>
            <p:cNvSpPr txBox="1"/>
            <p:nvPr/>
          </p:nvSpPr>
          <p:spPr>
            <a:xfrm>
              <a:off x="5332415" y="3566160"/>
              <a:ext cx="1600200" cy="219456"/>
            </a:xfrm>
            <a:prstGeom prst="rect">
              <a:avLst/>
            </a:prstGeom>
            <a:noFill/>
          </p:spPr>
          <p:txBody>
            <a:bodyPr wrap="square" lIns="0" tIns="0" rIns="0" bIns="0" anchor="t">
              <a:noAutofit/>
            </a:bodyPr>
            <a:lstStyle/>
            <a:p>
              <a:pPr algn="l">
                <a:spcAft>
                  <a:spcPts val="0"/>
                </a:spcAft>
              </a:pPr>
              <a:r>
                <a:rPr sz="1000" b="0" i="0" spc="200">
                  <a:solidFill>
                    <a:srgbClr val="8291A2"/>
                  </a:solidFill>
                  <a:latin typeface="Consolas"/>
                </a:rPr>
                <a:t>SELECTED</a:t>
              </a:r>
            </a:p>
          </p:txBody>
        </p:sp>
        <p:sp>
          <p:nvSpPr>
            <p:cNvPr id="27" name="TextBox 26"/>
            <p:cNvSpPr txBox="1"/>
            <p:nvPr/>
          </p:nvSpPr>
          <p:spPr>
            <a:xfrm>
              <a:off x="5332415" y="3813048"/>
              <a:ext cx="1600200" cy="822960"/>
            </a:xfrm>
            <a:prstGeom prst="rect">
              <a:avLst/>
            </a:prstGeom>
            <a:noFill/>
          </p:spPr>
          <p:txBody>
            <a:bodyPr wrap="square" lIns="0" tIns="0" rIns="0" bIns="0" anchor="t">
              <a:noAutofit/>
            </a:bodyPr>
            <a:lstStyle/>
            <a:p>
              <a:pPr algn="l">
                <a:spcAft>
                  <a:spcPts val="200"/>
                </a:spcAft>
              </a:pPr>
              <a:r>
                <a:rPr sz="1200" b="0" i="0">
                  <a:solidFill>
                    <a:srgbClr val="EAF0F6"/>
                  </a:solidFill>
                  <a:latin typeface="Consolas"/>
                </a:rPr>
                <a:t>depth 2</a:t>
              </a:r>
            </a:p>
            <a:p>
              <a:pPr algn="l">
                <a:spcAft>
                  <a:spcPts val="200"/>
                </a:spcAft>
              </a:pPr>
              <a:r>
                <a:rPr sz="1200" b="0" i="0">
                  <a:solidFill>
                    <a:srgbClr val="EAF0F6"/>
                  </a:solidFill>
                  <a:latin typeface="Consolas"/>
                </a:rPr>
                <a:t>η 0.03</a:t>
              </a:r>
            </a:p>
            <a:p>
              <a:pPr algn="l">
                <a:spcAft>
                  <a:spcPts val="200"/>
                </a:spcAft>
              </a:pPr>
              <a:r>
                <a:rPr sz="1200" b="0" i="0">
                  <a:solidFill>
                    <a:srgbClr val="EAF0F6"/>
                  </a:solidFill>
                  <a:latin typeface="Consolas"/>
                </a:rPr>
                <a:t>100 trees</a:t>
              </a:r>
            </a:p>
          </p:txBody>
        </p:sp>
      </p:grpSp>
      <p:grpSp>
        <p:nvGrpSpPr>
          <p:cNvPr id="28" name="model_4"/>
          <p:cNvGrpSpPr/>
          <p:nvPr/>
        </p:nvGrpSpPr>
        <p:grpSpPr>
          <a:xfrm>
            <a:off x="7335683" y="1783080"/>
            <a:ext cx="1984248" cy="2926080"/>
            <a:chOff x="7335683" y="1783080"/>
            <a:chExt cx="1984248" cy="2926080"/>
          </a:xfrm>
        </p:grpSpPr>
        <p:sp>
          <p:nvSpPr>
            <p:cNvPr id="29" name="model_4_bg"/>
            <p:cNvSpPr/>
            <p:nvPr/>
          </p:nvSpPr>
          <p:spPr>
            <a:xfrm>
              <a:off x="7335683" y="1783080"/>
              <a:ext cx="1984248" cy="2926080"/>
            </a:xfrm>
            <a:prstGeom prst="roundRect">
              <a:avLst>
                <a:gd name="adj" fmla="val 5529"/>
              </a:avLst>
            </a:prstGeom>
            <a:solidFill>
              <a:srgbClr val="111823">
                <a:alpha val="88000"/>
              </a:srgbClr>
            </a:solidFill>
            <a:ln w="9525">
              <a:solidFill>
                <a:srgbClr val="243245"/>
              </a:solidFill>
            </a:ln>
          </p:spPr>
          <p:txBody>
            <a:bodyPr lIns="0" tIns="0" rIns="0" bIns="0" rtlCol="0" anchor="ctr"/>
            <a:lstStyle/>
            <a:p>
              <a:pPr algn="ctr"/>
              <a:endParaRPr/>
            </a:p>
          </p:txBody>
        </p:sp>
        <p:sp>
          <p:nvSpPr>
            <p:cNvPr id="30" name="TextBox 29"/>
            <p:cNvSpPr txBox="1"/>
            <p:nvPr/>
          </p:nvSpPr>
          <p:spPr>
            <a:xfrm>
              <a:off x="7564283" y="2011680"/>
              <a:ext cx="1463040" cy="256032"/>
            </a:xfrm>
            <a:prstGeom prst="rect">
              <a:avLst/>
            </a:prstGeom>
            <a:noFill/>
          </p:spPr>
          <p:txBody>
            <a:bodyPr wrap="square" lIns="0" tIns="0" rIns="0" bIns="0" anchor="t">
              <a:noAutofit/>
            </a:bodyPr>
            <a:lstStyle/>
            <a:p>
              <a:pPr algn="l">
                <a:spcAft>
                  <a:spcPts val="0"/>
                </a:spcAft>
              </a:pPr>
              <a:r>
                <a:rPr sz="1300" b="0" i="0" spc="100">
                  <a:solidFill>
                    <a:srgbClr val="FFB547"/>
                  </a:solidFill>
                  <a:latin typeface="Consolas"/>
                </a:rPr>
                <a:t>LSTM</a:t>
              </a:r>
            </a:p>
          </p:txBody>
        </p:sp>
        <p:sp>
          <p:nvSpPr>
            <p:cNvPr id="31" name="TextBox 30"/>
            <p:cNvSpPr txBox="1"/>
            <p:nvPr/>
          </p:nvSpPr>
          <p:spPr>
            <a:xfrm>
              <a:off x="7564283" y="2304288"/>
              <a:ext cx="1600200" cy="594360"/>
            </a:xfrm>
            <a:prstGeom prst="rect">
              <a:avLst/>
            </a:prstGeom>
            <a:noFill/>
          </p:spPr>
          <p:txBody>
            <a:bodyPr wrap="square" lIns="0" tIns="0" rIns="0" bIns="0" anchor="t">
              <a:noAutofit/>
            </a:bodyPr>
            <a:lstStyle/>
            <a:p>
              <a:pPr algn="l">
                <a:lnSpc>
                  <a:spcPct val="95000"/>
                </a:lnSpc>
                <a:spcAft>
                  <a:spcPts val="0"/>
                </a:spcAft>
              </a:pPr>
              <a:r>
                <a:rPr sz="1700" b="0" i="0">
                  <a:solidFill>
                    <a:srgbClr val="EAF0F6"/>
                  </a:solidFill>
                  <a:latin typeface="Segoe UI Semibold"/>
                </a:rPr>
                <a:t>LSTM network</a:t>
              </a:r>
            </a:p>
          </p:txBody>
        </p:sp>
        <p:sp>
          <p:nvSpPr>
            <p:cNvPr id="32" name="TextBox 31"/>
            <p:cNvSpPr txBox="1"/>
            <p:nvPr/>
          </p:nvSpPr>
          <p:spPr>
            <a:xfrm>
              <a:off x="7564283" y="2926080"/>
              <a:ext cx="1600200" cy="457200"/>
            </a:xfrm>
            <a:prstGeom prst="rect">
              <a:avLst/>
            </a:prstGeom>
            <a:noFill/>
          </p:spPr>
          <p:txBody>
            <a:bodyPr wrap="square" lIns="0" tIns="0" rIns="0" bIns="0" anchor="t">
              <a:noAutofit/>
            </a:bodyPr>
            <a:lstStyle/>
            <a:p>
              <a:pPr algn="l">
                <a:lnSpc>
                  <a:spcPct val="100000"/>
                </a:lnSpc>
                <a:spcAft>
                  <a:spcPts val="0"/>
                </a:spcAft>
              </a:pPr>
              <a:r>
                <a:rPr sz="1300" b="0" i="0">
                  <a:solidFill>
                    <a:srgbClr val="AAB6C3"/>
                  </a:solidFill>
                  <a:latin typeface="Segoe UI"/>
                </a:rPr>
                <a:t>PyTorch, 1 layer</a:t>
              </a:r>
            </a:p>
          </p:txBody>
        </p:sp>
        <p:cxnSp>
          <p:nvCxnSpPr>
            <p:cNvPr id="33" name="Connector 32"/>
            <p:cNvCxnSpPr/>
            <p:nvPr/>
          </p:nvCxnSpPr>
          <p:spPr>
            <a:xfrm>
              <a:off x="7564283" y="3456432"/>
              <a:ext cx="1527048" cy="0"/>
            </a:xfrm>
            <a:prstGeom prst="line">
              <a:avLst/>
            </a:prstGeom>
            <a:ln w="9525">
              <a:solidFill>
                <a:srgbClr val="243245"/>
              </a:solidFill>
            </a:ln>
          </p:spPr>
        </p:cxnSp>
        <p:sp>
          <p:nvSpPr>
            <p:cNvPr id="34" name="TextBox 33"/>
            <p:cNvSpPr txBox="1"/>
            <p:nvPr/>
          </p:nvSpPr>
          <p:spPr>
            <a:xfrm>
              <a:off x="7564283" y="3566160"/>
              <a:ext cx="1600200" cy="219456"/>
            </a:xfrm>
            <a:prstGeom prst="rect">
              <a:avLst/>
            </a:prstGeom>
            <a:noFill/>
          </p:spPr>
          <p:txBody>
            <a:bodyPr wrap="square" lIns="0" tIns="0" rIns="0" bIns="0" anchor="t">
              <a:noAutofit/>
            </a:bodyPr>
            <a:lstStyle/>
            <a:p>
              <a:pPr algn="l">
                <a:spcAft>
                  <a:spcPts val="0"/>
                </a:spcAft>
              </a:pPr>
              <a:r>
                <a:rPr sz="1000" b="0" i="0" spc="200">
                  <a:solidFill>
                    <a:srgbClr val="8291A2"/>
                  </a:solidFill>
                  <a:latin typeface="Consolas"/>
                </a:rPr>
                <a:t>SELECTED</a:t>
              </a:r>
            </a:p>
          </p:txBody>
        </p:sp>
        <p:sp>
          <p:nvSpPr>
            <p:cNvPr id="35" name="TextBox 34"/>
            <p:cNvSpPr txBox="1"/>
            <p:nvPr/>
          </p:nvSpPr>
          <p:spPr>
            <a:xfrm>
              <a:off x="7564283" y="3813048"/>
              <a:ext cx="1600200" cy="822960"/>
            </a:xfrm>
            <a:prstGeom prst="rect">
              <a:avLst/>
            </a:prstGeom>
            <a:noFill/>
          </p:spPr>
          <p:txBody>
            <a:bodyPr wrap="square" lIns="0" tIns="0" rIns="0" bIns="0" anchor="t">
              <a:noAutofit/>
            </a:bodyPr>
            <a:lstStyle/>
            <a:p>
              <a:pPr algn="l">
                <a:spcAft>
                  <a:spcPts val="200"/>
                </a:spcAft>
              </a:pPr>
              <a:r>
                <a:rPr sz="1200" b="0" i="0">
                  <a:solidFill>
                    <a:srgbClr val="EAF0F6"/>
                  </a:solidFill>
                  <a:latin typeface="Consolas"/>
                </a:rPr>
                <a:t>hidden 32/16/16</a:t>
              </a:r>
            </a:p>
            <a:p>
              <a:pPr algn="l">
                <a:spcAft>
                  <a:spcPts val="200"/>
                </a:spcAft>
              </a:pPr>
              <a:r>
                <a:rPr sz="1200" b="0" i="0">
                  <a:solidFill>
                    <a:srgbClr val="EAF0F6"/>
                  </a:solidFill>
                  <a:latin typeface="Consolas"/>
                </a:rPr>
                <a:t>window 10 days</a:t>
              </a:r>
            </a:p>
          </p:txBody>
        </p:sp>
      </p:grpSp>
      <p:grpSp>
        <p:nvGrpSpPr>
          <p:cNvPr id="36" name="model_5"/>
          <p:cNvGrpSpPr/>
          <p:nvPr/>
        </p:nvGrpSpPr>
        <p:grpSpPr>
          <a:xfrm>
            <a:off x="9567550" y="1783080"/>
            <a:ext cx="1984248" cy="2926080"/>
            <a:chOff x="9567550" y="1783080"/>
            <a:chExt cx="1984248" cy="2926080"/>
          </a:xfrm>
        </p:grpSpPr>
        <p:sp>
          <p:nvSpPr>
            <p:cNvPr id="37" name="model_5_bg"/>
            <p:cNvSpPr/>
            <p:nvPr/>
          </p:nvSpPr>
          <p:spPr>
            <a:xfrm>
              <a:off x="9567550" y="1783080"/>
              <a:ext cx="1984248" cy="2926080"/>
            </a:xfrm>
            <a:prstGeom prst="roundRect">
              <a:avLst>
                <a:gd name="adj" fmla="val 5529"/>
              </a:avLst>
            </a:prstGeom>
            <a:solidFill>
              <a:srgbClr val="111823">
                <a:alpha val="88000"/>
              </a:srgbClr>
            </a:solidFill>
            <a:ln w="9525">
              <a:solidFill>
                <a:srgbClr val="243245"/>
              </a:solidFill>
            </a:ln>
          </p:spPr>
          <p:txBody>
            <a:bodyPr lIns="0" tIns="0" rIns="0" bIns="0" rtlCol="0" anchor="ctr"/>
            <a:lstStyle/>
            <a:p>
              <a:pPr algn="ctr"/>
              <a:endParaRPr/>
            </a:p>
          </p:txBody>
        </p:sp>
        <p:sp>
          <p:nvSpPr>
            <p:cNvPr id="38" name="TextBox 37"/>
            <p:cNvSpPr txBox="1"/>
            <p:nvPr/>
          </p:nvSpPr>
          <p:spPr>
            <a:xfrm>
              <a:off x="9796150" y="2011680"/>
              <a:ext cx="1463040" cy="256032"/>
            </a:xfrm>
            <a:prstGeom prst="rect">
              <a:avLst/>
            </a:prstGeom>
            <a:noFill/>
          </p:spPr>
          <p:txBody>
            <a:bodyPr wrap="square" lIns="0" tIns="0" rIns="0" bIns="0" anchor="t">
              <a:noAutofit/>
            </a:bodyPr>
            <a:lstStyle/>
            <a:p>
              <a:pPr algn="l">
                <a:spcAft>
                  <a:spcPts val="0"/>
                </a:spcAft>
              </a:pPr>
              <a:r>
                <a:rPr sz="1300" b="0" i="0" spc="100">
                  <a:solidFill>
                    <a:srgbClr val="FFB547"/>
                  </a:solidFill>
                  <a:latin typeface="Consolas"/>
                </a:rPr>
                <a:t>ENS</a:t>
              </a:r>
            </a:p>
          </p:txBody>
        </p:sp>
        <p:sp>
          <p:nvSpPr>
            <p:cNvPr id="39" name="TextBox 38"/>
            <p:cNvSpPr txBox="1"/>
            <p:nvPr/>
          </p:nvSpPr>
          <p:spPr>
            <a:xfrm>
              <a:off x="9796150" y="2304288"/>
              <a:ext cx="1600200" cy="594360"/>
            </a:xfrm>
            <a:prstGeom prst="rect">
              <a:avLst/>
            </a:prstGeom>
            <a:noFill/>
          </p:spPr>
          <p:txBody>
            <a:bodyPr wrap="square" lIns="0" tIns="0" rIns="0" bIns="0" anchor="t">
              <a:noAutofit/>
            </a:bodyPr>
            <a:lstStyle/>
            <a:p>
              <a:pPr algn="l">
                <a:lnSpc>
                  <a:spcPct val="95000"/>
                </a:lnSpc>
                <a:spcAft>
                  <a:spcPts val="0"/>
                </a:spcAft>
              </a:pPr>
              <a:r>
                <a:rPr sz="1700" b="0" i="0">
                  <a:solidFill>
                    <a:srgbClr val="EAF0F6"/>
                  </a:solidFill>
                  <a:latin typeface="Segoe UI Semibold"/>
                </a:rPr>
                <a:t>Soft-vote ensemble</a:t>
              </a:r>
            </a:p>
          </p:txBody>
        </p:sp>
        <p:sp>
          <p:nvSpPr>
            <p:cNvPr id="40" name="TextBox 39"/>
            <p:cNvSpPr txBox="1"/>
            <p:nvPr/>
          </p:nvSpPr>
          <p:spPr>
            <a:xfrm>
              <a:off x="9796150" y="2926080"/>
              <a:ext cx="1600200" cy="457200"/>
            </a:xfrm>
            <a:prstGeom prst="rect">
              <a:avLst/>
            </a:prstGeom>
            <a:noFill/>
          </p:spPr>
          <p:txBody>
            <a:bodyPr wrap="square" lIns="0" tIns="0" rIns="0" bIns="0" anchor="t">
              <a:noAutofit/>
            </a:bodyPr>
            <a:lstStyle/>
            <a:p>
              <a:pPr algn="l">
                <a:lnSpc>
                  <a:spcPct val="100000"/>
                </a:lnSpc>
                <a:spcAft>
                  <a:spcPts val="0"/>
                </a:spcAft>
              </a:pPr>
              <a:r>
                <a:rPr sz="1300" b="0" i="0">
                  <a:solidFill>
                    <a:srgbClr val="AAB6C3"/>
                  </a:solidFill>
                  <a:latin typeface="Segoe UI"/>
                </a:rPr>
                <a:t>Two members, chosen on validation</a:t>
              </a:r>
            </a:p>
          </p:txBody>
        </p:sp>
        <p:cxnSp>
          <p:nvCxnSpPr>
            <p:cNvPr id="41" name="Connector 40"/>
            <p:cNvCxnSpPr/>
            <p:nvPr/>
          </p:nvCxnSpPr>
          <p:spPr>
            <a:xfrm>
              <a:off x="9796150" y="3456432"/>
              <a:ext cx="1527048" cy="0"/>
            </a:xfrm>
            <a:prstGeom prst="line">
              <a:avLst/>
            </a:prstGeom>
            <a:ln w="9525">
              <a:solidFill>
                <a:srgbClr val="243245"/>
              </a:solidFill>
            </a:ln>
          </p:spPr>
        </p:cxnSp>
        <p:sp>
          <p:nvSpPr>
            <p:cNvPr id="42" name="TextBox 41"/>
            <p:cNvSpPr txBox="1"/>
            <p:nvPr/>
          </p:nvSpPr>
          <p:spPr>
            <a:xfrm>
              <a:off x="9796150" y="3566160"/>
              <a:ext cx="1600200" cy="219456"/>
            </a:xfrm>
            <a:prstGeom prst="rect">
              <a:avLst/>
            </a:prstGeom>
            <a:noFill/>
          </p:spPr>
          <p:txBody>
            <a:bodyPr wrap="square" lIns="0" tIns="0" rIns="0" bIns="0" anchor="t">
              <a:noAutofit/>
            </a:bodyPr>
            <a:lstStyle/>
            <a:p>
              <a:pPr algn="l">
                <a:spcAft>
                  <a:spcPts val="0"/>
                </a:spcAft>
              </a:pPr>
              <a:r>
                <a:rPr sz="1000" b="0" i="0" spc="200">
                  <a:solidFill>
                    <a:srgbClr val="8291A2"/>
                  </a:solidFill>
                  <a:latin typeface="Consolas"/>
                </a:rPr>
                <a:t>SELECTED</a:t>
              </a:r>
            </a:p>
          </p:txBody>
        </p:sp>
        <p:sp>
          <p:nvSpPr>
            <p:cNvPr id="43" name="TextBox 42"/>
            <p:cNvSpPr txBox="1"/>
            <p:nvPr/>
          </p:nvSpPr>
          <p:spPr>
            <a:xfrm>
              <a:off x="9796150" y="3813048"/>
              <a:ext cx="1600200" cy="822960"/>
            </a:xfrm>
            <a:prstGeom prst="rect">
              <a:avLst/>
            </a:prstGeom>
            <a:noFill/>
          </p:spPr>
          <p:txBody>
            <a:bodyPr wrap="square" lIns="0" tIns="0" rIns="0" bIns="0" anchor="t">
              <a:noAutofit/>
            </a:bodyPr>
            <a:lstStyle/>
            <a:p>
              <a:pPr algn="l">
                <a:spcAft>
                  <a:spcPts val="200"/>
                </a:spcAft>
              </a:pPr>
              <a:r>
                <a:rPr sz="1200" b="0" i="0">
                  <a:solidFill>
                    <a:srgbClr val="EAF0F6"/>
                  </a:solidFill>
                  <a:latin typeface="Consolas"/>
                </a:rPr>
                <a:t>SPY: LR + LSTM</a:t>
              </a:r>
            </a:p>
            <a:p>
              <a:pPr algn="l">
                <a:spcAft>
                  <a:spcPts val="200"/>
                </a:spcAft>
              </a:pPr>
              <a:r>
                <a:rPr sz="1200" b="0" i="0">
                  <a:solidFill>
                    <a:srgbClr val="EAF0F6"/>
                  </a:solidFill>
                  <a:latin typeface="Consolas"/>
                </a:rPr>
                <a:t>AAPL: RF + XGB</a:t>
              </a:r>
            </a:p>
            <a:p>
              <a:pPr algn="l">
                <a:spcAft>
                  <a:spcPts val="200"/>
                </a:spcAft>
              </a:pPr>
              <a:r>
                <a:rPr sz="1200" b="0" i="0">
                  <a:solidFill>
                    <a:srgbClr val="EAF0F6"/>
                  </a:solidFill>
                  <a:latin typeface="Consolas"/>
                </a:rPr>
                <a:t>MSFT: LR + RF</a:t>
              </a:r>
            </a:p>
          </p:txBody>
        </p:sp>
      </p:grpSp>
      <p:sp>
        <p:nvSpPr>
          <p:cNvPr id="44" name="legend"/>
          <p:cNvSpPr txBox="1"/>
          <p:nvPr/>
        </p:nvSpPr>
        <p:spPr>
          <a:xfrm>
            <a:off x="640080" y="4791456"/>
            <a:ext cx="10911535" cy="411480"/>
          </a:xfrm>
          <a:prstGeom prst="rect">
            <a:avLst/>
          </a:prstGeom>
          <a:noFill/>
        </p:spPr>
        <p:txBody>
          <a:bodyPr wrap="square" lIns="0" tIns="0" rIns="0" bIns="0" anchor="t">
            <a:noAutofit/>
          </a:bodyPr>
          <a:lstStyle/>
          <a:p>
            <a:pPr algn="l">
              <a:lnSpc>
                <a:spcPct val="105000"/>
              </a:lnSpc>
              <a:spcAft>
                <a:spcPts val="0"/>
              </a:spcAft>
            </a:pPr>
            <a:r>
              <a:rPr sz="1200" b="0" i="0">
                <a:solidFill>
                  <a:srgbClr val="8291A2"/>
                </a:solidFill>
                <a:latin typeface="Segoe UI"/>
              </a:rPr>
              <a:t>Where values differ they are shown as SPY / AAPL / MSFT. Tabular models are tuned on log loss with purged time-series CV; the LSTM is tuned and early-stopped on a purged slice at the end of the training period.</a:t>
            </a:r>
          </a:p>
        </p:txBody>
      </p:sp>
      <p:grpSp>
        <p:nvGrpSpPr>
          <p:cNvPr id="45" name="insight"/>
          <p:cNvGrpSpPr/>
          <p:nvPr/>
        </p:nvGrpSpPr>
        <p:grpSpPr>
          <a:xfrm>
            <a:off x="640080" y="5303520"/>
            <a:ext cx="6949440" cy="777240"/>
            <a:chOff x="640080" y="5303520"/>
            <a:chExt cx="6949440" cy="777240"/>
          </a:xfrm>
        </p:grpSpPr>
        <p:sp>
          <p:nvSpPr>
            <p:cNvPr id="46" name="insight_bg"/>
            <p:cNvSpPr/>
            <p:nvPr/>
          </p:nvSpPr>
          <p:spPr>
            <a:xfrm>
              <a:off x="640080" y="5303520"/>
              <a:ext cx="6949440" cy="777240"/>
            </a:xfrm>
            <a:prstGeom prst="roundRect">
              <a:avLst>
                <a:gd name="adj" fmla="val 14117"/>
              </a:avLst>
            </a:prstGeom>
            <a:solidFill>
              <a:srgbClr val="172231">
                <a:alpha val="88000"/>
              </a:srgbClr>
            </a:solidFill>
            <a:ln w="9525">
              <a:solidFill>
                <a:srgbClr val="243245"/>
              </a:solidFill>
            </a:ln>
          </p:spPr>
          <p:txBody>
            <a:bodyPr lIns="0" tIns="0" rIns="0" bIns="0" rtlCol="0" anchor="ctr"/>
            <a:lstStyle/>
            <a:p>
              <a:pPr algn="ctr"/>
              <a:endParaRPr/>
            </a:p>
          </p:txBody>
        </p:sp>
        <p:sp>
          <p:nvSpPr>
            <p:cNvPr id="47" name="TextBox 46"/>
            <p:cNvSpPr txBox="1"/>
            <p:nvPr/>
          </p:nvSpPr>
          <p:spPr>
            <a:xfrm>
              <a:off x="914400" y="5303520"/>
              <a:ext cx="6400800" cy="777240"/>
            </a:xfrm>
            <a:prstGeom prst="rect">
              <a:avLst/>
            </a:prstGeom>
            <a:noFill/>
          </p:spPr>
          <p:txBody>
            <a:bodyPr wrap="square" lIns="0" tIns="0" rIns="0" bIns="0" anchor="ctr">
              <a:noAutofit/>
            </a:bodyPr>
            <a:lstStyle/>
            <a:p>
              <a:pPr algn="l">
                <a:lnSpc>
                  <a:spcPct val="105000"/>
                </a:lnSpc>
                <a:spcAft>
                  <a:spcPts val="0"/>
                </a:spcAft>
              </a:pPr>
              <a:r>
                <a:rPr sz="1100" b="0" i="0">
                  <a:solidFill>
                    <a:srgbClr val="FFB547"/>
                  </a:solidFill>
                  <a:latin typeface="Consolas"/>
                </a:rPr>
                <a:t>INSIGHT   </a:t>
              </a:r>
              <a:r>
                <a:rPr sz="1400" b="0" i="0">
                  <a:solidFill>
                    <a:srgbClr val="EAF0F6"/>
                  </a:solidFill>
                  <a:latin typeface="Segoe UI"/>
                </a:rPr>
                <a:t>Tuning picked the most regularised option in almost every grid: there is little stable signal to fit.</a:t>
              </a:r>
            </a:p>
          </p:txBody>
        </p:sp>
      </p:grpSp>
      <p:grpSp>
        <p:nvGrpSpPr>
          <p:cNvPr id="48" name="baselines"/>
          <p:cNvGrpSpPr/>
          <p:nvPr/>
        </p:nvGrpSpPr>
        <p:grpSpPr>
          <a:xfrm>
            <a:off x="7818120" y="5303520"/>
            <a:ext cx="3733495" cy="777240"/>
            <a:chOff x="7818120" y="5303520"/>
            <a:chExt cx="3733495" cy="777240"/>
          </a:xfrm>
        </p:grpSpPr>
        <p:sp>
          <p:nvSpPr>
            <p:cNvPr id="49" name="baselines_bg"/>
            <p:cNvSpPr/>
            <p:nvPr/>
          </p:nvSpPr>
          <p:spPr>
            <a:xfrm>
              <a:off x="7818120" y="5303520"/>
              <a:ext cx="3733495" cy="777240"/>
            </a:xfrm>
            <a:prstGeom prst="roundRect">
              <a:avLst>
                <a:gd name="adj" fmla="val 14117"/>
              </a:avLst>
            </a:prstGeom>
            <a:solidFill>
              <a:srgbClr val="172231">
                <a:alpha val="88000"/>
              </a:srgbClr>
            </a:solidFill>
            <a:ln w="9525">
              <a:solidFill>
                <a:srgbClr val="243245"/>
              </a:solidFill>
            </a:ln>
          </p:spPr>
          <p:txBody>
            <a:bodyPr lIns="0" tIns="0" rIns="0" bIns="0" rtlCol="0" anchor="ctr"/>
            <a:lstStyle/>
            <a:p>
              <a:pPr algn="ctr"/>
              <a:endParaRPr/>
            </a:p>
          </p:txBody>
        </p:sp>
        <p:sp>
          <p:nvSpPr>
            <p:cNvPr id="50" name="TextBox 49"/>
            <p:cNvSpPr txBox="1"/>
            <p:nvPr/>
          </p:nvSpPr>
          <p:spPr>
            <a:xfrm>
              <a:off x="8046720" y="5303520"/>
              <a:ext cx="3276295" cy="777240"/>
            </a:xfrm>
            <a:prstGeom prst="rect">
              <a:avLst/>
            </a:prstGeom>
            <a:noFill/>
          </p:spPr>
          <p:txBody>
            <a:bodyPr wrap="square" lIns="0" tIns="0" rIns="0" bIns="0" anchor="ctr">
              <a:noAutofit/>
            </a:bodyPr>
            <a:lstStyle/>
            <a:p>
              <a:pPr algn="l">
                <a:lnSpc>
                  <a:spcPct val="105000"/>
                </a:lnSpc>
                <a:spcAft>
                  <a:spcPts val="0"/>
                </a:spcAft>
              </a:pPr>
              <a:r>
                <a:rPr sz="1100" b="0" i="0">
                  <a:solidFill>
                    <a:srgbClr val="FFB547"/>
                  </a:solidFill>
                  <a:latin typeface="Consolas"/>
                </a:rPr>
                <a:t>BASELINES   </a:t>
              </a:r>
              <a:r>
                <a:rPr sz="1250" b="0" i="0">
                  <a:solidFill>
                    <a:srgbClr val="AAB6C3"/>
                  </a:solidFill>
                  <a:latin typeface="Segoe UI"/>
                </a:rPr>
                <a:t>majority class · naive persistence · MA crossover (10/50) · buy-and-hold</a:t>
              </a: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0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anim calcmode="lin" valueType="num">
                                      <p:cBhvr>
                                        <p:cTn id="13" dur="500" fill="hold"/>
                                        <p:tgtEl>
                                          <p:spTgt spid="12"/>
                                        </p:tgtEl>
                                        <p:attrNameLst>
                                          <p:attrName>ppt_x</p:attrName>
                                        </p:attrNameLst>
                                      </p:cBhvr>
                                      <p:tavLst>
                                        <p:tav tm="0">
                                          <p:val>
                                            <p:strVal val="#ppt_x"/>
                                          </p:val>
                                        </p:tav>
                                        <p:tav tm="100000">
                                          <p:val>
                                            <p:strVal val="#ppt_x"/>
                                          </p:val>
                                        </p:tav>
                                      </p:tavLst>
                                    </p:anim>
                                    <p:anim calcmode="lin" valueType="num">
                                      <p:cBhvr>
                                        <p:cTn id="14" dur="5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anim calcmode="lin" valueType="num">
                                      <p:cBhvr>
                                        <p:cTn id="18" dur="500" fill="hold"/>
                                        <p:tgtEl>
                                          <p:spTgt spid="20"/>
                                        </p:tgtEl>
                                        <p:attrNameLst>
                                          <p:attrName>ppt_x</p:attrName>
                                        </p:attrNameLst>
                                      </p:cBhvr>
                                      <p:tavLst>
                                        <p:tav tm="0">
                                          <p:val>
                                            <p:strVal val="#ppt_x"/>
                                          </p:val>
                                        </p:tav>
                                        <p:tav tm="100000">
                                          <p:val>
                                            <p:strVal val="#ppt_x"/>
                                          </p:val>
                                        </p:tav>
                                      </p:tavLst>
                                    </p:anim>
                                    <p:anim calcmode="lin" valueType="num">
                                      <p:cBhvr>
                                        <p:cTn id="19" dur="500" fill="hold"/>
                                        <p:tgtEl>
                                          <p:spTgt spid="20"/>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0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anim calcmode="lin" valueType="num">
                                      <p:cBhvr>
                                        <p:cTn id="23" dur="500" fill="hold"/>
                                        <p:tgtEl>
                                          <p:spTgt spid="28"/>
                                        </p:tgtEl>
                                        <p:attrNameLst>
                                          <p:attrName>ppt_x</p:attrName>
                                        </p:attrNameLst>
                                      </p:cBhvr>
                                      <p:tavLst>
                                        <p:tav tm="0">
                                          <p:val>
                                            <p:strVal val="#ppt_x"/>
                                          </p:val>
                                        </p:tav>
                                        <p:tav tm="100000">
                                          <p:val>
                                            <p:strVal val="#ppt_x"/>
                                          </p:val>
                                        </p:tav>
                                      </p:tavLst>
                                    </p:anim>
                                    <p:anim calcmode="lin" valueType="num">
                                      <p:cBhvr>
                                        <p:cTn id="24" dur="500" fill="hold"/>
                                        <p:tgtEl>
                                          <p:spTgt spid="2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40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anim calcmode="lin" valueType="num">
                                      <p:cBhvr>
                                        <p:cTn id="28" dur="500" fill="hold"/>
                                        <p:tgtEl>
                                          <p:spTgt spid="36"/>
                                        </p:tgtEl>
                                        <p:attrNameLst>
                                          <p:attrName>ppt_x</p:attrName>
                                        </p:attrNameLst>
                                      </p:cBhvr>
                                      <p:tavLst>
                                        <p:tav tm="0">
                                          <p:val>
                                            <p:strVal val="#ppt_x"/>
                                          </p:val>
                                        </p:tav>
                                        <p:tav tm="100000">
                                          <p:val>
                                            <p:strVal val="#ppt_x"/>
                                          </p:val>
                                        </p:tav>
                                      </p:tavLst>
                                    </p:anim>
                                    <p:anim calcmode="lin" valueType="num">
                                      <p:cBhvr>
                                        <p:cTn id="29" dur="500" fill="hold"/>
                                        <p:tgtEl>
                                          <p:spTgt spid="36"/>
                                        </p:tgtEl>
                                        <p:attrNameLst>
                                          <p:attrName>ppt_y</p:attrName>
                                        </p:attrNameLst>
                                      </p:cBhvr>
                                      <p:tavLst>
                                        <p:tav tm="0">
                                          <p:val>
                                            <p:strVal val="#ppt_y+.1"/>
                                          </p:val>
                                        </p:tav>
                                        <p:tav tm="100000">
                                          <p:val>
                                            <p:strVal val="#ppt_y"/>
                                          </p:val>
                                        </p:tav>
                                      </p:tavLst>
                                    </p:anim>
                                  </p:childTnLst>
                                </p:cTn>
                              </p:par>
                            </p:childTnLst>
                          </p:cTn>
                        </p:par>
                        <p:par>
                          <p:cTn id="30" fill="hold">
                            <p:stCondLst>
                              <p:cond delay="900"/>
                            </p:stCondLst>
                            <p:childTnLst>
                              <p:par>
                                <p:cTn id="31" presetID="10" presetClass="entr" presetSubtype="0" fill="hold" grpId="0" nodeType="after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fade">
                                      <p:cBhvr>
                                        <p:cTn id="33" dur="400"/>
                                        <p:tgtEl>
                                          <p:spTgt spid="44"/>
                                        </p:tgtEl>
                                      </p:cBhvr>
                                    </p:animEffect>
                                  </p:childTnLst>
                                </p:cTn>
                              </p:par>
                            </p:childTnLst>
                          </p:cTn>
                        </p:par>
                        <p:par>
                          <p:cTn id="34" fill="hold">
                            <p:stCondLst>
                              <p:cond delay="1300"/>
                            </p:stCondLst>
                            <p:childTnLst>
                              <p:par>
                                <p:cTn id="35" presetID="42" presetClass="entr" presetSubtype="0" fill="hold" nodeType="after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450"/>
                                        <p:tgtEl>
                                          <p:spTgt spid="45"/>
                                        </p:tgtEl>
                                      </p:cBhvr>
                                    </p:animEffect>
                                    <p:anim calcmode="lin" valueType="num">
                                      <p:cBhvr>
                                        <p:cTn id="38" dur="450" fill="hold"/>
                                        <p:tgtEl>
                                          <p:spTgt spid="45"/>
                                        </p:tgtEl>
                                        <p:attrNameLst>
                                          <p:attrName>ppt_x</p:attrName>
                                        </p:attrNameLst>
                                      </p:cBhvr>
                                      <p:tavLst>
                                        <p:tav tm="0">
                                          <p:val>
                                            <p:strVal val="#ppt_x"/>
                                          </p:val>
                                        </p:tav>
                                        <p:tav tm="100000">
                                          <p:val>
                                            <p:strVal val="#ppt_x"/>
                                          </p:val>
                                        </p:tav>
                                      </p:tavLst>
                                    </p:anim>
                                    <p:anim calcmode="lin" valueType="num">
                                      <p:cBhvr>
                                        <p:cTn id="39" dur="450" fill="hold"/>
                                        <p:tgtEl>
                                          <p:spTgt spid="45"/>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15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450"/>
                                        <p:tgtEl>
                                          <p:spTgt spid="48"/>
                                        </p:tgtEl>
                                      </p:cBhvr>
                                    </p:animEffect>
                                    <p:anim calcmode="lin" valueType="num">
                                      <p:cBhvr>
                                        <p:cTn id="43" dur="450" fill="hold"/>
                                        <p:tgtEl>
                                          <p:spTgt spid="48"/>
                                        </p:tgtEl>
                                        <p:attrNameLst>
                                          <p:attrName>ppt_x</p:attrName>
                                        </p:attrNameLst>
                                      </p:cBhvr>
                                      <p:tavLst>
                                        <p:tav tm="0">
                                          <p:val>
                                            <p:strVal val="#ppt_x"/>
                                          </p:val>
                                        </p:tav>
                                        <p:tav tm="100000">
                                          <p:val>
                                            <p:strVal val="#ppt_x"/>
                                          </p:val>
                                        </p:tav>
                                      </p:tavLst>
                                    </p:anim>
                                    <p:anim calcmode="lin" valueType="num">
                                      <p:cBhvr>
                                        <p:cTn id="44" dur="45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From probability to position, net of costs</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08 · IMPLEMENTATION</a:t>
            </a:r>
          </a:p>
        </p:txBody>
      </p:sp>
      <p:sp>
        <p:nvSpPr>
          <p:cNvPr id="4" name="rule_label"/>
          <p:cNvSpPr txBox="1"/>
          <p:nvPr/>
        </p:nvSpPr>
        <p:spPr>
          <a:xfrm>
            <a:off x="640080" y="1783080"/>
            <a:ext cx="516636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DECISION RULE</a:t>
            </a:r>
          </a:p>
        </p:txBody>
      </p:sp>
      <p:grpSp>
        <p:nvGrpSpPr>
          <p:cNvPr id="5" name="probbar"/>
          <p:cNvGrpSpPr/>
          <p:nvPr/>
        </p:nvGrpSpPr>
        <p:grpSpPr>
          <a:xfrm>
            <a:off x="548640" y="2651760"/>
            <a:ext cx="5696712" cy="694944"/>
            <a:chOff x="548640" y="2651760"/>
            <a:chExt cx="5696712" cy="694944"/>
          </a:xfrm>
        </p:grpSpPr>
        <p:sp>
          <p:nvSpPr>
            <p:cNvPr id="6" name="Rounded Rectangle 5"/>
            <p:cNvSpPr/>
            <p:nvPr/>
          </p:nvSpPr>
          <p:spPr>
            <a:xfrm>
              <a:off x="822960" y="2651760"/>
              <a:ext cx="1781937" cy="384048"/>
            </a:xfrm>
            <a:prstGeom prst="roundRect">
              <a:avLst>
                <a:gd name="adj" fmla="val 14285"/>
              </a:avLst>
            </a:prstGeom>
            <a:solidFill>
              <a:srgbClr val="6E7D8C">
                <a:alpha val="45000"/>
              </a:srgbClr>
            </a:solidFill>
            <a:ln>
              <a:noFill/>
            </a:ln>
          </p:spPr>
          <p:txBody>
            <a:bodyPr wrap="square" lIns="0" tIns="0" rIns="0" bIns="0" rtlCol="0" anchor="ctr">
              <a:noAutofit/>
            </a:bodyPr>
            <a:lstStyle/>
            <a:p>
              <a:pPr algn="ctr">
                <a:spcAft>
                  <a:spcPts val="0"/>
                </a:spcAft>
              </a:pPr>
              <a:r>
                <a:rPr sz="1100" b="0" i="0" spc="200">
                  <a:solidFill>
                    <a:srgbClr val="EAF0F6"/>
                  </a:solidFill>
                  <a:latin typeface="Consolas"/>
                </a:rPr>
                <a:t>CASH</a:t>
              </a:r>
            </a:p>
          </p:txBody>
        </p:sp>
        <p:sp>
          <p:nvSpPr>
            <p:cNvPr id="7" name="Rounded Rectangle 6"/>
            <p:cNvSpPr/>
            <p:nvPr/>
          </p:nvSpPr>
          <p:spPr>
            <a:xfrm>
              <a:off x="2641473" y="2651760"/>
              <a:ext cx="2982087" cy="384048"/>
            </a:xfrm>
            <a:prstGeom prst="roundRect">
              <a:avLst>
                <a:gd name="adj" fmla="val 14285"/>
              </a:avLst>
            </a:prstGeom>
            <a:solidFill>
              <a:srgbClr val="FFB547"/>
            </a:solidFill>
            <a:ln>
              <a:noFill/>
            </a:ln>
          </p:spPr>
          <p:txBody>
            <a:bodyPr wrap="square" lIns="0" tIns="0" rIns="0" bIns="0" rtlCol="0" anchor="ctr">
              <a:noAutofit/>
            </a:bodyPr>
            <a:lstStyle/>
            <a:p>
              <a:pPr algn="ctr">
                <a:spcAft>
                  <a:spcPts val="0"/>
                </a:spcAft>
              </a:pPr>
              <a:r>
                <a:rPr sz="1100" b="0" i="0" spc="200">
                  <a:solidFill>
                    <a:srgbClr val="0A0E14"/>
                  </a:solidFill>
                  <a:latin typeface="Consolas"/>
                </a:rPr>
                <a:t>LONG</a:t>
              </a:r>
            </a:p>
          </p:txBody>
        </p:sp>
        <p:sp>
          <p:nvSpPr>
            <p:cNvPr id="8" name="TextBox 7"/>
            <p:cNvSpPr txBox="1"/>
            <p:nvPr/>
          </p:nvSpPr>
          <p:spPr>
            <a:xfrm>
              <a:off x="548640" y="3127248"/>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0</a:t>
              </a:r>
            </a:p>
          </p:txBody>
        </p:sp>
        <p:sp>
          <p:nvSpPr>
            <p:cNvPr id="9" name="TextBox 8"/>
            <p:cNvSpPr txBox="1"/>
            <p:nvPr/>
          </p:nvSpPr>
          <p:spPr>
            <a:xfrm>
              <a:off x="2948940" y="3127248"/>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0.5</a:t>
              </a:r>
            </a:p>
          </p:txBody>
        </p:sp>
        <p:sp>
          <p:nvSpPr>
            <p:cNvPr id="10" name="TextBox 9"/>
            <p:cNvSpPr txBox="1"/>
            <p:nvPr/>
          </p:nvSpPr>
          <p:spPr>
            <a:xfrm>
              <a:off x="5349240" y="3127248"/>
              <a:ext cx="548640" cy="219456"/>
            </a:xfrm>
            <a:prstGeom prst="rect">
              <a:avLst/>
            </a:prstGeom>
            <a:noFill/>
          </p:spPr>
          <p:txBody>
            <a:bodyPr wrap="square" lIns="0" tIns="0" rIns="0" bIns="0" anchor="t">
              <a:noAutofit/>
            </a:bodyPr>
            <a:lstStyle/>
            <a:p>
              <a:pPr algn="ctr">
                <a:spcAft>
                  <a:spcPts val="0"/>
                </a:spcAft>
              </a:pPr>
              <a:r>
                <a:rPr sz="1000" b="0" i="0">
                  <a:solidFill>
                    <a:srgbClr val="8291A2"/>
                  </a:solidFill>
                  <a:latin typeface="Consolas"/>
                </a:rPr>
                <a:t>1</a:t>
              </a:r>
            </a:p>
          </p:txBody>
        </p:sp>
        <p:sp>
          <p:nvSpPr>
            <p:cNvPr id="11" name="TextBox 10"/>
            <p:cNvSpPr txBox="1"/>
            <p:nvPr/>
          </p:nvSpPr>
          <p:spPr>
            <a:xfrm>
              <a:off x="5696712" y="2651760"/>
              <a:ext cx="548640" cy="384048"/>
            </a:xfrm>
            <a:prstGeom prst="rect">
              <a:avLst/>
            </a:prstGeom>
            <a:noFill/>
          </p:spPr>
          <p:txBody>
            <a:bodyPr wrap="square" lIns="0" tIns="0" rIns="0" bIns="0" anchor="ctr">
              <a:noAutofit/>
            </a:bodyPr>
            <a:lstStyle/>
            <a:p>
              <a:pPr algn="l">
                <a:spcAft>
                  <a:spcPts val="0"/>
                </a:spcAft>
              </a:pPr>
              <a:r>
                <a:rPr sz="1100" b="0" i="0">
                  <a:solidFill>
                    <a:srgbClr val="8291A2"/>
                  </a:solidFill>
                  <a:latin typeface="Consolas"/>
                </a:rPr>
                <a:t>P(Up)</a:t>
              </a:r>
            </a:p>
          </p:txBody>
        </p:sp>
      </p:grpSp>
      <p:grpSp>
        <p:nvGrpSpPr>
          <p:cNvPr id="12" name="tau_marker"/>
          <p:cNvGrpSpPr/>
          <p:nvPr/>
        </p:nvGrpSpPr>
        <p:grpSpPr>
          <a:xfrm>
            <a:off x="1434465" y="2130552"/>
            <a:ext cx="2377440" cy="457200"/>
            <a:chOff x="1434465" y="2130552"/>
            <a:chExt cx="2377440" cy="457200"/>
          </a:xfrm>
        </p:grpSpPr>
        <p:sp>
          <p:nvSpPr>
            <p:cNvPr id="13" name="Isosceles Triangle 12"/>
            <p:cNvSpPr/>
            <p:nvPr/>
          </p:nvSpPr>
          <p:spPr>
            <a:xfrm rot="10800000">
              <a:off x="2531745" y="2432304"/>
              <a:ext cx="182880" cy="155448"/>
            </a:xfrm>
            <a:prstGeom prst="triangle">
              <a:avLst/>
            </a:prstGeom>
            <a:solidFill>
              <a:srgbClr val="EAF0F6"/>
            </a:solidFill>
            <a:ln>
              <a:noFill/>
            </a:ln>
          </p:spPr>
          <p:txBody>
            <a:bodyPr lIns="0" tIns="0" rIns="0" bIns="0" rtlCol="0" anchor="ctr"/>
            <a:lstStyle/>
            <a:p>
              <a:pPr algn="ctr"/>
              <a:endParaRPr/>
            </a:p>
          </p:txBody>
        </p:sp>
        <p:sp>
          <p:nvSpPr>
            <p:cNvPr id="14" name="TextBox 13"/>
            <p:cNvSpPr txBox="1"/>
            <p:nvPr/>
          </p:nvSpPr>
          <p:spPr>
            <a:xfrm>
              <a:off x="1434465" y="2130552"/>
              <a:ext cx="2377440" cy="246888"/>
            </a:xfrm>
            <a:prstGeom prst="rect">
              <a:avLst/>
            </a:prstGeom>
            <a:noFill/>
          </p:spPr>
          <p:txBody>
            <a:bodyPr wrap="square" lIns="0" tIns="0" rIns="0" bIns="0" anchor="t">
              <a:noAutofit/>
            </a:bodyPr>
            <a:lstStyle/>
            <a:p>
              <a:pPr algn="ctr">
                <a:spcAft>
                  <a:spcPts val="0"/>
                </a:spcAft>
              </a:pPr>
              <a:r>
                <a:rPr sz="1100" b="0" i="0">
                  <a:solidFill>
                    <a:srgbClr val="EAF0F6"/>
                  </a:solidFill>
                  <a:latin typeface="Consolas"/>
                </a:rPr>
                <a:t>τ = 0.375  (SPY · XGBoost)</a:t>
              </a:r>
            </a:p>
          </p:txBody>
        </p:sp>
      </p:grpSp>
      <p:sp>
        <p:nvSpPr>
          <p:cNvPr id="15" name="rule_text"/>
          <p:cNvSpPr txBox="1"/>
          <p:nvPr/>
        </p:nvSpPr>
        <p:spPr>
          <a:xfrm>
            <a:off x="640080" y="3611880"/>
            <a:ext cx="5166360" cy="2377440"/>
          </a:xfrm>
          <a:prstGeom prst="rect">
            <a:avLst/>
          </a:prstGeom>
          <a:noFill/>
        </p:spPr>
        <p:txBody>
          <a:bodyPr wrap="square" lIns="0" tIns="0" rIns="0" bIns="0" anchor="t">
            <a:noAutofit/>
          </a:bodyPr>
          <a:lstStyle/>
          <a:p>
            <a:pPr marL="219456" indent="-219456" algn="l">
              <a:lnSpc>
                <a:spcPct val="105000"/>
              </a:lnSpc>
              <a:spcAft>
                <a:spcPts val="800"/>
              </a:spcAft>
              <a:buClr>
                <a:srgbClr val="FFB547"/>
              </a:buClr>
              <a:buSzPct val="100000"/>
              <a:buFont typeface="Arial"/>
              <a:buChar char="•"/>
            </a:pPr>
            <a:r>
              <a:rPr sz="1500" b="0" i="0">
                <a:solidFill>
                  <a:srgbClr val="AAB6C3"/>
                </a:solidFill>
                <a:latin typeface="Segoe UI"/>
              </a:rPr>
              <a:t>Long at the next open when P(Up) ≥ τ, otherwise cash (long-only).</a:t>
            </a:r>
          </a:p>
          <a:p>
            <a:pPr marL="219456" indent="-219456" algn="l">
              <a:lnSpc>
                <a:spcPct val="105000"/>
              </a:lnSpc>
              <a:spcAft>
                <a:spcPts val="800"/>
              </a:spcAft>
              <a:buClr>
                <a:srgbClr val="FFB547"/>
              </a:buClr>
              <a:buSzPct val="100000"/>
              <a:buFont typeface="Arial"/>
              <a:buChar char="•"/>
            </a:pPr>
            <a:r>
              <a:rPr sz="1500" b="0" i="0">
                <a:solidFill>
                  <a:srgbClr val="AAB6C3"/>
                </a:solidFill>
                <a:latin typeface="Segoe UI"/>
              </a:rPr>
              <a:t>τ comes from 14 values (0.30–0.65) and is chosen by validation Sharpe, never on test.</a:t>
            </a:r>
          </a:p>
          <a:p>
            <a:pPr marL="219456" indent="-219456" algn="l">
              <a:lnSpc>
                <a:spcPct val="105000"/>
              </a:lnSpc>
              <a:spcAft>
                <a:spcPts val="800"/>
              </a:spcAft>
              <a:buClr>
                <a:srgbClr val="FFB547"/>
              </a:buClr>
              <a:buSzPct val="100000"/>
              <a:buFont typeface="Arial"/>
              <a:buChar char="•"/>
            </a:pPr>
            <a:r>
              <a:rPr sz="1500" b="0" i="0">
                <a:solidFill>
                  <a:srgbClr val="AAB6C3"/>
                </a:solidFill>
                <a:latin typeface="Segoe UI"/>
              </a:rPr>
              <a:t>Chosen τ ranged 0.30–0.45 across the 15 model–ticker pairs.</a:t>
            </a:r>
          </a:p>
          <a:p>
            <a:pPr marL="219456" indent="-219456" algn="l">
              <a:lnSpc>
                <a:spcPct val="105000"/>
              </a:lnSpc>
              <a:spcAft>
                <a:spcPts val="0"/>
              </a:spcAft>
              <a:buClr>
                <a:srgbClr val="FFB547"/>
              </a:buClr>
              <a:buSzPct val="100000"/>
              <a:buFont typeface="Arial"/>
              <a:buChar char="•"/>
            </a:pPr>
            <a:r>
              <a:rPr sz="1500" b="0" i="0">
                <a:solidFill>
                  <a:srgbClr val="AAB6C3"/>
                </a:solidFill>
                <a:latin typeface="Segoe UI"/>
              </a:rPr>
              <a:t>Also backtested: an argmax rule (long when Up is the most likely class).</a:t>
            </a:r>
          </a:p>
        </p:txBody>
      </p:sp>
      <p:sp>
        <p:nvSpPr>
          <p:cNvPr id="16" name="bt_label"/>
          <p:cNvSpPr txBox="1"/>
          <p:nvPr/>
        </p:nvSpPr>
        <p:spPr>
          <a:xfrm>
            <a:off x="6355080" y="1783080"/>
            <a:ext cx="5193792"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BACKTEST · EACH DAY t</a:t>
            </a:r>
          </a:p>
        </p:txBody>
      </p:sp>
      <p:grpSp>
        <p:nvGrpSpPr>
          <p:cNvPr id="17" name="eq_backtest"/>
          <p:cNvGrpSpPr/>
          <p:nvPr/>
        </p:nvGrpSpPr>
        <p:grpSpPr>
          <a:xfrm>
            <a:off x="6355080" y="2130552"/>
            <a:ext cx="5193792" cy="1463040"/>
            <a:chOff x="6355080" y="2130552"/>
            <a:chExt cx="5193792" cy="1463040"/>
          </a:xfrm>
        </p:grpSpPr>
        <p:sp>
          <p:nvSpPr>
            <p:cNvPr id="18" name="eq_backtest_bg"/>
            <p:cNvSpPr/>
            <p:nvPr/>
          </p:nvSpPr>
          <p:spPr>
            <a:xfrm>
              <a:off x="6355080" y="2130552"/>
              <a:ext cx="5193792" cy="1463040"/>
            </a:xfrm>
            <a:prstGeom prst="roundRect">
              <a:avLst>
                <a:gd name="adj" fmla="val 7500"/>
              </a:avLst>
            </a:prstGeom>
            <a:solidFill>
              <a:srgbClr val="111823">
                <a:alpha val="88000"/>
              </a:srgbClr>
            </a:solidFill>
            <a:ln w="12700">
              <a:solidFill>
                <a:srgbClr val="FFB547">
                  <a:alpha val="75000"/>
                </a:srgbClr>
              </a:solidFill>
            </a:ln>
          </p:spPr>
          <p:txBody>
            <a:bodyPr lIns="0" tIns="0" rIns="0" bIns="0" rtlCol="0" anchor="ctr"/>
            <a:lstStyle/>
            <a:p>
              <a:pPr algn="ctr"/>
              <a:endParaRPr/>
            </a:p>
          </p:txBody>
        </p:sp>
        <p:sp>
          <p:nvSpPr>
            <p:cNvPr id="19" name="TextBox 18"/>
            <p:cNvSpPr txBox="1"/>
            <p:nvPr/>
          </p:nvSpPr>
          <p:spPr>
            <a:xfrm>
              <a:off x="6355080" y="2130552"/>
              <a:ext cx="5193792" cy="1463040"/>
            </a:xfrm>
            <a:prstGeom prst="rect">
              <a:avLst/>
            </a:prstGeom>
            <a:noFill/>
          </p:spPr>
          <p:txBody>
            <a:bodyPr wrap="square" lIns="0" tIns="0" rIns="0" bIns="0" anchor="ctr">
              <a:noAutofit/>
            </a:bodyPr>
            <a:lstStyle/>
            <a:p>
              <a:pPr algn="ctr">
                <a:spcAft>
                  <a:spcPts val="600"/>
                </a:spcAft>
              </a:pPr>
              <a:r>
                <a:rPr sz="2100" b="0" i="1">
                  <a:solidFill>
                    <a:srgbClr val="EAF0F6"/>
                  </a:solidFill>
                  <a:latin typeface="Cambria"/>
                </a:rPr>
                <a:t>cost</a:t>
              </a:r>
              <a:r>
                <a:rPr sz="2100" b="0" i="1" baseline="-25000">
                  <a:solidFill>
                    <a:srgbClr val="EAF0F6"/>
                  </a:solidFill>
                  <a:latin typeface="Cambria"/>
                </a:rPr>
                <a:t>t</a:t>
              </a:r>
              <a:r>
                <a:rPr sz="2100" b="0" i="0">
                  <a:solidFill>
                    <a:srgbClr val="EAF0F6"/>
                  </a:solidFill>
                  <a:latin typeface="Cambria"/>
                </a:rPr>
                <a:t>  =  </a:t>
              </a:r>
              <a:r>
                <a:rPr sz="2100" b="0" i="1">
                  <a:solidFill>
                    <a:srgbClr val="EAF0F6"/>
                  </a:solidFill>
                  <a:latin typeface="Cambria"/>
                </a:rPr>
                <a:t>c</a:t>
              </a:r>
              <a:r>
                <a:rPr sz="2100" b="0" i="0">
                  <a:solidFill>
                    <a:srgbClr val="EAF0F6"/>
                  </a:solidFill>
                  <a:latin typeface="Cambria"/>
                </a:rPr>
                <a:t> · |</a:t>
              </a:r>
              <a:r>
                <a:rPr sz="2100" b="0" i="1">
                  <a:solidFill>
                    <a:srgbClr val="EAF0F6"/>
                  </a:solidFill>
                  <a:latin typeface="Cambria"/>
                </a:rPr>
                <a:t>p</a:t>
              </a:r>
              <a:r>
                <a:rPr sz="2100" b="0" i="1" baseline="-25000">
                  <a:solidFill>
                    <a:srgbClr val="EAF0F6"/>
                  </a:solidFill>
                  <a:latin typeface="Cambria"/>
                </a:rPr>
                <a:t>t</a:t>
              </a:r>
              <a:r>
                <a:rPr sz="2100" b="0" i="0">
                  <a:solidFill>
                    <a:srgbClr val="EAF0F6"/>
                  </a:solidFill>
                  <a:latin typeface="Cambria"/>
                </a:rPr>
                <a:t> − </a:t>
              </a:r>
              <a:r>
                <a:rPr sz="2100" b="0" i="1">
                  <a:solidFill>
                    <a:srgbClr val="EAF0F6"/>
                  </a:solidFill>
                  <a:latin typeface="Cambria"/>
                </a:rPr>
                <a:t>p</a:t>
              </a:r>
              <a:r>
                <a:rPr sz="2100" b="0" i="1" baseline="-25000">
                  <a:solidFill>
                    <a:srgbClr val="EAF0F6"/>
                  </a:solidFill>
                  <a:latin typeface="Cambria"/>
                </a:rPr>
                <a:t>t−1</a:t>
              </a:r>
              <a:r>
                <a:rPr sz="2100" b="0" i="0">
                  <a:solidFill>
                    <a:srgbClr val="EAF0F6"/>
                  </a:solidFill>
                  <a:latin typeface="Cambria"/>
                </a:rPr>
                <a:t>| · </a:t>
              </a:r>
              <a:r>
                <a:rPr sz="2100" b="0" i="1">
                  <a:solidFill>
                    <a:srgbClr val="EAF0F6"/>
                  </a:solidFill>
                  <a:latin typeface="Cambria"/>
                </a:rPr>
                <a:t>E</a:t>
              </a:r>
              <a:r>
                <a:rPr sz="2100" b="0" i="1" baseline="-25000">
                  <a:solidFill>
                    <a:srgbClr val="EAF0F6"/>
                  </a:solidFill>
                  <a:latin typeface="Cambria"/>
                </a:rPr>
                <a:t>t−1</a:t>
              </a:r>
            </a:p>
            <a:p>
              <a:pPr algn="ctr">
                <a:spcAft>
                  <a:spcPts val="600"/>
                </a:spcAft>
              </a:pPr>
              <a:r>
                <a:rPr sz="2100" b="0" i="1">
                  <a:solidFill>
                    <a:srgbClr val="EAF0F6"/>
                  </a:solidFill>
                  <a:latin typeface="Cambria"/>
                </a:rPr>
                <a:t>E</a:t>
              </a:r>
              <a:r>
                <a:rPr sz="2100" b="0" i="1" baseline="-25000">
                  <a:solidFill>
                    <a:srgbClr val="EAF0F6"/>
                  </a:solidFill>
                  <a:latin typeface="Cambria"/>
                </a:rPr>
                <a:t>t</a:t>
              </a:r>
              <a:r>
                <a:rPr sz="2100" b="0" i="0">
                  <a:solidFill>
                    <a:srgbClr val="EAF0F6"/>
                  </a:solidFill>
                  <a:latin typeface="Cambria"/>
                </a:rPr>
                <a:t>  =  (</a:t>
              </a:r>
              <a:r>
                <a:rPr sz="2100" b="0" i="1">
                  <a:solidFill>
                    <a:srgbClr val="EAF0F6"/>
                  </a:solidFill>
                  <a:latin typeface="Cambria"/>
                </a:rPr>
                <a:t>E</a:t>
              </a:r>
              <a:r>
                <a:rPr sz="2100" b="0" i="1" baseline="-25000">
                  <a:solidFill>
                    <a:srgbClr val="EAF0F6"/>
                  </a:solidFill>
                  <a:latin typeface="Cambria"/>
                </a:rPr>
                <a:t>t−1</a:t>
              </a:r>
              <a:r>
                <a:rPr sz="2100" b="0" i="0">
                  <a:solidFill>
                    <a:srgbClr val="EAF0F6"/>
                  </a:solidFill>
                  <a:latin typeface="Cambria"/>
                </a:rPr>
                <a:t> − </a:t>
              </a:r>
              <a:r>
                <a:rPr sz="2100" b="0" i="1">
                  <a:solidFill>
                    <a:srgbClr val="EAF0F6"/>
                  </a:solidFill>
                  <a:latin typeface="Cambria"/>
                </a:rPr>
                <a:t>cost</a:t>
              </a:r>
              <a:r>
                <a:rPr sz="2100" b="0" i="1" baseline="-25000">
                  <a:solidFill>
                    <a:srgbClr val="EAF0F6"/>
                  </a:solidFill>
                  <a:latin typeface="Cambria"/>
                </a:rPr>
                <a:t>t</a:t>
              </a:r>
              <a:r>
                <a:rPr sz="2100" b="0" i="0">
                  <a:solidFill>
                    <a:srgbClr val="EAF0F6"/>
                  </a:solidFill>
                  <a:latin typeface="Cambria"/>
                </a:rPr>
                <a:t>) · (1 + </a:t>
              </a:r>
              <a:r>
                <a:rPr sz="2100" b="0" i="1">
                  <a:solidFill>
                    <a:srgbClr val="EAF0F6"/>
                  </a:solidFill>
                  <a:latin typeface="Cambria"/>
                </a:rPr>
                <a:t>p</a:t>
              </a:r>
              <a:r>
                <a:rPr sz="2100" b="0" i="1" baseline="-25000">
                  <a:solidFill>
                    <a:srgbClr val="EAF0F6"/>
                  </a:solidFill>
                  <a:latin typeface="Cambria"/>
                </a:rPr>
                <a:t>t</a:t>
              </a:r>
              <a:r>
                <a:rPr sz="2100" b="0" i="0">
                  <a:solidFill>
                    <a:srgbClr val="EAF0F6"/>
                  </a:solidFill>
                  <a:latin typeface="Cambria"/>
                </a:rPr>
                <a:t> </a:t>
              </a:r>
              <a:r>
                <a:rPr sz="2100" b="0" i="1">
                  <a:solidFill>
                    <a:srgbClr val="EAF0F6"/>
                  </a:solidFill>
                  <a:latin typeface="Cambria"/>
                </a:rPr>
                <a:t>r</a:t>
              </a:r>
              <a:r>
                <a:rPr sz="2100" b="0" i="1" baseline="-25000">
                  <a:solidFill>
                    <a:srgbClr val="EAF0F6"/>
                  </a:solidFill>
                  <a:latin typeface="Cambria"/>
                </a:rPr>
                <a:t>t</a:t>
              </a:r>
              <a:r>
                <a:rPr sz="2100" b="0" i="0">
                  <a:solidFill>
                    <a:srgbClr val="EAF0F6"/>
                  </a:solidFill>
                  <a:latin typeface="Cambria"/>
                </a:rPr>
                <a:t>)</a:t>
              </a:r>
            </a:p>
          </p:txBody>
        </p:sp>
      </p:grpSp>
      <p:sp>
        <p:nvSpPr>
          <p:cNvPr id="20" name="bt_legend"/>
          <p:cNvSpPr txBox="1"/>
          <p:nvPr/>
        </p:nvSpPr>
        <p:spPr>
          <a:xfrm>
            <a:off x="6355080" y="3685032"/>
            <a:ext cx="5193792" cy="566928"/>
          </a:xfrm>
          <a:prstGeom prst="rect">
            <a:avLst/>
          </a:prstGeom>
          <a:noFill/>
        </p:spPr>
        <p:txBody>
          <a:bodyPr wrap="square" lIns="0" tIns="0" rIns="0" bIns="0" anchor="t">
            <a:noAutofit/>
          </a:bodyPr>
          <a:lstStyle/>
          <a:p>
            <a:pPr algn="l">
              <a:lnSpc>
                <a:spcPct val="105000"/>
              </a:lnSpc>
              <a:spcAft>
                <a:spcPts val="0"/>
              </a:spcAft>
            </a:pPr>
            <a:r>
              <a:rPr sz="1250" b="0" i="0">
                <a:solidFill>
                  <a:srgbClr val="AAB6C3"/>
                </a:solidFill>
                <a:latin typeface="Segoe UI"/>
              </a:rPr>
              <a:t>p = position (0 or 1) · r = next-open return · E = equity · c = 15 bps per unit turnover (10 fee + 5 slippage)</a:t>
            </a:r>
          </a:p>
        </p:txBody>
      </p:sp>
      <p:sp>
        <p:nvSpPr>
          <p:cNvPr id="21" name="metrics_label"/>
          <p:cNvSpPr txBox="1"/>
          <p:nvPr/>
        </p:nvSpPr>
        <p:spPr>
          <a:xfrm>
            <a:off x="6355080" y="4462272"/>
            <a:ext cx="5193792" cy="219456"/>
          </a:xfrm>
          <a:prstGeom prst="rect">
            <a:avLst/>
          </a:prstGeom>
          <a:noFill/>
        </p:spPr>
        <p:txBody>
          <a:bodyPr wrap="square" lIns="0" tIns="0" rIns="0" bIns="0" anchor="t">
            <a:noAutofit/>
          </a:bodyPr>
          <a:lstStyle/>
          <a:p>
            <a:pPr algn="l">
              <a:spcAft>
                <a:spcPts val="0"/>
              </a:spcAft>
            </a:pPr>
            <a:r>
              <a:rPr sz="1000" b="0" i="0" spc="200">
                <a:solidFill>
                  <a:srgbClr val="8291A2"/>
                </a:solidFill>
                <a:latin typeface="Consolas"/>
              </a:rPr>
              <a:t>REPORTED FOR EVERY STRATEGY</a:t>
            </a:r>
          </a:p>
        </p:txBody>
      </p:sp>
      <p:grpSp>
        <p:nvGrpSpPr>
          <p:cNvPr id="22" name="metric_chips"/>
          <p:cNvGrpSpPr/>
          <p:nvPr/>
        </p:nvGrpSpPr>
        <p:grpSpPr>
          <a:xfrm>
            <a:off x="6355080" y="4754880"/>
            <a:ext cx="5198364" cy="1170432"/>
            <a:chOff x="6355080" y="4754880"/>
            <a:chExt cx="5198364" cy="1170432"/>
          </a:xfrm>
        </p:grpSpPr>
        <p:sp>
          <p:nvSpPr>
            <p:cNvPr id="23" name="Rounded Rectangle 22"/>
            <p:cNvSpPr/>
            <p:nvPr/>
          </p:nvSpPr>
          <p:spPr>
            <a:xfrm>
              <a:off x="6355080" y="4754880"/>
              <a:ext cx="1650492" cy="329184"/>
            </a:xfrm>
            <a:prstGeom prst="roundRect">
              <a:avLst>
                <a:gd name="adj" fmla="val 50000"/>
              </a:avLst>
            </a:prstGeom>
            <a:solidFill>
              <a:srgbClr val="172231"/>
            </a:solidFill>
            <a:ln w="9525">
              <a:solidFill>
                <a:srgbClr val="243245"/>
              </a:solidFill>
            </a:ln>
          </p:spPr>
          <p:txBody>
            <a:bodyPr wrap="square" lIns="0" tIns="0" rIns="0" bIns="0" rtlCol="0" anchor="ctr">
              <a:noAutofit/>
            </a:bodyPr>
            <a:lstStyle/>
            <a:p>
              <a:pPr algn="ctr">
                <a:spcAft>
                  <a:spcPts val="0"/>
                </a:spcAft>
              </a:pPr>
              <a:r>
                <a:rPr sz="1200" b="0" i="0">
                  <a:solidFill>
                    <a:srgbClr val="AAB6C3"/>
                  </a:solidFill>
                  <a:latin typeface="Segoe UI"/>
                </a:rPr>
                <a:t>cumulative return</a:t>
              </a:r>
            </a:p>
          </p:txBody>
        </p:sp>
        <p:sp>
          <p:nvSpPr>
            <p:cNvPr id="24" name="Rounded Rectangle 23"/>
            <p:cNvSpPr/>
            <p:nvPr/>
          </p:nvSpPr>
          <p:spPr>
            <a:xfrm>
              <a:off x="8097012" y="4754880"/>
              <a:ext cx="1339596" cy="329184"/>
            </a:xfrm>
            <a:prstGeom prst="roundRect">
              <a:avLst>
                <a:gd name="adj" fmla="val 50000"/>
              </a:avLst>
            </a:prstGeom>
            <a:solidFill>
              <a:srgbClr val="172231"/>
            </a:solidFill>
            <a:ln w="9525">
              <a:solidFill>
                <a:srgbClr val="243245"/>
              </a:solidFill>
            </a:ln>
          </p:spPr>
          <p:txBody>
            <a:bodyPr wrap="square" lIns="0" tIns="0" rIns="0" bIns="0" rtlCol="0" anchor="ctr">
              <a:noAutofit/>
            </a:bodyPr>
            <a:lstStyle/>
            <a:p>
              <a:pPr algn="ctr">
                <a:spcAft>
                  <a:spcPts val="0"/>
                </a:spcAft>
              </a:pPr>
              <a:r>
                <a:rPr sz="1200" b="0" i="0">
                  <a:solidFill>
                    <a:srgbClr val="AAB6C3"/>
                  </a:solidFill>
                  <a:latin typeface="Segoe UI"/>
                </a:rPr>
                <a:t>annual return</a:t>
              </a:r>
            </a:p>
          </p:txBody>
        </p:sp>
        <p:sp>
          <p:nvSpPr>
            <p:cNvPr id="25" name="Rounded Rectangle 24"/>
            <p:cNvSpPr/>
            <p:nvPr/>
          </p:nvSpPr>
          <p:spPr>
            <a:xfrm>
              <a:off x="9528048" y="4754880"/>
              <a:ext cx="1106424" cy="329184"/>
            </a:xfrm>
            <a:prstGeom prst="roundRect">
              <a:avLst>
                <a:gd name="adj" fmla="val 50000"/>
              </a:avLst>
            </a:prstGeom>
            <a:solidFill>
              <a:srgbClr val="172231"/>
            </a:solidFill>
            <a:ln w="9525">
              <a:solidFill>
                <a:srgbClr val="243245"/>
              </a:solidFill>
            </a:ln>
          </p:spPr>
          <p:txBody>
            <a:bodyPr wrap="square" lIns="0" tIns="0" rIns="0" bIns="0" rtlCol="0" anchor="ctr">
              <a:noAutofit/>
            </a:bodyPr>
            <a:lstStyle/>
            <a:p>
              <a:pPr algn="ctr">
                <a:spcAft>
                  <a:spcPts val="0"/>
                </a:spcAft>
              </a:pPr>
              <a:r>
                <a:rPr sz="1200" b="0" i="0">
                  <a:solidFill>
                    <a:srgbClr val="AAB6C3"/>
                  </a:solidFill>
                  <a:latin typeface="Segoe UI"/>
                </a:rPr>
                <a:t>volatility</a:t>
              </a:r>
            </a:p>
          </p:txBody>
        </p:sp>
        <p:sp>
          <p:nvSpPr>
            <p:cNvPr id="26" name="Rounded Rectangle 25"/>
            <p:cNvSpPr/>
            <p:nvPr/>
          </p:nvSpPr>
          <p:spPr>
            <a:xfrm>
              <a:off x="10725912" y="4754880"/>
              <a:ext cx="795528" cy="329184"/>
            </a:xfrm>
            <a:prstGeom prst="roundRect">
              <a:avLst>
                <a:gd name="adj" fmla="val 50000"/>
              </a:avLst>
            </a:prstGeom>
            <a:solidFill>
              <a:srgbClr val="172231"/>
            </a:solidFill>
            <a:ln w="9525">
              <a:solidFill>
                <a:srgbClr val="243245"/>
              </a:solidFill>
            </a:ln>
          </p:spPr>
          <p:txBody>
            <a:bodyPr wrap="square" lIns="0" tIns="0" rIns="0" bIns="0" rtlCol="0" anchor="ctr">
              <a:noAutofit/>
            </a:bodyPr>
            <a:lstStyle/>
            <a:p>
              <a:pPr algn="ctr">
                <a:spcAft>
                  <a:spcPts val="0"/>
                </a:spcAft>
              </a:pPr>
              <a:r>
                <a:rPr sz="1200" b="0" i="0">
                  <a:solidFill>
                    <a:srgbClr val="AAB6C3"/>
                  </a:solidFill>
                  <a:latin typeface="Segoe UI"/>
                </a:rPr>
                <a:t>Sharpe</a:t>
              </a:r>
            </a:p>
          </p:txBody>
        </p:sp>
        <p:sp>
          <p:nvSpPr>
            <p:cNvPr id="27" name="Rounded Rectangle 26"/>
            <p:cNvSpPr/>
            <p:nvPr/>
          </p:nvSpPr>
          <p:spPr>
            <a:xfrm>
              <a:off x="6355080" y="5175504"/>
              <a:ext cx="873252" cy="329184"/>
            </a:xfrm>
            <a:prstGeom prst="roundRect">
              <a:avLst>
                <a:gd name="adj" fmla="val 50000"/>
              </a:avLst>
            </a:prstGeom>
            <a:solidFill>
              <a:srgbClr val="172231"/>
            </a:solidFill>
            <a:ln w="9525">
              <a:solidFill>
                <a:srgbClr val="243245"/>
              </a:solidFill>
            </a:ln>
          </p:spPr>
          <p:txBody>
            <a:bodyPr wrap="square" lIns="0" tIns="0" rIns="0" bIns="0" rtlCol="0" anchor="ctr">
              <a:noAutofit/>
            </a:bodyPr>
            <a:lstStyle/>
            <a:p>
              <a:pPr algn="ctr">
                <a:spcAft>
                  <a:spcPts val="0"/>
                </a:spcAft>
              </a:pPr>
              <a:r>
                <a:rPr sz="1200" b="0" i="0">
                  <a:solidFill>
                    <a:srgbClr val="AAB6C3"/>
                  </a:solidFill>
                  <a:latin typeface="Segoe UI"/>
                </a:rPr>
                <a:t>Sortino</a:t>
              </a:r>
            </a:p>
          </p:txBody>
        </p:sp>
        <p:sp>
          <p:nvSpPr>
            <p:cNvPr id="28" name="Rounded Rectangle 27"/>
            <p:cNvSpPr/>
            <p:nvPr/>
          </p:nvSpPr>
          <p:spPr>
            <a:xfrm>
              <a:off x="7319772" y="5175504"/>
              <a:ext cx="1261872" cy="329184"/>
            </a:xfrm>
            <a:prstGeom prst="roundRect">
              <a:avLst>
                <a:gd name="adj" fmla="val 50000"/>
              </a:avLst>
            </a:prstGeom>
            <a:solidFill>
              <a:srgbClr val="172231"/>
            </a:solidFill>
            <a:ln w="9525">
              <a:solidFill>
                <a:srgbClr val="243245"/>
              </a:solidFill>
            </a:ln>
          </p:spPr>
          <p:txBody>
            <a:bodyPr wrap="square" lIns="0" tIns="0" rIns="0" bIns="0" rtlCol="0" anchor="ctr">
              <a:noAutofit/>
            </a:bodyPr>
            <a:lstStyle/>
            <a:p>
              <a:pPr algn="ctr">
                <a:spcAft>
                  <a:spcPts val="0"/>
                </a:spcAft>
              </a:pPr>
              <a:r>
                <a:rPr sz="1200" b="0" i="0">
                  <a:solidFill>
                    <a:srgbClr val="AAB6C3"/>
                  </a:solidFill>
                  <a:latin typeface="Segoe UI"/>
                </a:rPr>
                <a:t>max drawdown</a:t>
              </a:r>
            </a:p>
          </p:txBody>
        </p:sp>
        <p:sp>
          <p:nvSpPr>
            <p:cNvPr id="29" name="Rounded Rectangle 28"/>
            <p:cNvSpPr/>
            <p:nvPr/>
          </p:nvSpPr>
          <p:spPr>
            <a:xfrm>
              <a:off x="8673084" y="5175504"/>
              <a:ext cx="795528" cy="329184"/>
            </a:xfrm>
            <a:prstGeom prst="roundRect">
              <a:avLst>
                <a:gd name="adj" fmla="val 50000"/>
              </a:avLst>
            </a:prstGeom>
            <a:solidFill>
              <a:srgbClr val="172231"/>
            </a:solidFill>
            <a:ln w="9525">
              <a:solidFill>
                <a:srgbClr val="243245"/>
              </a:solidFill>
            </a:ln>
          </p:spPr>
          <p:txBody>
            <a:bodyPr wrap="square" lIns="0" tIns="0" rIns="0" bIns="0" rtlCol="0" anchor="ctr">
              <a:noAutofit/>
            </a:bodyPr>
            <a:lstStyle/>
            <a:p>
              <a:pPr algn="ctr">
                <a:spcAft>
                  <a:spcPts val="0"/>
                </a:spcAft>
              </a:pPr>
              <a:r>
                <a:rPr sz="1200" b="0" i="0">
                  <a:solidFill>
                    <a:srgbClr val="AAB6C3"/>
                  </a:solidFill>
                  <a:latin typeface="Segoe UI"/>
                </a:rPr>
                <a:t>Calmar</a:t>
              </a:r>
            </a:p>
          </p:txBody>
        </p:sp>
        <p:sp>
          <p:nvSpPr>
            <p:cNvPr id="30" name="Rounded Rectangle 29"/>
            <p:cNvSpPr/>
            <p:nvPr/>
          </p:nvSpPr>
          <p:spPr>
            <a:xfrm>
              <a:off x="9560052" y="5175504"/>
              <a:ext cx="950976" cy="329184"/>
            </a:xfrm>
            <a:prstGeom prst="roundRect">
              <a:avLst>
                <a:gd name="adj" fmla="val 50000"/>
              </a:avLst>
            </a:prstGeom>
            <a:solidFill>
              <a:srgbClr val="172231"/>
            </a:solidFill>
            <a:ln w="9525">
              <a:solidFill>
                <a:srgbClr val="243245"/>
              </a:solidFill>
            </a:ln>
          </p:spPr>
          <p:txBody>
            <a:bodyPr wrap="square" lIns="0" tIns="0" rIns="0" bIns="0" rtlCol="0" anchor="ctr">
              <a:noAutofit/>
            </a:bodyPr>
            <a:lstStyle/>
            <a:p>
              <a:pPr algn="ctr">
                <a:spcAft>
                  <a:spcPts val="0"/>
                </a:spcAft>
              </a:pPr>
              <a:r>
                <a:rPr sz="1200" b="0" i="0">
                  <a:solidFill>
                    <a:srgbClr val="AAB6C3"/>
                  </a:solidFill>
                  <a:latin typeface="Segoe UI"/>
                </a:rPr>
                <a:t>win rate</a:t>
              </a:r>
            </a:p>
          </p:txBody>
        </p:sp>
        <p:sp>
          <p:nvSpPr>
            <p:cNvPr id="31" name="Rounded Rectangle 30"/>
            <p:cNvSpPr/>
            <p:nvPr/>
          </p:nvSpPr>
          <p:spPr>
            <a:xfrm>
              <a:off x="10602468" y="5175504"/>
              <a:ext cx="950976" cy="329184"/>
            </a:xfrm>
            <a:prstGeom prst="roundRect">
              <a:avLst>
                <a:gd name="adj" fmla="val 50000"/>
              </a:avLst>
            </a:prstGeom>
            <a:solidFill>
              <a:srgbClr val="172231"/>
            </a:solidFill>
            <a:ln w="9525">
              <a:solidFill>
                <a:srgbClr val="243245"/>
              </a:solidFill>
            </a:ln>
          </p:spPr>
          <p:txBody>
            <a:bodyPr wrap="square" lIns="0" tIns="0" rIns="0" bIns="0" rtlCol="0" anchor="ctr">
              <a:noAutofit/>
            </a:bodyPr>
            <a:lstStyle/>
            <a:p>
              <a:pPr algn="ctr">
                <a:spcAft>
                  <a:spcPts val="0"/>
                </a:spcAft>
              </a:pPr>
              <a:r>
                <a:rPr sz="1200" b="0" i="0">
                  <a:solidFill>
                    <a:srgbClr val="AAB6C3"/>
                  </a:solidFill>
                  <a:latin typeface="Segoe UI"/>
                </a:rPr>
                <a:t>turnover</a:t>
              </a:r>
            </a:p>
          </p:txBody>
        </p:sp>
        <p:sp>
          <p:nvSpPr>
            <p:cNvPr id="32" name="Rounded Rectangle 31"/>
            <p:cNvSpPr/>
            <p:nvPr/>
          </p:nvSpPr>
          <p:spPr>
            <a:xfrm>
              <a:off x="6355080" y="5596128"/>
              <a:ext cx="795528" cy="329184"/>
            </a:xfrm>
            <a:prstGeom prst="roundRect">
              <a:avLst>
                <a:gd name="adj" fmla="val 50000"/>
              </a:avLst>
            </a:prstGeom>
            <a:solidFill>
              <a:srgbClr val="172231"/>
            </a:solidFill>
            <a:ln w="9525">
              <a:solidFill>
                <a:srgbClr val="243245"/>
              </a:solidFill>
            </a:ln>
          </p:spPr>
          <p:txBody>
            <a:bodyPr wrap="square" lIns="0" tIns="0" rIns="0" bIns="0" rtlCol="0" anchor="ctr">
              <a:noAutofit/>
            </a:bodyPr>
            <a:lstStyle/>
            <a:p>
              <a:pPr algn="ctr">
                <a:spcAft>
                  <a:spcPts val="0"/>
                </a:spcAft>
              </a:pPr>
              <a:r>
                <a:rPr sz="1200" b="0" i="0">
                  <a:solidFill>
                    <a:srgbClr val="AAB6C3"/>
                  </a:solidFill>
                  <a:latin typeface="Segoe UI"/>
                </a:rPr>
                <a:t>trades</a:t>
              </a:r>
            </a:p>
          </p:txBody>
        </p:sp>
        <p:sp>
          <p:nvSpPr>
            <p:cNvPr id="33" name="Rounded Rectangle 32"/>
            <p:cNvSpPr/>
            <p:nvPr/>
          </p:nvSpPr>
          <p:spPr>
            <a:xfrm>
              <a:off x="7242048" y="5596128"/>
              <a:ext cx="1106424" cy="329184"/>
            </a:xfrm>
            <a:prstGeom prst="roundRect">
              <a:avLst>
                <a:gd name="adj" fmla="val 50000"/>
              </a:avLst>
            </a:prstGeom>
            <a:solidFill>
              <a:srgbClr val="172231"/>
            </a:solidFill>
            <a:ln w="9525">
              <a:solidFill>
                <a:srgbClr val="243245"/>
              </a:solidFill>
            </a:ln>
          </p:spPr>
          <p:txBody>
            <a:bodyPr wrap="square" lIns="0" tIns="0" rIns="0" bIns="0" rtlCol="0" anchor="ctr">
              <a:noAutofit/>
            </a:bodyPr>
            <a:lstStyle/>
            <a:p>
              <a:pPr algn="ctr">
                <a:spcAft>
                  <a:spcPts val="0"/>
                </a:spcAft>
              </a:pPr>
              <a:r>
                <a:rPr sz="1200" b="0" i="0">
                  <a:solidFill>
                    <a:srgbClr val="AAB6C3"/>
                  </a:solidFill>
                  <a:latin typeface="Segoe UI"/>
                </a:rPr>
                <a:t>costs paid</a:t>
              </a: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22" presetClass="entr" presetSubtype="8" fill="hold"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800"/>
                                        <p:tgtEl>
                                          <p:spTgt spid="5"/>
                                        </p:tgtEl>
                                      </p:cBhvr>
                                    </p:animEffect>
                                  </p:childTnLst>
                                </p:cTn>
                              </p:par>
                            </p:childTnLst>
                          </p:cTn>
                        </p:par>
                        <p:par>
                          <p:cTn id="11" fill="hold">
                            <p:stCondLst>
                              <p:cond delay="900"/>
                            </p:stCondLst>
                            <p:childTnLst>
                              <p:par>
                                <p:cTn id="12" presetID="42" presetClass="entr" presetSubtype="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anim calcmode="lin" valueType="num">
                                      <p:cBhvr>
                                        <p:cTn id="15" dur="400" fill="hold"/>
                                        <p:tgtEl>
                                          <p:spTgt spid="12"/>
                                        </p:tgtEl>
                                        <p:attrNameLst>
                                          <p:attrName>ppt_x</p:attrName>
                                        </p:attrNameLst>
                                      </p:cBhvr>
                                      <p:tavLst>
                                        <p:tav tm="0">
                                          <p:val>
                                            <p:strVal val="#ppt_x"/>
                                          </p:val>
                                        </p:tav>
                                        <p:tav tm="100000">
                                          <p:val>
                                            <p:strVal val="#ppt_x"/>
                                          </p:val>
                                        </p:tav>
                                      </p:tavLst>
                                    </p:anim>
                                    <p:anim calcmode="lin" valueType="num">
                                      <p:cBhvr>
                                        <p:cTn id="16" dur="400" fill="hold"/>
                                        <p:tgtEl>
                                          <p:spTgt spid="12"/>
                                        </p:tgtEl>
                                        <p:attrNameLst>
                                          <p:attrName>ppt_y</p:attrName>
                                        </p:attrNameLst>
                                      </p:cBhvr>
                                      <p:tavLst>
                                        <p:tav tm="0">
                                          <p:val>
                                            <p:strVal val="#ppt_y+.1"/>
                                          </p:val>
                                        </p:tav>
                                        <p:tav tm="100000">
                                          <p:val>
                                            <p:strVal val="#ppt_y"/>
                                          </p:val>
                                        </p:tav>
                                      </p:tavLst>
                                    </p:anim>
                                  </p:childTnLst>
                                </p:cTn>
                              </p:par>
                            </p:childTnLst>
                          </p:cTn>
                        </p:par>
                        <p:par>
                          <p:cTn id="17" fill="hold">
                            <p:stCondLst>
                              <p:cond delay="1300"/>
                            </p:stCondLst>
                            <p:childTnLst>
                              <p:par>
                                <p:cTn id="18" presetID="10" presetClass="entr" presetSubtype="0" fill="hold" grpId="0"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par>
                          <p:cTn id="21" fill="hold">
                            <p:stCondLst>
                              <p:cond delay="1800"/>
                            </p:stCondLst>
                            <p:childTnLst>
                              <p:par>
                                <p:cTn id="22" presetID="10" presetClass="entr" presetSubtype="0"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300"/>
                                        <p:tgtEl>
                                          <p:spTgt spid="16"/>
                                        </p:tgtEl>
                                      </p:cBhvr>
                                    </p:animEffect>
                                  </p:childTnLst>
                                </p:cTn>
                              </p:par>
                              <p:par>
                                <p:cTn id="25" presetID="42" presetClass="entr" presetSubtype="0" fill="hold" nodeType="withEffect">
                                  <p:stCondLst>
                                    <p:cond delay="10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anim calcmode="lin" valueType="num">
                                      <p:cBhvr>
                                        <p:cTn id="28" dur="500" fill="hold"/>
                                        <p:tgtEl>
                                          <p:spTgt spid="17"/>
                                        </p:tgtEl>
                                        <p:attrNameLst>
                                          <p:attrName>ppt_x</p:attrName>
                                        </p:attrNameLst>
                                      </p:cBhvr>
                                      <p:tavLst>
                                        <p:tav tm="0">
                                          <p:val>
                                            <p:strVal val="#ppt_x"/>
                                          </p:val>
                                        </p:tav>
                                        <p:tav tm="100000">
                                          <p:val>
                                            <p:strVal val="#ppt_x"/>
                                          </p:val>
                                        </p:tav>
                                      </p:tavLst>
                                    </p:anim>
                                    <p:anim calcmode="lin" valueType="num">
                                      <p:cBhvr>
                                        <p:cTn id="29" dur="500" fill="hold"/>
                                        <p:tgtEl>
                                          <p:spTgt spid="17"/>
                                        </p:tgtEl>
                                        <p:attrNameLst>
                                          <p:attrName>ppt_y</p:attrName>
                                        </p:attrNameLst>
                                      </p:cBhvr>
                                      <p:tavLst>
                                        <p:tav tm="0">
                                          <p:val>
                                            <p:strVal val="#ppt_y+.1"/>
                                          </p:val>
                                        </p:tav>
                                        <p:tav tm="100000">
                                          <p:val>
                                            <p:strVal val="#ppt_y"/>
                                          </p:val>
                                        </p:tav>
                                      </p:tavLst>
                                    </p:anim>
                                  </p:childTnLst>
                                </p:cTn>
                              </p:par>
                            </p:childTnLst>
                          </p:cTn>
                        </p:par>
                        <p:par>
                          <p:cTn id="30" fill="hold">
                            <p:stCondLst>
                              <p:cond delay="2400"/>
                            </p:stCondLst>
                            <p:childTnLst>
                              <p:par>
                                <p:cTn id="31" presetID="10" presetClass="entr" presetSubtype="0" fill="hold" grpId="0" nodeType="after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00"/>
                                        <p:tgtEl>
                                          <p:spTgt spid="20"/>
                                        </p:tgtEl>
                                      </p:cBhvr>
                                    </p:animEffect>
                                  </p:childTnLst>
                                </p:cTn>
                              </p:par>
                            </p:childTnLst>
                          </p:cTn>
                        </p:par>
                        <p:par>
                          <p:cTn id="34" fill="hold">
                            <p:stCondLst>
                              <p:cond delay="2800"/>
                            </p:stCondLst>
                            <p:childTnLst>
                              <p:par>
                                <p:cTn id="35" presetID="10" presetClass="entr" presetSubtype="0" fill="hold" grpId="0" nodeType="after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300"/>
                                        <p:tgtEl>
                                          <p:spTgt spid="21"/>
                                        </p:tgtEl>
                                      </p:cBhvr>
                                    </p:animEffect>
                                  </p:childTnLst>
                                </p:cTn>
                              </p:par>
                              <p:par>
                                <p:cTn id="38" presetID="42" presetClass="entr" presetSubtype="0" fill="hold" nodeType="withEffect">
                                  <p:stCondLst>
                                    <p:cond delay="10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50"/>
                                        <p:tgtEl>
                                          <p:spTgt spid="22"/>
                                        </p:tgtEl>
                                      </p:cBhvr>
                                    </p:animEffect>
                                    <p:anim calcmode="lin" valueType="num">
                                      <p:cBhvr>
                                        <p:cTn id="41" dur="450" fill="hold"/>
                                        <p:tgtEl>
                                          <p:spTgt spid="22"/>
                                        </p:tgtEl>
                                        <p:attrNameLst>
                                          <p:attrName>ppt_x</p:attrName>
                                        </p:attrNameLst>
                                      </p:cBhvr>
                                      <p:tavLst>
                                        <p:tav tm="0">
                                          <p:val>
                                            <p:strVal val="#ppt_x"/>
                                          </p:val>
                                        </p:tav>
                                        <p:tav tm="100000">
                                          <p:val>
                                            <p:strVal val="#ppt_x"/>
                                          </p:val>
                                        </p:tav>
                                      </p:tavLst>
                                    </p:anim>
                                    <p:anim calcmode="lin" valueType="num">
                                      <p:cBhvr>
                                        <p:cTn id="42" dur="45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P spid="16" grpId="0"/>
      <p:bldP spid="20"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Engineered like research software</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09 · KEY FEATURES</a:t>
            </a:r>
          </a:p>
        </p:txBody>
      </p:sp>
      <p:grpSp>
        <p:nvGrpSpPr>
          <p:cNvPr id="4" name="tile_1"/>
          <p:cNvGrpSpPr/>
          <p:nvPr/>
        </p:nvGrpSpPr>
        <p:grpSpPr>
          <a:xfrm>
            <a:off x="640080" y="1783080"/>
            <a:ext cx="3474720" cy="1783080"/>
            <a:chOff x="640080" y="1783080"/>
            <a:chExt cx="3474720" cy="1783080"/>
          </a:xfrm>
        </p:grpSpPr>
        <p:sp>
          <p:nvSpPr>
            <p:cNvPr id="5" name="tile_1_bg"/>
            <p:cNvSpPr/>
            <p:nvPr/>
          </p:nvSpPr>
          <p:spPr>
            <a:xfrm>
              <a:off x="640080" y="1783080"/>
              <a:ext cx="3474720" cy="1783080"/>
            </a:xfrm>
            <a:prstGeom prst="roundRect">
              <a:avLst>
                <a:gd name="adj" fmla="val 6153"/>
              </a:avLst>
            </a:prstGeom>
            <a:solidFill>
              <a:srgbClr val="111823">
                <a:alpha val="88000"/>
              </a:srgbClr>
            </a:solidFill>
            <a:ln w="9525">
              <a:solidFill>
                <a:srgbClr val="243245"/>
              </a:solidFill>
            </a:ln>
          </p:spPr>
          <p:txBody>
            <a:bodyPr lIns="0" tIns="0" rIns="0" bIns="0" rtlCol="0" anchor="ctr"/>
            <a:lstStyle/>
            <a:p>
              <a:pPr algn="ctr"/>
              <a:endParaRPr/>
            </a:p>
          </p:txBody>
        </p:sp>
        <p:sp>
          <p:nvSpPr>
            <p:cNvPr id="6" name="TextBox 5"/>
            <p:cNvSpPr txBox="1"/>
            <p:nvPr/>
          </p:nvSpPr>
          <p:spPr>
            <a:xfrm>
              <a:off x="960120" y="1965960"/>
              <a:ext cx="2834640" cy="777240"/>
            </a:xfrm>
            <a:prstGeom prst="rect">
              <a:avLst/>
            </a:prstGeom>
            <a:noFill/>
          </p:spPr>
          <p:txBody>
            <a:bodyPr wrap="square" lIns="0" tIns="0" rIns="0" bIns="0" anchor="t">
              <a:noAutofit/>
            </a:bodyPr>
            <a:lstStyle/>
            <a:p>
              <a:pPr algn="l">
                <a:spcAft>
                  <a:spcPts val="0"/>
                </a:spcAft>
              </a:pPr>
              <a:r>
                <a:rPr sz="4600" b="0" i="0">
                  <a:solidFill>
                    <a:srgbClr val="FFB547"/>
                  </a:solidFill>
                  <a:latin typeface="Segoe UI Light"/>
                </a:rPr>
                <a:t>301</a:t>
              </a:r>
            </a:p>
          </p:txBody>
        </p:sp>
        <p:sp>
          <p:nvSpPr>
            <p:cNvPr id="7" name="TextBox 6"/>
            <p:cNvSpPr txBox="1"/>
            <p:nvPr/>
          </p:nvSpPr>
          <p:spPr>
            <a:xfrm>
              <a:off x="960120" y="2724912"/>
              <a:ext cx="2834640" cy="310896"/>
            </a:xfrm>
            <a:prstGeom prst="rect">
              <a:avLst/>
            </a:prstGeom>
            <a:noFill/>
          </p:spPr>
          <p:txBody>
            <a:bodyPr wrap="square" lIns="0" tIns="0" rIns="0" bIns="0" anchor="t">
              <a:noAutofit/>
            </a:bodyPr>
            <a:lstStyle/>
            <a:p>
              <a:pPr algn="l">
                <a:spcAft>
                  <a:spcPts val="0"/>
                </a:spcAft>
              </a:pPr>
              <a:r>
                <a:rPr sz="1500" b="0" i="0">
                  <a:solidFill>
                    <a:srgbClr val="EAF0F6"/>
                  </a:solidFill>
                  <a:latin typeface="Segoe UI Semibold"/>
                </a:rPr>
                <a:t>automated tests</a:t>
              </a:r>
            </a:p>
          </p:txBody>
        </p:sp>
        <p:sp>
          <p:nvSpPr>
            <p:cNvPr id="8" name="TextBox 7"/>
            <p:cNvSpPr txBox="1"/>
            <p:nvPr/>
          </p:nvSpPr>
          <p:spPr>
            <a:xfrm>
              <a:off x="960120" y="3054096"/>
              <a:ext cx="2834640" cy="438912"/>
            </a:xfrm>
            <a:prstGeom prst="rect">
              <a:avLst/>
            </a:prstGeom>
            <a:noFill/>
          </p:spPr>
          <p:txBody>
            <a:bodyPr wrap="square" lIns="0" tIns="0" rIns="0" bIns="0" anchor="t">
              <a:noAutofit/>
            </a:bodyPr>
            <a:lstStyle/>
            <a:p>
              <a:pPr algn="l">
                <a:lnSpc>
                  <a:spcPct val="100000"/>
                </a:lnSpc>
                <a:spcAft>
                  <a:spcPts val="0"/>
                </a:spcAft>
              </a:pPr>
              <a:r>
                <a:rPr sz="1250" b="0" i="0">
                  <a:solidFill>
                    <a:srgbClr val="AAB6C3"/>
                  </a:solidFill>
                  <a:latin typeface="Segoe UI"/>
                </a:rPr>
                <a:t>pytest, including look-ahead and truncation-invariance checks</a:t>
              </a:r>
            </a:p>
          </p:txBody>
        </p:sp>
      </p:grpSp>
      <p:grpSp>
        <p:nvGrpSpPr>
          <p:cNvPr id="9" name="tile_2"/>
          <p:cNvGrpSpPr/>
          <p:nvPr/>
        </p:nvGrpSpPr>
        <p:grpSpPr>
          <a:xfrm>
            <a:off x="4358488" y="1783080"/>
            <a:ext cx="3474720" cy="1783080"/>
            <a:chOff x="4358488" y="1783080"/>
            <a:chExt cx="3474720" cy="1783080"/>
          </a:xfrm>
        </p:grpSpPr>
        <p:sp>
          <p:nvSpPr>
            <p:cNvPr id="10" name="tile_2_bg"/>
            <p:cNvSpPr/>
            <p:nvPr/>
          </p:nvSpPr>
          <p:spPr>
            <a:xfrm>
              <a:off x="4358488" y="1783080"/>
              <a:ext cx="3474720" cy="1783080"/>
            </a:xfrm>
            <a:prstGeom prst="roundRect">
              <a:avLst>
                <a:gd name="adj" fmla="val 6153"/>
              </a:avLst>
            </a:prstGeom>
            <a:solidFill>
              <a:srgbClr val="111823">
                <a:alpha val="88000"/>
              </a:srgbClr>
            </a:solidFill>
            <a:ln w="9525">
              <a:solidFill>
                <a:srgbClr val="243245"/>
              </a:solidFill>
            </a:ln>
          </p:spPr>
          <p:txBody>
            <a:bodyPr lIns="0" tIns="0" rIns="0" bIns="0" rtlCol="0" anchor="ctr"/>
            <a:lstStyle/>
            <a:p>
              <a:pPr algn="ctr"/>
              <a:endParaRPr/>
            </a:p>
          </p:txBody>
        </p:sp>
        <p:sp>
          <p:nvSpPr>
            <p:cNvPr id="11" name="TextBox 10"/>
            <p:cNvSpPr txBox="1"/>
            <p:nvPr/>
          </p:nvSpPr>
          <p:spPr>
            <a:xfrm>
              <a:off x="4678528" y="1965960"/>
              <a:ext cx="2834640" cy="777240"/>
            </a:xfrm>
            <a:prstGeom prst="rect">
              <a:avLst/>
            </a:prstGeom>
            <a:noFill/>
          </p:spPr>
          <p:txBody>
            <a:bodyPr wrap="square" lIns="0" tIns="0" rIns="0" bIns="0" anchor="t">
              <a:noAutofit/>
            </a:bodyPr>
            <a:lstStyle/>
            <a:p>
              <a:pPr algn="l">
                <a:spcAft>
                  <a:spcPts val="0"/>
                </a:spcAft>
              </a:pPr>
              <a:r>
                <a:rPr sz="4600" b="0" i="0">
                  <a:solidFill>
                    <a:srgbClr val="FFB547"/>
                  </a:solidFill>
                  <a:latin typeface="Segoe UI Light"/>
                </a:rPr>
                <a:t>1</a:t>
              </a:r>
            </a:p>
          </p:txBody>
        </p:sp>
        <p:sp>
          <p:nvSpPr>
            <p:cNvPr id="12" name="TextBox 11"/>
            <p:cNvSpPr txBox="1"/>
            <p:nvPr/>
          </p:nvSpPr>
          <p:spPr>
            <a:xfrm>
              <a:off x="4678528" y="2724912"/>
              <a:ext cx="2834640" cy="310896"/>
            </a:xfrm>
            <a:prstGeom prst="rect">
              <a:avLst/>
            </a:prstGeom>
            <a:noFill/>
          </p:spPr>
          <p:txBody>
            <a:bodyPr wrap="square" lIns="0" tIns="0" rIns="0" bIns="0" anchor="t">
              <a:noAutofit/>
            </a:bodyPr>
            <a:lstStyle/>
            <a:p>
              <a:pPr algn="l">
                <a:spcAft>
                  <a:spcPts val="0"/>
                </a:spcAft>
              </a:pPr>
              <a:r>
                <a:rPr sz="1500" b="0" i="0">
                  <a:solidFill>
                    <a:srgbClr val="EAF0F6"/>
                  </a:solidFill>
                  <a:latin typeface="Segoe UI Semibold"/>
                </a:rPr>
                <a:t>command for all results</a:t>
              </a:r>
            </a:p>
          </p:txBody>
        </p:sp>
        <p:sp>
          <p:nvSpPr>
            <p:cNvPr id="13" name="TextBox 12"/>
            <p:cNvSpPr txBox="1"/>
            <p:nvPr/>
          </p:nvSpPr>
          <p:spPr>
            <a:xfrm>
              <a:off x="4678528" y="3054096"/>
              <a:ext cx="2834640" cy="438912"/>
            </a:xfrm>
            <a:prstGeom prst="rect">
              <a:avLst/>
            </a:prstGeom>
            <a:noFill/>
          </p:spPr>
          <p:txBody>
            <a:bodyPr wrap="square" lIns="0" tIns="0" rIns="0" bIns="0" anchor="t">
              <a:noAutofit/>
            </a:bodyPr>
            <a:lstStyle/>
            <a:p>
              <a:pPr algn="l">
                <a:lnSpc>
                  <a:spcPct val="100000"/>
                </a:lnSpc>
                <a:spcAft>
                  <a:spcPts val="0"/>
                </a:spcAft>
              </a:pPr>
              <a:r>
                <a:rPr sz="1150" b="0" i="0">
                  <a:solidFill>
                    <a:srgbClr val="AAB6C3"/>
                  </a:solidFill>
                  <a:latin typeface="Consolas"/>
                </a:rPr>
                <a:t>python -m scripts.run_experiment</a:t>
              </a:r>
            </a:p>
          </p:txBody>
        </p:sp>
      </p:grpSp>
      <p:grpSp>
        <p:nvGrpSpPr>
          <p:cNvPr id="14" name="tile_3"/>
          <p:cNvGrpSpPr/>
          <p:nvPr/>
        </p:nvGrpSpPr>
        <p:grpSpPr>
          <a:xfrm>
            <a:off x="8076895" y="1783080"/>
            <a:ext cx="3474720" cy="1783080"/>
            <a:chOff x="8076895" y="1783080"/>
            <a:chExt cx="3474720" cy="1783080"/>
          </a:xfrm>
        </p:grpSpPr>
        <p:sp>
          <p:nvSpPr>
            <p:cNvPr id="15" name="tile_3_bg"/>
            <p:cNvSpPr/>
            <p:nvPr/>
          </p:nvSpPr>
          <p:spPr>
            <a:xfrm>
              <a:off x="8076895" y="1783080"/>
              <a:ext cx="3474720" cy="1783080"/>
            </a:xfrm>
            <a:prstGeom prst="roundRect">
              <a:avLst>
                <a:gd name="adj" fmla="val 6153"/>
              </a:avLst>
            </a:prstGeom>
            <a:solidFill>
              <a:srgbClr val="111823">
                <a:alpha val="88000"/>
              </a:srgbClr>
            </a:solidFill>
            <a:ln w="9525">
              <a:solidFill>
                <a:srgbClr val="243245"/>
              </a:solidFill>
            </a:ln>
          </p:spPr>
          <p:txBody>
            <a:bodyPr lIns="0" tIns="0" rIns="0" bIns="0" rtlCol="0" anchor="ctr"/>
            <a:lstStyle/>
            <a:p>
              <a:pPr algn="ctr"/>
              <a:endParaRPr/>
            </a:p>
          </p:txBody>
        </p:sp>
        <p:sp>
          <p:nvSpPr>
            <p:cNvPr id="16" name="TextBox 15"/>
            <p:cNvSpPr txBox="1"/>
            <p:nvPr/>
          </p:nvSpPr>
          <p:spPr>
            <a:xfrm>
              <a:off x="8396935" y="1965960"/>
              <a:ext cx="2834640" cy="777240"/>
            </a:xfrm>
            <a:prstGeom prst="rect">
              <a:avLst/>
            </a:prstGeom>
            <a:noFill/>
          </p:spPr>
          <p:txBody>
            <a:bodyPr wrap="square" lIns="0" tIns="0" rIns="0" bIns="0" anchor="t">
              <a:noAutofit/>
            </a:bodyPr>
            <a:lstStyle/>
            <a:p>
              <a:pPr algn="l">
                <a:spcAft>
                  <a:spcPts val="0"/>
                </a:spcAft>
              </a:pPr>
              <a:r>
                <a:rPr sz="4600" b="0" i="0">
                  <a:solidFill>
                    <a:srgbClr val="FFB547"/>
                  </a:solidFill>
                  <a:latin typeface="Segoe UI Light"/>
                </a:rPr>
                <a:t>24 min</a:t>
              </a:r>
            </a:p>
          </p:txBody>
        </p:sp>
        <p:sp>
          <p:nvSpPr>
            <p:cNvPr id="17" name="TextBox 16"/>
            <p:cNvSpPr txBox="1"/>
            <p:nvPr/>
          </p:nvSpPr>
          <p:spPr>
            <a:xfrm>
              <a:off x="8396935" y="2724912"/>
              <a:ext cx="2834640" cy="310896"/>
            </a:xfrm>
            <a:prstGeom prst="rect">
              <a:avLst/>
            </a:prstGeom>
            <a:noFill/>
          </p:spPr>
          <p:txBody>
            <a:bodyPr wrap="square" lIns="0" tIns="0" rIns="0" bIns="0" anchor="t">
              <a:noAutofit/>
            </a:bodyPr>
            <a:lstStyle/>
            <a:p>
              <a:pPr algn="l">
                <a:spcAft>
                  <a:spcPts val="0"/>
                </a:spcAft>
              </a:pPr>
              <a:r>
                <a:rPr sz="1500" b="0" i="0">
                  <a:solidFill>
                    <a:srgbClr val="EAF0F6"/>
                  </a:solidFill>
                  <a:latin typeface="Segoe UI Semibold"/>
                </a:rPr>
                <a:t>full experiment on a CPU</a:t>
              </a:r>
            </a:p>
          </p:txBody>
        </p:sp>
        <p:sp>
          <p:nvSpPr>
            <p:cNvPr id="18" name="TextBox 17"/>
            <p:cNvSpPr txBox="1"/>
            <p:nvPr/>
          </p:nvSpPr>
          <p:spPr>
            <a:xfrm>
              <a:off x="8396935" y="3054096"/>
              <a:ext cx="2834640" cy="438912"/>
            </a:xfrm>
            <a:prstGeom prst="rect">
              <a:avLst/>
            </a:prstGeom>
            <a:noFill/>
          </p:spPr>
          <p:txBody>
            <a:bodyPr wrap="square" lIns="0" tIns="0" rIns="0" bIns="0" anchor="t">
              <a:noAutofit/>
            </a:bodyPr>
            <a:lstStyle/>
            <a:p>
              <a:pPr algn="l">
                <a:lnSpc>
                  <a:spcPct val="100000"/>
                </a:lnSpc>
                <a:spcAft>
                  <a:spcPts val="0"/>
                </a:spcAft>
              </a:pPr>
              <a:r>
                <a:rPr sz="1250" b="0" i="0">
                  <a:solidFill>
                    <a:srgbClr val="AAB6C3"/>
                  </a:solidFill>
                  <a:latin typeface="Segoe UI"/>
                </a:rPr>
                <a:t>seeded and deterministic (seed 42)</a:t>
              </a:r>
            </a:p>
          </p:txBody>
        </p:sp>
      </p:grpSp>
      <p:grpSp>
        <p:nvGrpSpPr>
          <p:cNvPr id="19" name="tile_4"/>
          <p:cNvGrpSpPr/>
          <p:nvPr/>
        </p:nvGrpSpPr>
        <p:grpSpPr>
          <a:xfrm>
            <a:off x="640080" y="3840480"/>
            <a:ext cx="3474720" cy="1783080"/>
            <a:chOff x="640080" y="3840480"/>
            <a:chExt cx="3474720" cy="1783080"/>
          </a:xfrm>
        </p:grpSpPr>
        <p:sp>
          <p:nvSpPr>
            <p:cNvPr id="20" name="tile_4_bg"/>
            <p:cNvSpPr/>
            <p:nvPr/>
          </p:nvSpPr>
          <p:spPr>
            <a:xfrm>
              <a:off x="640080" y="3840480"/>
              <a:ext cx="3474720" cy="1783080"/>
            </a:xfrm>
            <a:prstGeom prst="roundRect">
              <a:avLst>
                <a:gd name="adj" fmla="val 6153"/>
              </a:avLst>
            </a:prstGeom>
            <a:solidFill>
              <a:srgbClr val="111823">
                <a:alpha val="88000"/>
              </a:srgbClr>
            </a:solidFill>
            <a:ln w="9525">
              <a:solidFill>
                <a:srgbClr val="243245"/>
              </a:solidFill>
            </a:ln>
          </p:spPr>
          <p:txBody>
            <a:bodyPr lIns="0" tIns="0" rIns="0" bIns="0" rtlCol="0" anchor="ctr"/>
            <a:lstStyle/>
            <a:p>
              <a:pPr algn="ctr"/>
              <a:endParaRPr/>
            </a:p>
          </p:txBody>
        </p:sp>
        <p:sp>
          <p:nvSpPr>
            <p:cNvPr id="21" name="TextBox 20"/>
            <p:cNvSpPr txBox="1"/>
            <p:nvPr/>
          </p:nvSpPr>
          <p:spPr>
            <a:xfrm>
              <a:off x="960120" y="4023360"/>
              <a:ext cx="2834640" cy="777240"/>
            </a:xfrm>
            <a:prstGeom prst="rect">
              <a:avLst/>
            </a:prstGeom>
            <a:noFill/>
          </p:spPr>
          <p:txBody>
            <a:bodyPr wrap="square" lIns="0" tIns="0" rIns="0" bIns="0" anchor="t">
              <a:noAutofit/>
            </a:bodyPr>
            <a:lstStyle/>
            <a:p>
              <a:pPr algn="l">
                <a:spcAft>
                  <a:spcPts val="0"/>
                </a:spcAft>
              </a:pPr>
              <a:r>
                <a:rPr sz="4600" b="0" i="0">
                  <a:solidFill>
                    <a:srgbClr val="FFB547"/>
                  </a:solidFill>
                  <a:latin typeface="Segoe UI Light"/>
                </a:rPr>
                <a:t>46</a:t>
              </a:r>
            </a:p>
          </p:txBody>
        </p:sp>
        <p:sp>
          <p:nvSpPr>
            <p:cNvPr id="22" name="TextBox 21"/>
            <p:cNvSpPr txBox="1"/>
            <p:nvPr/>
          </p:nvSpPr>
          <p:spPr>
            <a:xfrm>
              <a:off x="960120" y="4782312"/>
              <a:ext cx="2834640" cy="310896"/>
            </a:xfrm>
            <a:prstGeom prst="rect">
              <a:avLst/>
            </a:prstGeom>
            <a:noFill/>
          </p:spPr>
          <p:txBody>
            <a:bodyPr wrap="square" lIns="0" tIns="0" rIns="0" bIns="0" anchor="t">
              <a:noAutofit/>
            </a:bodyPr>
            <a:lstStyle/>
            <a:p>
              <a:pPr algn="l">
                <a:spcAft>
                  <a:spcPts val="0"/>
                </a:spcAft>
              </a:pPr>
              <a:r>
                <a:rPr sz="1500" b="0" i="0">
                  <a:solidFill>
                    <a:srgbClr val="EAF0F6"/>
                  </a:solidFill>
                  <a:latin typeface="Segoe UI Semibold"/>
                </a:rPr>
                <a:t>figures, generated</a:t>
              </a:r>
            </a:p>
          </p:txBody>
        </p:sp>
        <p:sp>
          <p:nvSpPr>
            <p:cNvPr id="23" name="TextBox 22"/>
            <p:cNvSpPr txBox="1"/>
            <p:nvPr/>
          </p:nvSpPr>
          <p:spPr>
            <a:xfrm>
              <a:off x="960120" y="5111496"/>
              <a:ext cx="2834640" cy="438912"/>
            </a:xfrm>
            <a:prstGeom prst="rect">
              <a:avLst/>
            </a:prstGeom>
            <a:noFill/>
          </p:spPr>
          <p:txBody>
            <a:bodyPr wrap="square" lIns="0" tIns="0" rIns="0" bIns="0" anchor="t">
              <a:noAutofit/>
            </a:bodyPr>
            <a:lstStyle/>
            <a:p>
              <a:pPr algn="l">
                <a:lnSpc>
                  <a:spcPct val="100000"/>
                </a:lnSpc>
                <a:spcAft>
                  <a:spcPts val="0"/>
                </a:spcAft>
              </a:pPr>
              <a:r>
                <a:rPr sz="1250" b="0" i="0">
                  <a:solidFill>
                    <a:srgbClr val="AAB6C3"/>
                  </a:solidFill>
                  <a:latin typeface="Segoe UI"/>
                </a:rPr>
                <a:t>plus a Markdown experiment report; the IEEE report has its own builder</a:t>
              </a:r>
            </a:p>
          </p:txBody>
        </p:sp>
      </p:grpSp>
      <p:grpSp>
        <p:nvGrpSpPr>
          <p:cNvPr id="24" name="tile_5"/>
          <p:cNvGrpSpPr/>
          <p:nvPr/>
        </p:nvGrpSpPr>
        <p:grpSpPr>
          <a:xfrm>
            <a:off x="4358488" y="3840480"/>
            <a:ext cx="3474720" cy="1783080"/>
            <a:chOff x="4358488" y="3840480"/>
            <a:chExt cx="3474720" cy="1783080"/>
          </a:xfrm>
        </p:grpSpPr>
        <p:sp>
          <p:nvSpPr>
            <p:cNvPr id="25" name="tile_5_bg"/>
            <p:cNvSpPr/>
            <p:nvPr/>
          </p:nvSpPr>
          <p:spPr>
            <a:xfrm>
              <a:off x="4358488" y="3840480"/>
              <a:ext cx="3474720" cy="1783080"/>
            </a:xfrm>
            <a:prstGeom prst="roundRect">
              <a:avLst>
                <a:gd name="adj" fmla="val 6153"/>
              </a:avLst>
            </a:prstGeom>
            <a:solidFill>
              <a:srgbClr val="111823">
                <a:alpha val="88000"/>
              </a:srgbClr>
            </a:solidFill>
            <a:ln w="9525">
              <a:solidFill>
                <a:srgbClr val="243245"/>
              </a:solidFill>
            </a:ln>
          </p:spPr>
          <p:txBody>
            <a:bodyPr lIns="0" tIns="0" rIns="0" bIns="0" rtlCol="0" anchor="ctr"/>
            <a:lstStyle/>
            <a:p>
              <a:pPr algn="ctr"/>
              <a:endParaRPr/>
            </a:p>
          </p:txBody>
        </p:sp>
        <p:sp>
          <p:nvSpPr>
            <p:cNvPr id="26" name="TextBox 25"/>
            <p:cNvSpPr txBox="1"/>
            <p:nvPr/>
          </p:nvSpPr>
          <p:spPr>
            <a:xfrm>
              <a:off x="4678528" y="4023360"/>
              <a:ext cx="2834640" cy="777240"/>
            </a:xfrm>
            <a:prstGeom prst="rect">
              <a:avLst/>
            </a:prstGeom>
            <a:noFill/>
          </p:spPr>
          <p:txBody>
            <a:bodyPr wrap="square" lIns="0" tIns="0" rIns="0" bIns="0" anchor="t">
              <a:noAutofit/>
            </a:bodyPr>
            <a:lstStyle/>
            <a:p>
              <a:pPr algn="l">
                <a:spcAft>
                  <a:spcPts val="0"/>
                </a:spcAft>
              </a:pPr>
              <a:r>
                <a:rPr sz="4600" b="0" i="0">
                  <a:solidFill>
                    <a:srgbClr val="FFB547"/>
                  </a:solidFill>
                  <a:latin typeface="Segoe UI Light"/>
                </a:rPr>
                <a:t>6</a:t>
              </a:r>
            </a:p>
          </p:txBody>
        </p:sp>
        <p:sp>
          <p:nvSpPr>
            <p:cNvPr id="27" name="TextBox 26"/>
            <p:cNvSpPr txBox="1"/>
            <p:nvPr/>
          </p:nvSpPr>
          <p:spPr>
            <a:xfrm>
              <a:off x="4678528" y="4782312"/>
              <a:ext cx="2834640" cy="310896"/>
            </a:xfrm>
            <a:prstGeom prst="rect">
              <a:avLst/>
            </a:prstGeom>
            <a:noFill/>
          </p:spPr>
          <p:txBody>
            <a:bodyPr wrap="square" lIns="0" tIns="0" rIns="0" bIns="0" anchor="t">
              <a:noAutofit/>
            </a:bodyPr>
            <a:lstStyle/>
            <a:p>
              <a:pPr algn="l">
                <a:spcAft>
                  <a:spcPts val="0"/>
                </a:spcAft>
              </a:pPr>
              <a:r>
                <a:rPr sz="1500" b="0" i="0">
                  <a:solidFill>
                    <a:srgbClr val="EAF0F6"/>
                  </a:solidFill>
                  <a:latin typeface="Segoe UI Semibold"/>
                </a:rPr>
                <a:t>dashboard tabs</a:t>
              </a:r>
            </a:p>
          </p:txBody>
        </p:sp>
        <p:sp>
          <p:nvSpPr>
            <p:cNvPr id="28" name="TextBox 27"/>
            <p:cNvSpPr txBox="1"/>
            <p:nvPr/>
          </p:nvSpPr>
          <p:spPr>
            <a:xfrm>
              <a:off x="4678528" y="5111496"/>
              <a:ext cx="2834640" cy="438912"/>
            </a:xfrm>
            <a:prstGeom prst="rect">
              <a:avLst/>
            </a:prstGeom>
            <a:noFill/>
          </p:spPr>
          <p:txBody>
            <a:bodyPr wrap="square" lIns="0" tIns="0" rIns="0" bIns="0" anchor="t">
              <a:noAutofit/>
            </a:bodyPr>
            <a:lstStyle/>
            <a:p>
              <a:pPr algn="l">
                <a:lnSpc>
                  <a:spcPct val="100000"/>
                </a:lnSpc>
                <a:spcAft>
                  <a:spcPts val="0"/>
                </a:spcAft>
              </a:pPr>
              <a:r>
                <a:rPr sz="1250" b="0" i="0">
                  <a:solidFill>
                    <a:srgbClr val="AAB6C3"/>
                  </a:solidFill>
                  <a:latin typeface="Segoe UI"/>
                </a:rPr>
                <a:t>Streamlit app with live re-training on fresh data</a:t>
              </a:r>
            </a:p>
          </p:txBody>
        </p:sp>
      </p:grpSp>
      <p:grpSp>
        <p:nvGrpSpPr>
          <p:cNvPr id="29" name="tile_6"/>
          <p:cNvGrpSpPr/>
          <p:nvPr/>
        </p:nvGrpSpPr>
        <p:grpSpPr>
          <a:xfrm>
            <a:off x="8076895" y="3840480"/>
            <a:ext cx="3474720" cy="1783080"/>
            <a:chOff x="8076895" y="3840480"/>
            <a:chExt cx="3474720" cy="1783080"/>
          </a:xfrm>
        </p:grpSpPr>
        <p:sp>
          <p:nvSpPr>
            <p:cNvPr id="30" name="tile_6_bg"/>
            <p:cNvSpPr/>
            <p:nvPr/>
          </p:nvSpPr>
          <p:spPr>
            <a:xfrm>
              <a:off x="8076895" y="3840480"/>
              <a:ext cx="3474720" cy="1783080"/>
            </a:xfrm>
            <a:prstGeom prst="roundRect">
              <a:avLst>
                <a:gd name="adj" fmla="val 6153"/>
              </a:avLst>
            </a:prstGeom>
            <a:solidFill>
              <a:srgbClr val="111823">
                <a:alpha val="88000"/>
              </a:srgbClr>
            </a:solidFill>
            <a:ln w="9525">
              <a:solidFill>
                <a:srgbClr val="243245"/>
              </a:solidFill>
            </a:ln>
          </p:spPr>
          <p:txBody>
            <a:bodyPr lIns="0" tIns="0" rIns="0" bIns="0" rtlCol="0" anchor="ctr"/>
            <a:lstStyle/>
            <a:p>
              <a:pPr algn="ctr"/>
              <a:endParaRPr/>
            </a:p>
          </p:txBody>
        </p:sp>
        <p:sp>
          <p:nvSpPr>
            <p:cNvPr id="31" name="TextBox 30"/>
            <p:cNvSpPr txBox="1"/>
            <p:nvPr/>
          </p:nvSpPr>
          <p:spPr>
            <a:xfrm>
              <a:off x="8396935" y="4023360"/>
              <a:ext cx="2834640" cy="777240"/>
            </a:xfrm>
            <a:prstGeom prst="rect">
              <a:avLst/>
            </a:prstGeom>
            <a:noFill/>
          </p:spPr>
          <p:txBody>
            <a:bodyPr wrap="square" lIns="0" tIns="0" rIns="0" bIns="0" anchor="t">
              <a:noAutofit/>
            </a:bodyPr>
            <a:lstStyle/>
            <a:p>
              <a:pPr algn="l">
                <a:spcAft>
                  <a:spcPts val="0"/>
                </a:spcAft>
              </a:pPr>
              <a:r>
                <a:rPr sz="4600" b="0" i="0">
                  <a:solidFill>
                    <a:srgbClr val="FFB547"/>
                  </a:solidFill>
                  <a:latin typeface="Segoe UI Light"/>
                </a:rPr>
                <a:t>2,000</a:t>
              </a:r>
            </a:p>
          </p:txBody>
        </p:sp>
        <p:sp>
          <p:nvSpPr>
            <p:cNvPr id="32" name="TextBox 31"/>
            <p:cNvSpPr txBox="1"/>
            <p:nvPr/>
          </p:nvSpPr>
          <p:spPr>
            <a:xfrm>
              <a:off x="8396935" y="4782312"/>
              <a:ext cx="2834640" cy="310896"/>
            </a:xfrm>
            <a:prstGeom prst="rect">
              <a:avLst/>
            </a:prstGeom>
            <a:noFill/>
          </p:spPr>
          <p:txBody>
            <a:bodyPr wrap="square" lIns="0" tIns="0" rIns="0" bIns="0" anchor="t">
              <a:noAutofit/>
            </a:bodyPr>
            <a:lstStyle/>
            <a:p>
              <a:pPr algn="l">
                <a:spcAft>
                  <a:spcPts val="0"/>
                </a:spcAft>
              </a:pPr>
              <a:r>
                <a:rPr sz="1500" b="0" i="0">
                  <a:solidFill>
                    <a:srgbClr val="EAF0F6"/>
                  </a:solidFill>
                  <a:latin typeface="Segoe UI Semibold"/>
                </a:rPr>
                <a:t>bootstrap resamples per CI</a:t>
              </a:r>
            </a:p>
          </p:txBody>
        </p:sp>
        <p:sp>
          <p:nvSpPr>
            <p:cNvPr id="33" name="TextBox 32"/>
            <p:cNvSpPr txBox="1"/>
            <p:nvPr/>
          </p:nvSpPr>
          <p:spPr>
            <a:xfrm>
              <a:off x="8396935" y="5111496"/>
              <a:ext cx="2834640" cy="438912"/>
            </a:xfrm>
            <a:prstGeom prst="rect">
              <a:avLst/>
            </a:prstGeom>
            <a:noFill/>
          </p:spPr>
          <p:txBody>
            <a:bodyPr wrap="square" lIns="0" tIns="0" rIns="0" bIns="0" anchor="t">
              <a:noAutofit/>
            </a:bodyPr>
            <a:lstStyle/>
            <a:p>
              <a:pPr algn="l">
                <a:lnSpc>
                  <a:spcPct val="100000"/>
                </a:lnSpc>
                <a:spcAft>
                  <a:spcPts val="0"/>
                </a:spcAft>
              </a:pPr>
              <a:r>
                <a:rPr sz="1250" b="0" i="0">
                  <a:solidFill>
                    <a:srgbClr val="AAB6C3"/>
                  </a:solidFill>
                  <a:latin typeface="Segoe UI"/>
                </a:rPr>
                <a:t>circular block bootstrap, block length 20</a:t>
              </a:r>
            </a:p>
          </p:txBody>
        </p:sp>
      </p:grpSp>
      <p:sp>
        <p:nvSpPr>
          <p:cNvPr id="34" name="caption"/>
          <p:cNvSpPr txBox="1"/>
          <p:nvPr/>
        </p:nvSpPr>
        <p:spPr>
          <a:xfrm>
            <a:off x="640080" y="5852160"/>
            <a:ext cx="10911535" cy="274320"/>
          </a:xfrm>
          <a:prstGeom prst="rect">
            <a:avLst/>
          </a:prstGeom>
          <a:noFill/>
        </p:spPr>
        <p:txBody>
          <a:bodyPr wrap="square" lIns="0" tIns="0" rIns="0" bIns="0" anchor="t">
            <a:noAutofit/>
          </a:bodyPr>
          <a:lstStyle/>
          <a:p>
            <a:pPr algn="l">
              <a:spcAft>
                <a:spcPts val="0"/>
              </a:spcAft>
            </a:pPr>
            <a:r>
              <a:rPr sz="1200" b="0" i="0">
                <a:solidFill>
                  <a:srgbClr val="8291A2"/>
                </a:solidFill>
                <a:latin typeface="Segoe UI"/>
              </a:rPr>
              <a:t>All counts are measured from the repository: tests collected by pytest, figures in results/figures, runtime from results/metrics/run_summary.json.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10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anim calcmode="lin" valueType="num">
                                      <p:cBhvr>
                                        <p:cTn id="13" dur="500" fill="hold"/>
                                        <p:tgtEl>
                                          <p:spTgt spid="9"/>
                                        </p:tgtEl>
                                        <p:attrNameLst>
                                          <p:attrName>ppt_x</p:attrName>
                                        </p:attrNameLst>
                                      </p:cBhvr>
                                      <p:tavLst>
                                        <p:tav tm="0">
                                          <p:val>
                                            <p:strVal val="#ppt_x"/>
                                          </p:val>
                                        </p:tav>
                                        <p:tav tm="100000">
                                          <p:val>
                                            <p:strVal val="#ppt_x"/>
                                          </p:val>
                                        </p:tav>
                                      </p:tavLst>
                                    </p:anim>
                                    <p:anim calcmode="lin" valueType="num">
                                      <p:cBhvr>
                                        <p:cTn id="14" dur="5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20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anim calcmode="lin" valueType="num">
                                      <p:cBhvr>
                                        <p:cTn id="18" dur="500" fill="hold"/>
                                        <p:tgtEl>
                                          <p:spTgt spid="14"/>
                                        </p:tgtEl>
                                        <p:attrNameLst>
                                          <p:attrName>ppt_x</p:attrName>
                                        </p:attrNameLst>
                                      </p:cBhvr>
                                      <p:tavLst>
                                        <p:tav tm="0">
                                          <p:val>
                                            <p:strVal val="#ppt_x"/>
                                          </p:val>
                                        </p:tav>
                                        <p:tav tm="100000">
                                          <p:val>
                                            <p:strVal val="#ppt_x"/>
                                          </p:val>
                                        </p:tav>
                                      </p:tavLst>
                                    </p:anim>
                                    <p:anim calcmode="lin" valueType="num">
                                      <p:cBhvr>
                                        <p:cTn id="19" dur="50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30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anim calcmode="lin" valueType="num">
                                      <p:cBhvr>
                                        <p:cTn id="23" dur="500" fill="hold"/>
                                        <p:tgtEl>
                                          <p:spTgt spid="19"/>
                                        </p:tgtEl>
                                        <p:attrNameLst>
                                          <p:attrName>ppt_x</p:attrName>
                                        </p:attrNameLst>
                                      </p:cBhvr>
                                      <p:tavLst>
                                        <p:tav tm="0">
                                          <p:val>
                                            <p:strVal val="#ppt_x"/>
                                          </p:val>
                                        </p:tav>
                                        <p:tav tm="100000">
                                          <p:val>
                                            <p:strVal val="#ppt_x"/>
                                          </p:val>
                                        </p:tav>
                                      </p:tavLst>
                                    </p:anim>
                                    <p:anim calcmode="lin" valueType="num">
                                      <p:cBhvr>
                                        <p:cTn id="24" dur="500" fill="hold"/>
                                        <p:tgtEl>
                                          <p:spTgt spid="19"/>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40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anim calcmode="lin" valueType="num">
                                      <p:cBhvr>
                                        <p:cTn id="28" dur="500" fill="hold"/>
                                        <p:tgtEl>
                                          <p:spTgt spid="24"/>
                                        </p:tgtEl>
                                        <p:attrNameLst>
                                          <p:attrName>ppt_x</p:attrName>
                                        </p:attrNameLst>
                                      </p:cBhvr>
                                      <p:tavLst>
                                        <p:tav tm="0">
                                          <p:val>
                                            <p:strVal val="#ppt_x"/>
                                          </p:val>
                                        </p:tav>
                                        <p:tav tm="100000">
                                          <p:val>
                                            <p:strVal val="#ppt_x"/>
                                          </p:val>
                                        </p:tav>
                                      </p:tavLst>
                                    </p:anim>
                                    <p:anim calcmode="lin" valueType="num">
                                      <p:cBhvr>
                                        <p:cTn id="29" dur="500" fill="hold"/>
                                        <p:tgtEl>
                                          <p:spTgt spid="24"/>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50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anim calcmode="lin" valueType="num">
                                      <p:cBhvr>
                                        <p:cTn id="33" dur="500" fill="hold"/>
                                        <p:tgtEl>
                                          <p:spTgt spid="29"/>
                                        </p:tgtEl>
                                        <p:attrNameLst>
                                          <p:attrName>ppt_x</p:attrName>
                                        </p:attrNameLst>
                                      </p:cBhvr>
                                      <p:tavLst>
                                        <p:tav tm="0">
                                          <p:val>
                                            <p:strVal val="#ppt_x"/>
                                          </p:val>
                                        </p:tav>
                                        <p:tav tm="100000">
                                          <p:val>
                                            <p:strVal val="#ppt_x"/>
                                          </p:val>
                                        </p:tav>
                                      </p:tavLst>
                                    </p:anim>
                                    <p:anim calcmode="lin" valueType="num">
                                      <p:cBhvr>
                                        <p:cTn id="34" dur="500" fill="hold"/>
                                        <p:tgtEl>
                                          <p:spTgt spid="29"/>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10" presetClass="entr" presetSubtype="0" fill="hold" grpId="0" nodeType="after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The working system: an interactive dashboard</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10 · LIVE SYSTEM</a:t>
            </a:r>
          </a:p>
        </p:txBody>
      </p:sp>
      <p:sp>
        <p:nvSpPr>
          <p:cNvPr id="4" name="tab_backtest"/>
          <p:cNvSpPr txBox="1"/>
          <p:nvPr/>
        </p:nvSpPr>
        <p:spPr>
          <a:xfrm>
            <a:off x="640080" y="1783080"/>
            <a:ext cx="6949440" cy="237744"/>
          </a:xfrm>
          <a:prstGeom prst="rect">
            <a:avLst/>
          </a:prstGeom>
          <a:noFill/>
        </p:spPr>
        <p:txBody>
          <a:bodyPr wrap="square" lIns="0" tIns="0" rIns="0" bIns="0" anchor="t">
            <a:noAutofit/>
          </a:bodyPr>
          <a:lstStyle/>
          <a:p>
            <a:pPr algn="l">
              <a:spcAft>
                <a:spcPts val="0"/>
              </a:spcAft>
            </a:pPr>
            <a:r>
              <a:rPr sz="1050" b="0" i="0" spc="100">
                <a:solidFill>
                  <a:srgbClr val="EAF0F6"/>
                </a:solidFill>
                <a:latin typeface="Consolas"/>
              </a:rPr>
              <a:t>INTERACTIVE BACKTEST</a:t>
            </a:r>
            <a:r>
              <a:rPr sz="1050" b="0" i="0" spc="100">
                <a:solidFill>
                  <a:srgbClr val="8291A2"/>
                </a:solidFill>
                <a:latin typeface="Consolas"/>
              </a:rPr>
              <a:t>   model · τ · costs · sizing, recomputed live</a:t>
            </a:r>
          </a:p>
        </p:txBody>
      </p:sp>
      <p:pic>
        <p:nvPicPr>
          <p:cNvPr id="5" name="!!shot_backtest" descr="Screenshot of the dashboard's Interactive backtest tab for SPY with XGBoost"/>
          <p:cNvPicPr>
            <a:picLocks noChangeAspect="1"/>
          </p:cNvPicPr>
          <p:nvPr/>
        </p:nvPicPr>
        <p:blipFill>
          <a:blip r:embed="rId3"/>
          <a:srcRect/>
          <a:stretch>
            <a:fillRect/>
          </a:stretch>
        </p:blipFill>
        <p:spPr>
          <a:xfrm>
            <a:off x="640080" y="2103120"/>
            <a:ext cx="6949440" cy="3909060"/>
          </a:xfrm>
          <a:prstGeom prst="roundRect">
            <a:avLst>
              <a:gd name="adj" fmla="val 2200"/>
            </a:avLst>
          </a:prstGeom>
          <a:ln w="12700">
            <a:solidFill>
              <a:srgbClr val="3A4D63"/>
            </a:solidFill>
          </a:ln>
          <a:effectLst>
            <a:outerShdw blurRad="381000" dist="114300" dir="5400000" algn="t" rotWithShape="0">
              <a:srgbClr val="000000">
                <a:alpha val="60000"/>
              </a:srgbClr>
            </a:outerShdw>
          </a:effectLst>
        </p:spPr>
      </p:pic>
      <p:sp>
        <p:nvSpPr>
          <p:cNvPr id="6" name="tab_wf"/>
          <p:cNvSpPr txBox="1"/>
          <p:nvPr/>
        </p:nvSpPr>
        <p:spPr>
          <a:xfrm>
            <a:off x="7818120" y="1783080"/>
            <a:ext cx="3733495" cy="237744"/>
          </a:xfrm>
          <a:prstGeom prst="rect">
            <a:avLst/>
          </a:prstGeom>
          <a:noFill/>
        </p:spPr>
        <p:txBody>
          <a:bodyPr wrap="square" lIns="0" tIns="0" rIns="0" bIns="0" anchor="t">
            <a:noAutofit/>
          </a:bodyPr>
          <a:lstStyle/>
          <a:p>
            <a:pPr algn="l">
              <a:spcAft>
                <a:spcPts val="0"/>
              </a:spcAft>
            </a:pPr>
            <a:r>
              <a:rPr sz="1050" b="0" i="0" spc="100">
                <a:solidFill>
                  <a:srgbClr val="EAF0F6"/>
                </a:solidFill>
                <a:latin typeface="Consolas"/>
              </a:rPr>
              <a:t>WALK-FORWARD</a:t>
            </a:r>
            <a:r>
              <a:rPr sz="1050" b="0" i="0" spc="100">
                <a:solidFill>
                  <a:srgbClr val="8291A2"/>
                </a:solidFill>
                <a:latin typeface="Consolas"/>
              </a:rPr>
              <a:t>   2016–2025</a:t>
            </a:r>
          </a:p>
        </p:txBody>
      </p:sp>
      <p:pic>
        <p:nvPicPr>
          <p:cNvPr id="7" name="!!shot_wf" descr="Crop of the dashboard's Walk-forward tab: SPY out-of-sample portfolio value 2016-2025"/>
          <p:cNvPicPr>
            <a:picLocks noChangeAspect="1"/>
          </p:cNvPicPr>
          <p:nvPr/>
        </p:nvPicPr>
        <p:blipFill>
          <a:blip r:embed="rId4"/>
          <a:srcRect l="23125" t="42780" r="4375" b="11110"/>
          <a:stretch>
            <a:fillRect/>
          </a:stretch>
        </p:blipFill>
        <p:spPr>
          <a:xfrm>
            <a:off x="7818120" y="2103120"/>
            <a:ext cx="3733495" cy="1335658"/>
          </a:xfrm>
          <a:prstGeom prst="roundRect">
            <a:avLst>
              <a:gd name="adj" fmla="val 2200"/>
            </a:avLst>
          </a:prstGeom>
          <a:ln w="12700">
            <a:solidFill>
              <a:srgbClr val="3A4D63"/>
            </a:solidFill>
          </a:ln>
          <a:effectLst>
            <a:outerShdw blurRad="381000" dist="114300" dir="5400000" algn="t" rotWithShape="0">
              <a:srgbClr val="000000">
                <a:alpha val="60000"/>
              </a:srgbClr>
            </a:outerShdw>
          </a:effectLst>
        </p:spPr>
      </p:pic>
      <p:sp>
        <p:nvSpPr>
          <p:cNvPr id="8" name="wf_caption"/>
          <p:cNvSpPr txBox="1"/>
          <p:nvPr/>
        </p:nvSpPr>
        <p:spPr>
          <a:xfrm>
            <a:off x="7818120" y="3521074"/>
            <a:ext cx="3733495" cy="457200"/>
          </a:xfrm>
          <a:prstGeom prst="rect">
            <a:avLst/>
          </a:prstGeom>
          <a:noFill/>
        </p:spPr>
        <p:txBody>
          <a:bodyPr wrap="square" lIns="0" tIns="0" rIns="0" bIns="0" anchor="t">
            <a:noAutofit/>
          </a:bodyPr>
          <a:lstStyle/>
          <a:p>
            <a:pPr algn="l">
              <a:lnSpc>
                <a:spcPct val="105000"/>
              </a:lnSpc>
              <a:spcAft>
                <a:spcPts val="0"/>
              </a:spcAft>
            </a:pPr>
            <a:r>
              <a:rPr sz="1250" b="0" i="0">
                <a:solidFill>
                  <a:srgbClr val="AAB6C3"/>
                </a:solidFill>
                <a:latin typeface="Segoe UI"/>
              </a:rPr>
              <a:t>Dashed: buy-and-hold, finishing above all five ML strategies (SPY, walk-forward).</a:t>
            </a:r>
          </a:p>
        </p:txBody>
      </p:sp>
      <p:sp>
        <p:nvSpPr>
          <p:cNvPr id="9" name="!!tab_live"/>
          <p:cNvSpPr txBox="1"/>
          <p:nvPr/>
        </p:nvSpPr>
        <p:spPr>
          <a:xfrm>
            <a:off x="7818120" y="4160520"/>
            <a:ext cx="3733495" cy="237744"/>
          </a:xfrm>
          <a:prstGeom prst="rect">
            <a:avLst/>
          </a:prstGeom>
          <a:noFill/>
        </p:spPr>
        <p:txBody>
          <a:bodyPr wrap="square" lIns="0" tIns="0" rIns="0" bIns="0" anchor="t">
            <a:noAutofit/>
          </a:bodyPr>
          <a:lstStyle/>
          <a:p>
            <a:pPr algn="l">
              <a:spcAft>
                <a:spcPts val="0"/>
              </a:spcAft>
            </a:pPr>
            <a:r>
              <a:rPr sz="1050" b="0" i="0" spc="100">
                <a:solidFill>
                  <a:srgbClr val="EAF0F6"/>
                </a:solidFill>
                <a:latin typeface="Consolas"/>
              </a:rPr>
              <a:t>TRAIN A MODEL LIVE</a:t>
            </a:r>
            <a:r>
              <a:rPr sz="1050" b="0" i="0" spc="100">
                <a:solidFill>
                  <a:srgbClr val="8291A2"/>
                </a:solidFill>
                <a:latin typeface="Consolas"/>
              </a:rPr>
              <a:t>   fresh data</a:t>
            </a:r>
          </a:p>
        </p:txBody>
      </p:sp>
      <p:pic>
        <p:nvPicPr>
          <p:cNvPr id="10" name="!!shot_live" descr="Crop of the dashboard's Train a model live tab: the metric cards after a live XGBoost run"/>
          <p:cNvPicPr>
            <a:picLocks noChangeAspect="1"/>
          </p:cNvPicPr>
          <p:nvPr/>
        </p:nvPicPr>
        <p:blipFill>
          <a:blip r:embed="rId5"/>
          <a:srcRect l="23125" t="7780" r="4375" b="65330"/>
          <a:stretch>
            <a:fillRect/>
          </a:stretch>
        </p:blipFill>
        <p:spPr>
          <a:xfrm>
            <a:off x="7818120" y="4480560"/>
            <a:ext cx="3733495" cy="778917"/>
          </a:xfrm>
          <a:prstGeom prst="roundRect">
            <a:avLst>
              <a:gd name="adj" fmla="val 2200"/>
            </a:avLst>
          </a:prstGeom>
          <a:ln w="12700">
            <a:solidFill>
              <a:srgbClr val="3A4D63"/>
            </a:solidFill>
          </a:ln>
          <a:effectLst>
            <a:outerShdw blurRad="381000" dist="114300" dir="5400000" algn="t" rotWithShape="0">
              <a:srgbClr val="000000">
                <a:alpha val="60000"/>
              </a:srgbClr>
            </a:outerShdw>
          </a:effectLst>
        </p:spPr>
      </p:pic>
      <p:sp>
        <p:nvSpPr>
          <p:cNvPr id="11" name="live_caption"/>
          <p:cNvSpPr txBox="1"/>
          <p:nvPr/>
        </p:nvSpPr>
        <p:spPr>
          <a:xfrm>
            <a:off x="7818120" y="5341773"/>
            <a:ext cx="3733495" cy="457200"/>
          </a:xfrm>
          <a:prstGeom prst="rect">
            <a:avLst/>
          </a:prstGeom>
          <a:noFill/>
        </p:spPr>
        <p:txBody>
          <a:bodyPr wrap="square" lIns="0" tIns="0" rIns="0" bIns="0" anchor="t">
            <a:noAutofit/>
          </a:bodyPr>
          <a:lstStyle/>
          <a:p>
            <a:pPr algn="l">
              <a:lnSpc>
                <a:spcPct val="105000"/>
              </a:lnSpc>
              <a:spcAft>
                <a:spcPts val="0"/>
              </a:spcAft>
            </a:pPr>
            <a:r>
              <a:rPr sz="1250" b="0" i="0">
                <a:solidFill>
                  <a:srgbClr val="AAB6C3"/>
                </a:solidFill>
                <a:latin typeface="Segoe UI"/>
              </a:rPr>
              <a:t>Fresh download → retrain → backtest in 8.2 s; opened on the next slide.</a:t>
            </a:r>
          </a:p>
        </p:txBody>
      </p:sp>
      <p:sp>
        <p:nvSpPr>
          <p:cNvPr id="12" name="shots_note"/>
          <p:cNvSpPr txBox="1"/>
          <p:nvPr/>
        </p:nvSpPr>
        <p:spPr>
          <a:xfrm>
            <a:off x="5120640" y="457200"/>
            <a:ext cx="6430975" cy="237744"/>
          </a:xfrm>
          <a:prstGeom prst="rect">
            <a:avLst/>
          </a:prstGeom>
          <a:noFill/>
        </p:spPr>
        <p:txBody>
          <a:bodyPr wrap="square" lIns="0" tIns="0" rIns="0" bIns="0" anchor="t">
            <a:noAutofit/>
          </a:bodyPr>
          <a:lstStyle/>
          <a:p>
            <a:pPr algn="r">
              <a:spcAft>
                <a:spcPts val="0"/>
              </a:spcAft>
            </a:pPr>
            <a:r>
              <a:rPr sz="1000" b="0" i="0" spc="100">
                <a:solidFill>
                  <a:srgbClr val="8291A2"/>
                </a:solidFill>
                <a:latin typeface="Consolas"/>
              </a:rPr>
              <a:t>REAL SCREENSHOTS · LOCALHOST:8501 · CAPTURED 24 OCT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42" presetClass="entr" presetSubtype="0" fill="hold"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anim calcmode="lin" valueType="num">
                                      <p:cBhvr>
                                        <p:cTn id="11" dur="600" fill="hold"/>
                                        <p:tgtEl>
                                          <p:spTgt spid="5"/>
                                        </p:tgtEl>
                                        <p:attrNameLst>
                                          <p:attrName>ppt_x</p:attrName>
                                        </p:attrNameLst>
                                      </p:cBhvr>
                                      <p:tavLst>
                                        <p:tav tm="0">
                                          <p:val>
                                            <p:strVal val="#ppt_x"/>
                                          </p:val>
                                        </p:tav>
                                        <p:tav tm="100000">
                                          <p:val>
                                            <p:strVal val="#ppt_x"/>
                                          </p:val>
                                        </p:tav>
                                      </p:tavLst>
                                    </p:anim>
                                    <p:anim calcmode="lin" valueType="num">
                                      <p:cBhvr>
                                        <p:cTn id="12" dur="600" fill="hold"/>
                                        <p:tgtEl>
                                          <p:spTgt spid="5"/>
                                        </p:tgtEl>
                                        <p:attrNameLst>
                                          <p:attrName>ppt_y</p:attrName>
                                        </p:attrNameLst>
                                      </p:cBhvr>
                                      <p:tavLst>
                                        <p:tav tm="0">
                                          <p:val>
                                            <p:strVal val="#ppt_y+.1"/>
                                          </p:val>
                                        </p:tav>
                                        <p:tav tm="100000">
                                          <p:val>
                                            <p:strVal val="#ppt_y"/>
                                          </p:val>
                                        </p:tav>
                                      </p:tavLst>
                                    </p:anim>
                                  </p:childTnLst>
                                </p:cTn>
                              </p:par>
                              <p:par>
                                <p:cTn id="13" presetID="10" presetClass="entr" presetSubtype="0" fill="hold" grpId="0" nodeType="withEffect">
                                  <p:stCondLst>
                                    <p:cond delay="3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00"/>
                                        <p:tgtEl>
                                          <p:spTgt spid="6"/>
                                        </p:tgtEl>
                                      </p:cBhvr>
                                    </p:animEffect>
                                  </p:childTnLst>
                                </p:cTn>
                              </p:par>
                              <p:par>
                                <p:cTn id="16" presetID="42" presetClass="entr" presetSubtype="0" fill="hold" nodeType="withEffect">
                                  <p:stCondLst>
                                    <p:cond delay="3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50"/>
                                        <p:tgtEl>
                                          <p:spTgt spid="7"/>
                                        </p:tgtEl>
                                      </p:cBhvr>
                                    </p:animEffect>
                                    <p:anim calcmode="lin" valueType="num">
                                      <p:cBhvr>
                                        <p:cTn id="19" dur="550" fill="hold"/>
                                        <p:tgtEl>
                                          <p:spTgt spid="7"/>
                                        </p:tgtEl>
                                        <p:attrNameLst>
                                          <p:attrName>ppt_x</p:attrName>
                                        </p:attrNameLst>
                                      </p:cBhvr>
                                      <p:tavLst>
                                        <p:tav tm="0">
                                          <p:val>
                                            <p:strVal val="#ppt_x"/>
                                          </p:val>
                                        </p:tav>
                                        <p:tav tm="100000">
                                          <p:val>
                                            <p:strVal val="#ppt_x"/>
                                          </p:val>
                                        </p:tav>
                                      </p:tavLst>
                                    </p:anim>
                                    <p:anim calcmode="lin" valueType="num">
                                      <p:cBhvr>
                                        <p:cTn id="20" dur="550" fill="hold"/>
                                        <p:tgtEl>
                                          <p:spTgt spid="7"/>
                                        </p:tgtEl>
                                        <p:attrNameLst>
                                          <p:attrName>ppt_y</p:attrName>
                                        </p:attrNameLst>
                                      </p:cBhvr>
                                      <p:tavLst>
                                        <p:tav tm="0">
                                          <p:val>
                                            <p:strVal val="#ppt_y+.1"/>
                                          </p:val>
                                        </p:tav>
                                        <p:tav tm="100000">
                                          <p:val>
                                            <p:strVal val="#ppt_y"/>
                                          </p:val>
                                        </p:tav>
                                      </p:tavLst>
                                    </p:anim>
                                  </p:childTnLst>
                                </p:cTn>
                              </p:par>
                              <p:par>
                                <p:cTn id="21" presetID="10" presetClass="entr" presetSubtype="0" fill="hold" grpId="0" nodeType="withEffect">
                                  <p:stCondLst>
                                    <p:cond delay="5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6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00"/>
                                        <p:tgtEl>
                                          <p:spTgt spid="9"/>
                                        </p:tgtEl>
                                      </p:cBhvr>
                                    </p:animEffect>
                                  </p:childTnLst>
                                </p:cTn>
                              </p:par>
                              <p:par>
                                <p:cTn id="27" presetID="42" presetClass="entr" presetSubtype="0" fill="hold" nodeType="withEffect">
                                  <p:stCondLst>
                                    <p:cond delay="65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50"/>
                                        <p:tgtEl>
                                          <p:spTgt spid="10"/>
                                        </p:tgtEl>
                                      </p:cBhvr>
                                    </p:animEffect>
                                    <p:anim calcmode="lin" valueType="num">
                                      <p:cBhvr>
                                        <p:cTn id="30" dur="550" fill="hold"/>
                                        <p:tgtEl>
                                          <p:spTgt spid="10"/>
                                        </p:tgtEl>
                                        <p:attrNameLst>
                                          <p:attrName>ppt_x</p:attrName>
                                        </p:attrNameLst>
                                      </p:cBhvr>
                                      <p:tavLst>
                                        <p:tav tm="0">
                                          <p:val>
                                            <p:strVal val="#ppt_x"/>
                                          </p:val>
                                        </p:tav>
                                        <p:tav tm="100000">
                                          <p:val>
                                            <p:strVal val="#ppt_x"/>
                                          </p:val>
                                        </p:tav>
                                      </p:tavLst>
                                    </p:anim>
                                    <p:anim calcmode="lin" valueType="num">
                                      <p:cBhvr>
                                        <p:cTn id="31" dur="550" fill="hold"/>
                                        <p:tgtEl>
                                          <p:spTgt spid="10"/>
                                        </p:tgtEl>
                                        <p:attrNameLst>
                                          <p:attrName>ppt_y</p:attrName>
                                        </p:attrNameLst>
                                      </p:cBhvr>
                                      <p:tavLst>
                                        <p:tav tm="0">
                                          <p:val>
                                            <p:strVal val="#ppt_y+.1"/>
                                          </p:val>
                                        </p:tav>
                                        <p:tav tm="100000">
                                          <p:val>
                                            <p:strVal val="#ppt_y"/>
                                          </p:val>
                                        </p:tav>
                                      </p:tavLst>
                                    </p:anim>
                                  </p:childTnLst>
                                </p:cTn>
                              </p:par>
                              <p:par>
                                <p:cTn id="32" presetID="10" presetClass="entr" presetSubtype="0" fill="hold" grpId="0" nodeType="withEffect">
                                  <p:stCondLst>
                                    <p:cond delay="8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par>
                          <p:cTn id="35" fill="hold">
                            <p:stCondLst>
                              <p:cond delay="1250"/>
                            </p:stCondLst>
                            <p:childTnLst>
                              <p:par>
                                <p:cTn id="36" presetID="10" presetClass="entr" presetSubtype="0"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P spid="1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Retrain live, with ten more months of data</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10 · LIVE SYSTEM</a:t>
            </a:r>
          </a:p>
        </p:txBody>
      </p:sp>
      <p:sp>
        <p:nvSpPr>
          <p:cNvPr id="4" name="!!tab_live"/>
          <p:cNvSpPr txBox="1"/>
          <p:nvPr/>
        </p:nvSpPr>
        <p:spPr>
          <a:xfrm>
            <a:off x="640080" y="1783080"/>
            <a:ext cx="6949440" cy="237744"/>
          </a:xfrm>
          <a:prstGeom prst="rect">
            <a:avLst/>
          </a:prstGeom>
          <a:noFill/>
        </p:spPr>
        <p:txBody>
          <a:bodyPr wrap="square" lIns="0" tIns="0" rIns="0" bIns="0" anchor="t">
            <a:noAutofit/>
          </a:bodyPr>
          <a:lstStyle/>
          <a:p>
            <a:pPr algn="l">
              <a:spcAft>
                <a:spcPts val="0"/>
              </a:spcAft>
            </a:pPr>
            <a:r>
              <a:rPr sz="1050" b="0" i="0" spc="100">
                <a:solidFill>
                  <a:srgbClr val="EAF0F6"/>
                </a:solidFill>
                <a:latin typeface="Consolas"/>
              </a:rPr>
              <a:t>TRAIN A MODEL LIVE</a:t>
            </a:r>
            <a:r>
              <a:rPr sz="1050" b="0" i="0" spc="100">
                <a:solidFill>
                  <a:srgbClr val="8291A2"/>
                </a:solidFill>
                <a:latin typeface="Consolas"/>
              </a:rPr>
              <a:t>   SPY · XGBoost · the study's tuned settings</a:t>
            </a:r>
          </a:p>
        </p:txBody>
      </p:sp>
      <p:pic>
        <p:nvPicPr>
          <p:cNvPr id="5" name="!!shot_live" descr="Screenshot of the dashboard's Train a model live tab after a live XGBoost run on SPY"/>
          <p:cNvPicPr>
            <a:picLocks noChangeAspect="1"/>
          </p:cNvPicPr>
          <p:nvPr/>
        </p:nvPicPr>
        <p:blipFill>
          <a:blip r:embed="rId3"/>
          <a:srcRect t="7220" b="1560"/>
          <a:stretch>
            <a:fillRect/>
          </a:stretch>
        </p:blipFill>
        <p:spPr>
          <a:xfrm>
            <a:off x="640080" y="2103120"/>
            <a:ext cx="6949440" cy="3565845"/>
          </a:xfrm>
          <a:prstGeom prst="roundRect">
            <a:avLst>
              <a:gd name="adj" fmla="val 2200"/>
            </a:avLst>
          </a:prstGeom>
          <a:ln w="12700">
            <a:solidFill>
              <a:srgbClr val="3A4D63"/>
            </a:solidFill>
          </a:ln>
          <a:effectLst>
            <a:outerShdw blurRad="381000" dist="114300" dir="5400000" algn="t" rotWithShape="0">
              <a:srgbClr val="000000">
                <a:alpha val="60000"/>
              </a:srgbClr>
            </a:outerShdw>
          </a:effectLst>
        </p:spPr>
      </p:pic>
      <p:sp>
        <p:nvSpPr>
          <p:cNvPr id="6" name="live_label"/>
          <p:cNvSpPr txBox="1"/>
          <p:nvPr/>
        </p:nvSpPr>
        <p:spPr>
          <a:xfrm>
            <a:off x="7818120" y="1783080"/>
            <a:ext cx="3733495" cy="256032"/>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LIVE RUN · 24 OCT 2026</a:t>
            </a:r>
          </a:p>
        </p:txBody>
      </p:sp>
      <p:grpSp>
        <p:nvGrpSpPr>
          <p:cNvPr id="7" name="live_1"/>
          <p:cNvGrpSpPr/>
          <p:nvPr/>
        </p:nvGrpSpPr>
        <p:grpSpPr>
          <a:xfrm>
            <a:off x="7818120" y="2176272"/>
            <a:ext cx="3733495" cy="1051560"/>
            <a:chOff x="7818120" y="2176272"/>
            <a:chExt cx="3733495" cy="1051560"/>
          </a:xfrm>
        </p:grpSpPr>
        <p:sp>
          <p:nvSpPr>
            <p:cNvPr id="8" name="TextBox 7"/>
            <p:cNvSpPr txBox="1"/>
            <p:nvPr/>
          </p:nvSpPr>
          <p:spPr>
            <a:xfrm>
              <a:off x="7818120" y="2176272"/>
              <a:ext cx="3733495" cy="548640"/>
            </a:xfrm>
            <a:prstGeom prst="rect">
              <a:avLst/>
            </a:prstGeom>
            <a:noFill/>
          </p:spPr>
          <p:txBody>
            <a:bodyPr wrap="square" lIns="0" tIns="0" rIns="0" bIns="0" anchor="t">
              <a:noAutofit/>
            </a:bodyPr>
            <a:lstStyle/>
            <a:p>
              <a:pPr algn="l">
                <a:spcAft>
                  <a:spcPts val="0"/>
                </a:spcAft>
              </a:pPr>
              <a:r>
                <a:rPr sz="3400" b="0" i="0">
                  <a:solidFill>
                    <a:srgbClr val="EAF0F6"/>
                  </a:solidFill>
                  <a:latin typeface="Segoe UI Light"/>
                </a:rPr>
                <a:t>8.2 s</a:t>
              </a:r>
            </a:p>
          </p:txBody>
        </p:sp>
        <p:sp>
          <p:nvSpPr>
            <p:cNvPr id="9" name="TextBox 8"/>
            <p:cNvSpPr txBox="1"/>
            <p:nvPr/>
          </p:nvSpPr>
          <p:spPr>
            <a:xfrm>
              <a:off x="7818120" y="2724912"/>
              <a:ext cx="3733495" cy="502920"/>
            </a:xfrm>
            <a:prstGeom prst="rect">
              <a:avLst/>
            </a:prstGeom>
            <a:noFill/>
          </p:spPr>
          <p:txBody>
            <a:bodyPr wrap="square" lIns="0" tIns="0" rIns="0" bIns="0" anchor="t">
              <a:noAutofit/>
            </a:bodyPr>
            <a:lstStyle/>
            <a:p>
              <a:pPr algn="l">
                <a:lnSpc>
                  <a:spcPct val="100000"/>
                </a:lnSpc>
                <a:spcAft>
                  <a:spcPts val="0"/>
                </a:spcAft>
              </a:pPr>
              <a:r>
                <a:rPr sz="1250" b="0" i="0">
                  <a:solidFill>
                    <a:srgbClr val="AAB6C3"/>
                  </a:solidFill>
                  <a:latin typeface="Segoe UI"/>
                </a:rPr>
                <a:t>fresh download → features → split → XGBoost with the study's settings → τ → backtest (no re-tuning)</a:t>
              </a:r>
            </a:p>
          </p:txBody>
        </p:sp>
      </p:grpSp>
      <p:grpSp>
        <p:nvGrpSpPr>
          <p:cNvPr id="10" name="live_2"/>
          <p:cNvGrpSpPr/>
          <p:nvPr/>
        </p:nvGrpSpPr>
        <p:grpSpPr>
          <a:xfrm>
            <a:off x="7818120" y="3310128"/>
            <a:ext cx="3733495" cy="1051560"/>
            <a:chOff x="7818120" y="3310128"/>
            <a:chExt cx="3733495" cy="1051560"/>
          </a:xfrm>
        </p:grpSpPr>
        <p:sp>
          <p:nvSpPr>
            <p:cNvPr id="11" name="TextBox 10"/>
            <p:cNvSpPr txBox="1"/>
            <p:nvPr/>
          </p:nvSpPr>
          <p:spPr>
            <a:xfrm>
              <a:off x="7818120" y="3310128"/>
              <a:ext cx="3733495" cy="548640"/>
            </a:xfrm>
            <a:prstGeom prst="rect">
              <a:avLst/>
            </a:prstGeom>
            <a:noFill/>
          </p:spPr>
          <p:txBody>
            <a:bodyPr wrap="square" lIns="0" tIns="0" rIns="0" bIns="0" anchor="t">
              <a:noAutofit/>
            </a:bodyPr>
            <a:lstStyle/>
            <a:p>
              <a:pPr algn="l">
                <a:spcAft>
                  <a:spcPts val="0"/>
                </a:spcAft>
              </a:pPr>
              <a:r>
                <a:rPr sz="3400" b="0" i="0">
                  <a:solidFill>
                    <a:srgbClr val="EAF0F6"/>
                  </a:solidFill>
                  <a:latin typeface="Segoe UI Light"/>
                </a:rPr>
                <a:t>1,205</a:t>
              </a:r>
            </a:p>
          </p:txBody>
        </p:sp>
        <p:sp>
          <p:nvSpPr>
            <p:cNvPr id="12" name="TextBox 11"/>
            <p:cNvSpPr txBox="1"/>
            <p:nvPr/>
          </p:nvSpPr>
          <p:spPr>
            <a:xfrm>
              <a:off x="7818120" y="3858768"/>
              <a:ext cx="3733495" cy="502920"/>
            </a:xfrm>
            <a:prstGeom prst="rect">
              <a:avLst/>
            </a:prstGeom>
            <a:noFill/>
          </p:spPr>
          <p:txBody>
            <a:bodyPr wrap="square" lIns="0" tIns="0" rIns="0" bIns="0" anchor="t">
              <a:noAutofit/>
            </a:bodyPr>
            <a:lstStyle/>
            <a:p>
              <a:pPr algn="l">
                <a:lnSpc>
                  <a:spcPct val="100000"/>
                </a:lnSpc>
                <a:spcAft>
                  <a:spcPts val="0"/>
                </a:spcAft>
              </a:pPr>
              <a:r>
                <a:rPr sz="1250" b="0" i="0">
                  <a:solidFill>
                    <a:srgbClr val="AAB6C3"/>
                  </a:solidFill>
                  <a:latin typeface="Segoe UI"/>
                </a:rPr>
                <a:t>test days to 21 Oct 2026, 204 more than the study's test set</a:t>
              </a:r>
            </a:p>
          </p:txBody>
        </p:sp>
      </p:grpSp>
      <p:grpSp>
        <p:nvGrpSpPr>
          <p:cNvPr id="13" name="live_3"/>
          <p:cNvGrpSpPr/>
          <p:nvPr/>
        </p:nvGrpSpPr>
        <p:grpSpPr>
          <a:xfrm>
            <a:off x="7818120" y="4443984"/>
            <a:ext cx="3733495" cy="1051560"/>
            <a:chOff x="7818120" y="4443984"/>
            <a:chExt cx="3733495" cy="1051560"/>
          </a:xfrm>
        </p:grpSpPr>
        <p:sp>
          <p:nvSpPr>
            <p:cNvPr id="14" name="TextBox 13"/>
            <p:cNvSpPr txBox="1"/>
            <p:nvPr/>
          </p:nvSpPr>
          <p:spPr>
            <a:xfrm>
              <a:off x="7818120" y="4443984"/>
              <a:ext cx="3733495" cy="548640"/>
            </a:xfrm>
            <a:prstGeom prst="rect">
              <a:avLst/>
            </a:prstGeom>
            <a:noFill/>
          </p:spPr>
          <p:txBody>
            <a:bodyPr wrap="square" lIns="0" tIns="0" rIns="0" bIns="0" anchor="t">
              <a:noAutofit/>
            </a:bodyPr>
            <a:lstStyle/>
            <a:p>
              <a:pPr algn="l">
                <a:spcAft>
                  <a:spcPts val="0"/>
                </a:spcAft>
              </a:pPr>
              <a:r>
                <a:rPr sz="3400" b="0" i="0">
                  <a:solidFill>
                    <a:srgbClr val="EAF0F6"/>
                  </a:solidFill>
                  <a:latin typeface="Segoe UI Light"/>
                </a:rPr>
                <a:t>0.68 vs 0.71</a:t>
              </a:r>
            </a:p>
          </p:txBody>
        </p:sp>
        <p:sp>
          <p:nvSpPr>
            <p:cNvPr id="15" name="TextBox 14"/>
            <p:cNvSpPr txBox="1"/>
            <p:nvPr/>
          </p:nvSpPr>
          <p:spPr>
            <a:xfrm>
              <a:off x="7818120" y="4992624"/>
              <a:ext cx="3733495" cy="502920"/>
            </a:xfrm>
            <a:prstGeom prst="rect">
              <a:avLst/>
            </a:prstGeom>
            <a:noFill/>
          </p:spPr>
          <p:txBody>
            <a:bodyPr wrap="square" lIns="0" tIns="0" rIns="0" bIns="0" anchor="t">
              <a:noAutofit/>
            </a:bodyPr>
            <a:lstStyle/>
            <a:p>
              <a:pPr algn="l">
                <a:lnSpc>
                  <a:spcPct val="100000"/>
                </a:lnSpc>
                <a:spcAft>
                  <a:spcPts val="0"/>
                </a:spcAft>
              </a:pPr>
              <a:r>
                <a:rPr sz="1250" b="0" i="0">
                  <a:solidFill>
                    <a:srgbClr val="AAB6C3"/>
                  </a:solidFill>
                  <a:latin typeface="Segoe UI"/>
                </a:rPr>
                <a:t>Sharpe over the whole live window: XGBoost vs buy-and-hold</a:t>
              </a:r>
            </a:p>
          </p:txBody>
        </p:sp>
      </p:grpSp>
      <p:sp>
        <p:nvSpPr>
          <p:cNvPr id="16" name="live_verdict"/>
          <p:cNvSpPr txBox="1"/>
          <p:nvPr/>
        </p:nvSpPr>
        <p:spPr>
          <a:xfrm>
            <a:off x="7818120" y="5623560"/>
            <a:ext cx="3733495" cy="329184"/>
          </a:xfrm>
          <a:prstGeom prst="rect">
            <a:avLst/>
          </a:prstGeom>
          <a:noFill/>
        </p:spPr>
        <p:txBody>
          <a:bodyPr wrap="square" lIns="0" tIns="0" rIns="0" bIns="0" anchor="t">
            <a:noAutofit/>
          </a:bodyPr>
          <a:lstStyle/>
          <a:p>
            <a:pPr algn="l">
              <a:spcAft>
                <a:spcPts val="0"/>
              </a:spcAft>
            </a:pPr>
            <a:r>
              <a:rPr sz="1500" b="0" i="0">
                <a:solidFill>
                  <a:srgbClr val="FFB547"/>
                </a:solidFill>
                <a:latin typeface="Segoe UI Semibold"/>
              </a:rPr>
              <a:t>Consistent with the results that follow.</a:t>
            </a:r>
          </a:p>
        </p:txBody>
      </p:sp>
      <p:sp>
        <p:nvSpPr>
          <p:cNvPr id="17" name="shots_note"/>
          <p:cNvSpPr txBox="1"/>
          <p:nvPr/>
        </p:nvSpPr>
        <p:spPr>
          <a:xfrm>
            <a:off x="5120640" y="457200"/>
            <a:ext cx="6430975" cy="237744"/>
          </a:xfrm>
          <a:prstGeom prst="rect">
            <a:avLst/>
          </a:prstGeom>
          <a:noFill/>
        </p:spPr>
        <p:txBody>
          <a:bodyPr wrap="square" lIns="0" tIns="0" rIns="0" bIns="0" anchor="t">
            <a:noAutofit/>
          </a:bodyPr>
          <a:lstStyle/>
          <a:p>
            <a:pPr algn="r">
              <a:spcAft>
                <a:spcPts val="0"/>
              </a:spcAft>
            </a:pPr>
            <a:r>
              <a:rPr sz="1000" b="0" i="0" spc="100">
                <a:solidFill>
                  <a:srgbClr val="8291A2"/>
                </a:solidFill>
                <a:latin typeface="Consolas"/>
              </a:rPr>
              <a:t>REAL SCREENSHOT · ONE RUN, NOT PART OF THE REPORTED RESULTS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42"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anim calcmode="lin" valueType="num">
                                      <p:cBhvr>
                                        <p:cTn id="11" dur="500" fill="hold"/>
                                        <p:tgtEl>
                                          <p:spTgt spid="7"/>
                                        </p:tgtEl>
                                        <p:attrNameLst>
                                          <p:attrName>ppt_x</p:attrName>
                                        </p:attrNameLst>
                                      </p:cBhvr>
                                      <p:tavLst>
                                        <p:tav tm="0">
                                          <p:val>
                                            <p:strVal val="#ppt_x"/>
                                          </p:val>
                                        </p:tav>
                                        <p:tav tm="100000">
                                          <p:val>
                                            <p:strVal val="#ppt_x"/>
                                          </p:val>
                                        </p:tav>
                                      </p:tavLst>
                                    </p:anim>
                                    <p:anim calcmode="lin" valueType="num">
                                      <p:cBhvr>
                                        <p:cTn id="12" dur="500" fill="hold"/>
                                        <p:tgtEl>
                                          <p:spTgt spid="7"/>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30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anim calcmode="lin" valueType="num">
                                      <p:cBhvr>
                                        <p:cTn id="16" dur="500" fill="hold"/>
                                        <p:tgtEl>
                                          <p:spTgt spid="10"/>
                                        </p:tgtEl>
                                        <p:attrNameLst>
                                          <p:attrName>ppt_x</p:attrName>
                                        </p:attrNameLst>
                                      </p:cBhvr>
                                      <p:tavLst>
                                        <p:tav tm="0">
                                          <p:val>
                                            <p:strVal val="#ppt_x"/>
                                          </p:val>
                                        </p:tav>
                                        <p:tav tm="100000">
                                          <p:val>
                                            <p:strVal val="#ppt_x"/>
                                          </p:val>
                                        </p:tav>
                                      </p:tavLst>
                                    </p:anim>
                                    <p:anim calcmode="lin" valueType="num">
                                      <p:cBhvr>
                                        <p:cTn id="17" dur="500" fill="hold"/>
                                        <p:tgtEl>
                                          <p:spTgt spid="10"/>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45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anim calcmode="lin" valueType="num">
                                      <p:cBhvr>
                                        <p:cTn id="21" dur="500" fill="hold"/>
                                        <p:tgtEl>
                                          <p:spTgt spid="13"/>
                                        </p:tgtEl>
                                        <p:attrNameLst>
                                          <p:attrName>ppt_x</p:attrName>
                                        </p:attrNameLst>
                                      </p:cBhvr>
                                      <p:tavLst>
                                        <p:tav tm="0">
                                          <p:val>
                                            <p:strVal val="#ppt_x"/>
                                          </p:val>
                                        </p:tav>
                                        <p:tav tm="100000">
                                          <p:val>
                                            <p:strVal val="#ppt_x"/>
                                          </p:val>
                                        </p:tav>
                                      </p:tavLst>
                                    </p:anim>
                                    <p:anim calcmode="lin" valueType="num">
                                      <p:cBhvr>
                                        <p:cTn id="22" dur="500" fill="hold"/>
                                        <p:tgtEl>
                                          <p:spTgt spid="13"/>
                                        </p:tgtEl>
                                        <p:attrNameLst>
                                          <p:attrName>ppt_y</p:attrName>
                                        </p:attrNameLst>
                                      </p:cBhvr>
                                      <p:tavLst>
                                        <p:tav tm="0">
                                          <p:val>
                                            <p:strVal val="#ppt_y+.1"/>
                                          </p:val>
                                        </p:tav>
                                        <p:tav tm="100000">
                                          <p:val>
                                            <p:strVal val="#ppt_y"/>
                                          </p:val>
                                        </p:tav>
                                      </p:tavLst>
                                    </p:anim>
                                  </p:childTnLst>
                                </p:cTn>
                              </p:par>
                            </p:childTnLst>
                          </p:cTn>
                        </p:par>
                        <p:par>
                          <p:cTn id="23" fill="hold">
                            <p:stCondLst>
                              <p:cond delay="950"/>
                            </p:stCondLst>
                            <p:childTnLst>
                              <p:par>
                                <p:cTn id="24" presetID="10" presetClass="entr" presetSubtype="0" fill="hold" grpId="0"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2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6" grpId="0"/>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Accuracy: none reliably beat 'always predict Up'</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11 · RESULTS</a:t>
            </a:r>
          </a:p>
        </p:txBody>
      </p:sp>
      <p:sp>
        <p:nvSpPr>
          <p:cNvPr id="4" name="chart_head"/>
          <p:cNvSpPr txBox="1"/>
          <p:nvPr/>
        </p:nvSpPr>
        <p:spPr>
          <a:xfrm>
            <a:off x="640080" y="1783080"/>
            <a:ext cx="7086600" cy="274320"/>
          </a:xfrm>
          <a:prstGeom prst="rect">
            <a:avLst/>
          </a:prstGeom>
          <a:noFill/>
        </p:spPr>
        <p:txBody>
          <a:bodyPr wrap="square" lIns="0" tIns="0" rIns="0" bIns="0" anchor="t">
            <a:noAutofit/>
          </a:bodyPr>
          <a:lstStyle/>
          <a:p>
            <a:pPr algn="l">
              <a:spcAft>
                <a:spcPts val="0"/>
              </a:spcAft>
            </a:pPr>
            <a:r>
              <a:rPr sz="1300" b="0" i="0">
                <a:solidFill>
                  <a:srgbClr val="AAB6C3"/>
                </a:solidFill>
                <a:latin typeface="Segoe UI"/>
              </a:rPr>
              <a:t>Test accuracy minus 'always predict Up', percentage points (95% bootstrap CI)</a:t>
            </a:r>
          </a:p>
        </p:txBody>
      </p:sp>
      <p:graphicFrame>
        <p:nvGraphicFramePr>
          <p:cNvPr id="5" name="chart_acc"/>
          <p:cNvGraphicFramePr>
            <a:graphicFrameLocks noGrp="1"/>
          </p:cNvGraphicFramePr>
          <p:nvPr/>
        </p:nvGraphicFramePr>
        <p:xfrm>
          <a:off x="640080" y="2148840"/>
          <a:ext cx="7086600" cy="3749040"/>
        </p:xfrm>
        <a:graphic>
          <a:graphicData uri="http://schemas.openxmlformats.org/drawingml/2006/chart">
            <c:chart xmlns:c="http://schemas.openxmlformats.org/drawingml/2006/chart" xmlns:r="http://schemas.openxmlformats.org/officeDocument/2006/relationships" r:id="rId3"/>
          </a:graphicData>
        </a:graphic>
      </p:graphicFrame>
      <p:grpSp>
        <p:nvGrpSpPr>
          <p:cNvPr id="6" name="acc_1"/>
          <p:cNvGrpSpPr/>
          <p:nvPr/>
        </p:nvGrpSpPr>
        <p:grpSpPr>
          <a:xfrm>
            <a:off x="8092440" y="1783080"/>
            <a:ext cx="3459175" cy="1234440"/>
            <a:chOff x="8092440" y="1783080"/>
            <a:chExt cx="3459175" cy="1234440"/>
          </a:xfrm>
        </p:grpSpPr>
        <p:sp>
          <p:nvSpPr>
            <p:cNvPr id="7" name="TextBox 6"/>
            <p:cNvSpPr txBox="1"/>
            <p:nvPr/>
          </p:nvSpPr>
          <p:spPr>
            <a:xfrm>
              <a:off x="8092440" y="1783080"/>
              <a:ext cx="3459175" cy="685800"/>
            </a:xfrm>
            <a:prstGeom prst="rect">
              <a:avLst/>
            </a:prstGeom>
            <a:noFill/>
          </p:spPr>
          <p:txBody>
            <a:bodyPr wrap="square" lIns="0" tIns="0" rIns="0" bIns="0" anchor="t">
              <a:noAutofit/>
            </a:bodyPr>
            <a:lstStyle/>
            <a:p>
              <a:pPr algn="l">
                <a:spcAft>
                  <a:spcPts val="0"/>
                </a:spcAft>
              </a:pPr>
              <a:r>
                <a:rPr sz="3800" b="0" i="0">
                  <a:solidFill>
                    <a:srgbClr val="EAF0F6"/>
                  </a:solidFill>
                  <a:latin typeface="Segoe UI Light"/>
                </a:rPr>
                <a:t>47.2–51.0%</a:t>
              </a:r>
            </a:p>
          </p:txBody>
        </p:sp>
        <p:sp>
          <p:nvSpPr>
            <p:cNvPr id="8" name="TextBox 7"/>
            <p:cNvSpPr txBox="1"/>
            <p:nvPr/>
          </p:nvSpPr>
          <p:spPr>
            <a:xfrm>
              <a:off x="8092440" y="2468880"/>
              <a:ext cx="3459175" cy="548640"/>
            </a:xfrm>
            <a:prstGeom prst="rect">
              <a:avLst/>
            </a:prstGeom>
            <a:noFill/>
          </p:spPr>
          <p:txBody>
            <a:bodyPr wrap="square" lIns="0" tIns="0" rIns="0" bIns="0" anchor="t">
              <a:noAutofit/>
            </a:bodyPr>
            <a:lstStyle/>
            <a:p>
              <a:pPr algn="l">
                <a:lnSpc>
                  <a:spcPct val="105000"/>
                </a:lnSpc>
                <a:spcAft>
                  <a:spcPts val="0"/>
                </a:spcAft>
              </a:pPr>
              <a:r>
                <a:rPr sz="1300" b="0" i="0">
                  <a:solidFill>
                    <a:srgbClr val="AAB6C3"/>
                  </a:solidFill>
                  <a:latin typeface="Segoe UI"/>
                </a:rPr>
                <a:t>test accuracy, 5 models × 3 tickers</a:t>
              </a:r>
            </a:p>
          </p:txBody>
        </p:sp>
      </p:grpSp>
      <p:grpSp>
        <p:nvGrpSpPr>
          <p:cNvPr id="9" name="acc_2"/>
          <p:cNvGrpSpPr/>
          <p:nvPr/>
        </p:nvGrpSpPr>
        <p:grpSpPr>
          <a:xfrm>
            <a:off x="8092440" y="3154680"/>
            <a:ext cx="3459175" cy="1234440"/>
            <a:chOff x="8092440" y="3154680"/>
            <a:chExt cx="3459175" cy="1234440"/>
          </a:xfrm>
        </p:grpSpPr>
        <p:sp>
          <p:nvSpPr>
            <p:cNvPr id="10" name="TextBox 9"/>
            <p:cNvSpPr txBox="1"/>
            <p:nvPr/>
          </p:nvSpPr>
          <p:spPr>
            <a:xfrm>
              <a:off x="8092440" y="3154680"/>
              <a:ext cx="3459175" cy="685800"/>
            </a:xfrm>
            <a:prstGeom prst="rect">
              <a:avLst/>
            </a:prstGeom>
            <a:noFill/>
          </p:spPr>
          <p:txBody>
            <a:bodyPr wrap="square" lIns="0" tIns="0" rIns="0" bIns="0" anchor="t">
              <a:noAutofit/>
            </a:bodyPr>
            <a:lstStyle/>
            <a:p>
              <a:pPr algn="l">
                <a:spcAft>
                  <a:spcPts val="0"/>
                </a:spcAft>
              </a:pPr>
              <a:r>
                <a:rPr sz="3800" b="0" i="0">
                  <a:solidFill>
                    <a:srgbClr val="8291A2"/>
                  </a:solidFill>
                  <a:latin typeface="Segoe UI Light"/>
                </a:rPr>
                <a:t>49.5–50.2%</a:t>
              </a:r>
            </a:p>
          </p:txBody>
        </p:sp>
        <p:sp>
          <p:nvSpPr>
            <p:cNvPr id="11" name="TextBox 10"/>
            <p:cNvSpPr txBox="1"/>
            <p:nvPr/>
          </p:nvSpPr>
          <p:spPr>
            <a:xfrm>
              <a:off x="8092440" y="3840480"/>
              <a:ext cx="3459175" cy="548640"/>
            </a:xfrm>
            <a:prstGeom prst="rect">
              <a:avLst/>
            </a:prstGeom>
            <a:noFill/>
          </p:spPr>
          <p:txBody>
            <a:bodyPr wrap="square" lIns="0" tIns="0" rIns="0" bIns="0" anchor="t">
              <a:noAutofit/>
            </a:bodyPr>
            <a:lstStyle/>
            <a:p>
              <a:pPr algn="l">
                <a:lnSpc>
                  <a:spcPct val="105000"/>
                </a:lnSpc>
                <a:spcAft>
                  <a:spcPts val="0"/>
                </a:spcAft>
              </a:pPr>
              <a:r>
                <a:rPr sz="1300" b="0" i="0">
                  <a:solidFill>
                    <a:srgbClr val="AAB6C3"/>
                  </a:solidFill>
                  <a:latin typeface="Segoe UI"/>
                </a:rPr>
                <a:t>accuracy of 'always predict Up', the majority class</a:t>
              </a:r>
            </a:p>
          </p:txBody>
        </p:sp>
      </p:grpSp>
      <p:grpSp>
        <p:nvGrpSpPr>
          <p:cNvPr id="12" name="acc_3"/>
          <p:cNvGrpSpPr/>
          <p:nvPr/>
        </p:nvGrpSpPr>
        <p:grpSpPr>
          <a:xfrm>
            <a:off x="8092440" y="4526280"/>
            <a:ext cx="3459175" cy="1234440"/>
            <a:chOff x="8092440" y="4526280"/>
            <a:chExt cx="3459175" cy="1234440"/>
          </a:xfrm>
        </p:grpSpPr>
        <p:sp>
          <p:nvSpPr>
            <p:cNvPr id="13" name="TextBox 12"/>
            <p:cNvSpPr txBox="1"/>
            <p:nvPr/>
          </p:nvSpPr>
          <p:spPr>
            <a:xfrm>
              <a:off x="8092440" y="4526280"/>
              <a:ext cx="3459175" cy="685800"/>
            </a:xfrm>
            <a:prstGeom prst="rect">
              <a:avLst/>
            </a:prstGeom>
            <a:noFill/>
          </p:spPr>
          <p:txBody>
            <a:bodyPr wrap="square" lIns="0" tIns="0" rIns="0" bIns="0" anchor="t">
              <a:noAutofit/>
            </a:bodyPr>
            <a:lstStyle/>
            <a:p>
              <a:pPr algn="l">
                <a:spcAft>
                  <a:spcPts val="0"/>
                </a:spcAft>
              </a:pPr>
              <a:r>
                <a:rPr sz="3800" b="0" i="0">
                  <a:solidFill>
                    <a:srgbClr val="FFB547"/>
                  </a:solidFill>
                  <a:latin typeface="Segoe UI Light"/>
                </a:rPr>
                <a:t>1 / 15</a:t>
              </a:r>
            </a:p>
          </p:txBody>
        </p:sp>
        <p:sp>
          <p:nvSpPr>
            <p:cNvPr id="14" name="TextBox 13"/>
            <p:cNvSpPr txBox="1"/>
            <p:nvPr/>
          </p:nvSpPr>
          <p:spPr>
            <a:xfrm>
              <a:off x="8092440" y="5212080"/>
              <a:ext cx="3459175" cy="548640"/>
            </a:xfrm>
            <a:prstGeom prst="rect">
              <a:avLst/>
            </a:prstGeom>
            <a:noFill/>
          </p:spPr>
          <p:txBody>
            <a:bodyPr wrap="square" lIns="0" tIns="0" rIns="0" bIns="0" anchor="t">
              <a:noAutofit/>
            </a:bodyPr>
            <a:lstStyle/>
            <a:p>
              <a:pPr algn="l">
                <a:lnSpc>
                  <a:spcPct val="105000"/>
                </a:lnSpc>
                <a:spcAft>
                  <a:spcPts val="0"/>
                </a:spcAft>
              </a:pPr>
              <a:r>
                <a:rPr sz="1300" b="0" i="0">
                  <a:solidFill>
                    <a:srgbClr val="AAB6C3"/>
                  </a:solidFill>
                  <a:latin typeface="Segoe UI"/>
                </a:rPr>
                <a:t>differs reliably from that baseline: SPY XGBoost, 2.3 pp worse</a:t>
              </a: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22" presetClass="entr" presetSubtype="4" fill="hold" grpId="0"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900"/>
                                        <p:tgtEl>
                                          <p:spTgt spid="5"/>
                                        </p:tgtEl>
                                      </p:cBhvr>
                                    </p:animEffect>
                                  </p:childTnLst>
                                </p:cTn>
                              </p:par>
                            </p:childTnLst>
                          </p:cTn>
                        </p:par>
                        <p:par>
                          <p:cTn id="11" fill="hold">
                            <p:stCondLst>
                              <p:cond delay="1000"/>
                            </p:stCondLst>
                            <p:childTnLst>
                              <p:par>
                                <p:cTn id="12" presetID="42"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anim calcmode="lin" valueType="num">
                                      <p:cBhvr>
                                        <p:cTn id="15" dur="500" fill="hold"/>
                                        <p:tgtEl>
                                          <p:spTgt spid="6"/>
                                        </p:tgtEl>
                                        <p:attrNameLst>
                                          <p:attrName>ppt_x</p:attrName>
                                        </p:attrNameLst>
                                      </p:cBhvr>
                                      <p:tavLst>
                                        <p:tav tm="0">
                                          <p:val>
                                            <p:strVal val="#ppt_x"/>
                                          </p:val>
                                        </p:tav>
                                        <p:tav tm="100000">
                                          <p:val>
                                            <p:strVal val="#ppt_x"/>
                                          </p:val>
                                        </p:tav>
                                      </p:tavLst>
                                    </p:anim>
                                    <p:anim calcmode="lin" valueType="num">
                                      <p:cBhvr>
                                        <p:cTn id="16" dur="5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2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anim calcmode="lin" valueType="num">
                                      <p:cBhvr>
                                        <p:cTn id="20" dur="500" fill="hold"/>
                                        <p:tgtEl>
                                          <p:spTgt spid="9"/>
                                        </p:tgtEl>
                                        <p:attrNameLst>
                                          <p:attrName>ppt_x</p:attrName>
                                        </p:attrNameLst>
                                      </p:cBhvr>
                                      <p:tavLst>
                                        <p:tav tm="0">
                                          <p:val>
                                            <p:strVal val="#ppt_x"/>
                                          </p:val>
                                        </p:tav>
                                        <p:tav tm="100000">
                                          <p:val>
                                            <p:strVal val="#ppt_x"/>
                                          </p:val>
                                        </p:tav>
                                      </p:tavLst>
                                    </p:anim>
                                    <p:anim calcmode="lin" valueType="num">
                                      <p:cBhvr>
                                        <p:cTn id="21" dur="5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40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anim calcmode="lin" valueType="num">
                                      <p:cBhvr>
                                        <p:cTn id="25" dur="500" fill="hold"/>
                                        <p:tgtEl>
                                          <p:spTgt spid="12"/>
                                        </p:tgtEl>
                                        <p:attrNameLst>
                                          <p:attrName>ppt_x</p:attrName>
                                        </p:attrNameLst>
                                      </p:cBhvr>
                                      <p:tavLst>
                                        <p:tav tm="0">
                                          <p:val>
                                            <p:strVal val="#ppt_x"/>
                                          </p:val>
                                        </p:tav>
                                        <p:tav tm="100000">
                                          <p:val>
                                            <p:strVal val="#ppt_x"/>
                                          </p:val>
                                        </p:tav>
                                      </p:tavLst>
                                    </p:anim>
                                    <p:anim calcmode="lin" valueType="num">
                                      <p:cBhvr>
                                        <p:cTn id="26" dur="5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Graphic spid="5"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Trading: none of the 15 reliably beat buy-and-hold</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11 · RESULTS</a:t>
            </a:r>
          </a:p>
        </p:txBody>
      </p:sp>
      <p:sp>
        <p:nvSpPr>
          <p:cNvPr id="4" name="chart_head"/>
          <p:cNvSpPr txBox="1"/>
          <p:nvPr/>
        </p:nvSpPr>
        <p:spPr>
          <a:xfrm>
            <a:off x="640080" y="1783080"/>
            <a:ext cx="7086600" cy="274320"/>
          </a:xfrm>
          <a:prstGeom prst="rect">
            <a:avLst/>
          </a:prstGeom>
          <a:noFill/>
        </p:spPr>
        <p:txBody>
          <a:bodyPr wrap="square" lIns="0" tIns="0" rIns="0" bIns="0" anchor="t">
            <a:noAutofit/>
          </a:bodyPr>
          <a:lstStyle/>
          <a:p>
            <a:pPr algn="l">
              <a:spcAft>
                <a:spcPts val="0"/>
              </a:spcAft>
            </a:pPr>
            <a:r>
              <a:rPr sz="1300" b="0" i="0">
                <a:solidFill>
                  <a:srgbClr val="AAB6C3"/>
                </a:solidFill>
                <a:latin typeface="Segoe UI"/>
              </a:rPr>
              <a:t>τ-rule strategies: Sharpe minus buy-and-hold, test 2022–25 (95% bootstrap CI)</a:t>
            </a:r>
          </a:p>
        </p:txBody>
      </p:sp>
      <p:graphicFrame>
        <p:nvGraphicFramePr>
          <p:cNvPr id="5" name="chart_sharpe"/>
          <p:cNvGraphicFramePr>
            <a:graphicFrameLocks noGrp="1"/>
          </p:cNvGraphicFramePr>
          <p:nvPr/>
        </p:nvGraphicFramePr>
        <p:xfrm>
          <a:off x="640080" y="2103120"/>
          <a:ext cx="708660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6" name="chart_key"/>
          <p:cNvSpPr txBox="1"/>
          <p:nvPr/>
        </p:nvSpPr>
        <p:spPr>
          <a:xfrm>
            <a:off x="640080" y="5815584"/>
            <a:ext cx="10911535" cy="457200"/>
          </a:xfrm>
          <a:prstGeom prst="rect">
            <a:avLst/>
          </a:prstGeom>
          <a:noFill/>
        </p:spPr>
        <p:txBody>
          <a:bodyPr wrap="square" lIns="0" tIns="0" rIns="0" bIns="0" anchor="t">
            <a:noAutofit/>
          </a:bodyPr>
          <a:lstStyle/>
          <a:p>
            <a:pPr algn="l">
              <a:spcAft>
                <a:spcPts val="200"/>
              </a:spcAft>
            </a:pPr>
            <a:r>
              <a:rPr sz="1150" b="0" i="0">
                <a:solidFill>
                  <a:srgbClr val="FF6B6B"/>
                </a:solidFill>
                <a:latin typeface="Segoe UI"/>
              </a:rPr>
              <a:t>■ </a:t>
            </a:r>
            <a:r>
              <a:rPr sz="1150" b="0" i="0">
                <a:solidFill>
                  <a:srgbClr val="8291A2"/>
                </a:solidFill>
                <a:latin typeface="Segoe UI"/>
              </a:rPr>
              <a:t>coral: 95% interval excludes zero (reliably worse)</a:t>
            </a:r>
          </a:p>
          <a:p>
            <a:pPr algn="l">
              <a:spcAft>
                <a:spcPts val="0"/>
              </a:spcAft>
            </a:pPr>
            <a:r>
              <a:rPr sz="1150" b="0" i="0">
                <a:solidFill>
                  <a:srgbClr val="AAB6C3"/>
                </a:solidFill>
                <a:latin typeface="Segoe UI"/>
              </a:rPr>
              <a:t>Argmax rule (slide 13): </a:t>
            </a:r>
            <a:r>
              <a:rPr sz="1150" b="0" i="0">
                <a:solidFill>
                  <a:srgbClr val="8291A2"/>
                </a:solidFill>
                <a:latin typeface="Segoe UI"/>
              </a:rPr>
              <a:t>2 of 15 above buy-and-hold (SPY LR 0.76 vs 0.66, MSFT LR 0.60 vs 0.51); no intervals computed.</a:t>
            </a:r>
          </a:p>
        </p:txBody>
      </p:sp>
      <p:grpSp>
        <p:nvGrpSpPr>
          <p:cNvPr id="7" name="tr_1"/>
          <p:cNvGrpSpPr/>
          <p:nvPr/>
        </p:nvGrpSpPr>
        <p:grpSpPr>
          <a:xfrm>
            <a:off x="8092440" y="1783080"/>
            <a:ext cx="3459175" cy="1344168"/>
            <a:chOff x="8092440" y="1783080"/>
            <a:chExt cx="3459175" cy="1344168"/>
          </a:xfrm>
        </p:grpSpPr>
        <p:sp>
          <p:nvSpPr>
            <p:cNvPr id="8" name="TextBox 7"/>
            <p:cNvSpPr txBox="1"/>
            <p:nvPr/>
          </p:nvSpPr>
          <p:spPr>
            <a:xfrm>
              <a:off x="8092440" y="1783080"/>
              <a:ext cx="3459175" cy="685800"/>
            </a:xfrm>
            <a:prstGeom prst="rect">
              <a:avLst/>
            </a:prstGeom>
            <a:noFill/>
          </p:spPr>
          <p:txBody>
            <a:bodyPr wrap="square" lIns="0" tIns="0" rIns="0" bIns="0" anchor="t">
              <a:noAutofit/>
            </a:bodyPr>
            <a:lstStyle/>
            <a:p>
              <a:pPr algn="l">
                <a:spcAft>
                  <a:spcPts val="0"/>
                </a:spcAft>
              </a:pPr>
              <a:r>
                <a:rPr sz="3800" b="0" i="0">
                  <a:solidFill>
                    <a:srgbClr val="FFB547"/>
                  </a:solidFill>
                  <a:latin typeface="Segoe UI Light"/>
                </a:rPr>
                <a:t>4 / 15</a:t>
              </a:r>
            </a:p>
          </p:txBody>
        </p:sp>
        <p:sp>
          <p:nvSpPr>
            <p:cNvPr id="9" name="TextBox 8"/>
            <p:cNvSpPr txBox="1"/>
            <p:nvPr/>
          </p:nvSpPr>
          <p:spPr>
            <a:xfrm>
              <a:off x="8092440" y="2468880"/>
              <a:ext cx="3459175" cy="658368"/>
            </a:xfrm>
            <a:prstGeom prst="rect">
              <a:avLst/>
            </a:prstGeom>
            <a:noFill/>
          </p:spPr>
          <p:txBody>
            <a:bodyPr wrap="square" lIns="0" tIns="0" rIns="0" bIns="0" anchor="t">
              <a:noAutofit/>
            </a:bodyPr>
            <a:lstStyle/>
            <a:p>
              <a:pPr algn="l">
                <a:lnSpc>
                  <a:spcPct val="105000"/>
                </a:lnSpc>
                <a:spcAft>
                  <a:spcPts val="0"/>
                </a:spcAft>
              </a:pPr>
              <a:r>
                <a:rPr sz="1300" b="0" i="0">
                  <a:solidFill>
                    <a:srgbClr val="AAB6C3"/>
                  </a:solidFill>
                  <a:latin typeface="Segoe UI"/>
                </a:rPr>
                <a:t>above buy-and-hold on Sharpe; all of their 95% intervals include zero</a:t>
              </a:r>
            </a:p>
          </p:txBody>
        </p:sp>
      </p:grpSp>
      <p:grpSp>
        <p:nvGrpSpPr>
          <p:cNvPr id="10" name="tr_2"/>
          <p:cNvGrpSpPr/>
          <p:nvPr/>
        </p:nvGrpSpPr>
        <p:grpSpPr>
          <a:xfrm>
            <a:off x="8092440" y="3154680"/>
            <a:ext cx="3459175" cy="1344168"/>
            <a:chOff x="8092440" y="3154680"/>
            <a:chExt cx="3459175" cy="1344168"/>
          </a:xfrm>
        </p:grpSpPr>
        <p:sp>
          <p:nvSpPr>
            <p:cNvPr id="11" name="TextBox 10"/>
            <p:cNvSpPr txBox="1"/>
            <p:nvPr/>
          </p:nvSpPr>
          <p:spPr>
            <a:xfrm>
              <a:off x="8092440" y="3154680"/>
              <a:ext cx="3459175" cy="685800"/>
            </a:xfrm>
            <a:prstGeom prst="rect">
              <a:avLst/>
            </a:prstGeom>
            <a:noFill/>
          </p:spPr>
          <p:txBody>
            <a:bodyPr wrap="square" lIns="0" tIns="0" rIns="0" bIns="0" anchor="t">
              <a:noAutofit/>
            </a:bodyPr>
            <a:lstStyle/>
            <a:p>
              <a:pPr algn="l">
                <a:spcAft>
                  <a:spcPts val="0"/>
                </a:spcAft>
              </a:pPr>
              <a:r>
                <a:rPr sz="3800" b="0" i="0">
                  <a:solidFill>
                    <a:srgbClr val="EAF0F6"/>
                  </a:solidFill>
                  <a:latin typeface="Segoe UI Light"/>
                </a:rPr>
                <a:t>5 / 15</a:t>
              </a:r>
            </a:p>
          </p:txBody>
        </p:sp>
        <p:sp>
          <p:nvSpPr>
            <p:cNvPr id="12" name="TextBox 11"/>
            <p:cNvSpPr txBox="1"/>
            <p:nvPr/>
          </p:nvSpPr>
          <p:spPr>
            <a:xfrm>
              <a:off x="8092440" y="3840480"/>
              <a:ext cx="3459175" cy="658368"/>
            </a:xfrm>
            <a:prstGeom prst="rect">
              <a:avLst/>
            </a:prstGeom>
            <a:noFill/>
          </p:spPr>
          <p:txBody>
            <a:bodyPr wrap="square" lIns="0" tIns="0" rIns="0" bIns="0" anchor="t">
              <a:noAutofit/>
            </a:bodyPr>
            <a:lstStyle/>
            <a:p>
              <a:pPr algn="l">
                <a:lnSpc>
                  <a:spcPct val="105000"/>
                </a:lnSpc>
                <a:spcAft>
                  <a:spcPts val="0"/>
                </a:spcAft>
              </a:pPr>
              <a:r>
                <a:rPr sz="1300" b="0" i="0">
                  <a:solidFill>
                    <a:srgbClr val="AAB6C3"/>
                  </a:solidFill>
                  <a:latin typeface="Segoe UI"/>
                </a:rPr>
                <a:t>identical to buy-and-hold: the validation-chosen τ kept them invested on every test day</a:t>
              </a:r>
            </a:p>
          </p:txBody>
        </p:sp>
      </p:grpSp>
      <p:grpSp>
        <p:nvGrpSpPr>
          <p:cNvPr id="13" name="tr_3"/>
          <p:cNvGrpSpPr/>
          <p:nvPr/>
        </p:nvGrpSpPr>
        <p:grpSpPr>
          <a:xfrm>
            <a:off x="8092440" y="4526280"/>
            <a:ext cx="3459175" cy="1344168"/>
            <a:chOff x="8092440" y="4526280"/>
            <a:chExt cx="3459175" cy="1344168"/>
          </a:xfrm>
        </p:grpSpPr>
        <p:sp>
          <p:nvSpPr>
            <p:cNvPr id="14" name="TextBox 13"/>
            <p:cNvSpPr txBox="1"/>
            <p:nvPr/>
          </p:nvSpPr>
          <p:spPr>
            <a:xfrm>
              <a:off x="8092440" y="4526280"/>
              <a:ext cx="3459175" cy="685800"/>
            </a:xfrm>
            <a:prstGeom prst="rect">
              <a:avLst/>
            </a:prstGeom>
            <a:noFill/>
          </p:spPr>
          <p:txBody>
            <a:bodyPr wrap="square" lIns="0" tIns="0" rIns="0" bIns="0" anchor="t">
              <a:noAutofit/>
            </a:bodyPr>
            <a:lstStyle/>
            <a:p>
              <a:pPr algn="l">
                <a:spcAft>
                  <a:spcPts val="0"/>
                </a:spcAft>
              </a:pPr>
              <a:r>
                <a:rPr sz="3800" b="0" i="0">
                  <a:solidFill>
                    <a:srgbClr val="FF6B6B"/>
                  </a:solidFill>
                  <a:latin typeface="Segoe UI Light"/>
                </a:rPr>
                <a:t>−48%</a:t>
              </a:r>
            </a:p>
          </p:txBody>
        </p:sp>
        <p:sp>
          <p:nvSpPr>
            <p:cNvPr id="15" name="TextBox 14"/>
            <p:cNvSpPr txBox="1"/>
            <p:nvPr/>
          </p:nvSpPr>
          <p:spPr>
            <a:xfrm>
              <a:off x="8092440" y="5212080"/>
              <a:ext cx="3459175" cy="658368"/>
            </a:xfrm>
            <a:prstGeom prst="rect">
              <a:avLst/>
            </a:prstGeom>
            <a:noFill/>
          </p:spPr>
          <p:txBody>
            <a:bodyPr wrap="square" lIns="0" tIns="0" rIns="0" bIns="0" anchor="t">
              <a:noAutofit/>
            </a:bodyPr>
            <a:lstStyle/>
            <a:p>
              <a:pPr algn="l">
                <a:lnSpc>
                  <a:spcPct val="105000"/>
                </a:lnSpc>
                <a:spcAft>
                  <a:spcPts val="0"/>
                </a:spcAft>
              </a:pPr>
              <a:r>
                <a:rPr sz="1300" b="0" i="0">
                  <a:solidFill>
                    <a:srgbClr val="AAB6C3"/>
                  </a:solidFill>
                  <a:latin typeface="Segoe UI"/>
                </a:rPr>
                <a:t>naive persistence on SPY, after 492 trades and costs</a:t>
              </a: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700"/>
                                        <p:tgtEl>
                                          <p:spTgt spid="5"/>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p:cTn id="18" dur="500" fill="hold"/>
                                        <p:tgtEl>
                                          <p:spTgt spid="7"/>
                                        </p:tgtEl>
                                        <p:attrNameLst>
                                          <p:attrName>ppt_x</p:attrName>
                                        </p:attrNameLst>
                                      </p:cBhvr>
                                      <p:tavLst>
                                        <p:tav tm="0">
                                          <p:val>
                                            <p:strVal val="#ppt_x"/>
                                          </p:val>
                                        </p:tav>
                                        <p:tav tm="100000">
                                          <p:val>
                                            <p:strVal val="#ppt_x"/>
                                          </p:val>
                                        </p:tav>
                                      </p:tavLst>
                                    </p:anim>
                                    <p:anim calcmode="lin" valueType="num">
                                      <p:cBhvr>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2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anim calcmode="lin" valueType="num">
                                      <p:cBhvr>
                                        <p:cTn id="23" dur="500" fill="hold"/>
                                        <p:tgtEl>
                                          <p:spTgt spid="10"/>
                                        </p:tgtEl>
                                        <p:attrNameLst>
                                          <p:attrName>ppt_x</p:attrName>
                                        </p:attrNameLst>
                                      </p:cBhvr>
                                      <p:tavLst>
                                        <p:tav tm="0">
                                          <p:val>
                                            <p:strVal val="#ppt_x"/>
                                          </p:val>
                                        </p:tav>
                                        <p:tav tm="100000">
                                          <p:val>
                                            <p:strVal val="#ppt_x"/>
                                          </p:val>
                                        </p:tav>
                                      </p:tavLst>
                                    </p:anim>
                                    <p:anim calcmode="lin" valueType="num">
                                      <p:cBhvr>
                                        <p:cTn id="24" dur="500" fill="hold"/>
                                        <p:tgtEl>
                                          <p:spTgt spid="10"/>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40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anim calcmode="lin" valueType="num">
                                      <p:cBhvr>
                                        <p:cTn id="28" dur="500" fill="hold"/>
                                        <p:tgtEl>
                                          <p:spTgt spid="13"/>
                                        </p:tgtEl>
                                        <p:attrNameLst>
                                          <p:attrName>ppt_x</p:attrName>
                                        </p:attrNameLst>
                                      </p:cBhvr>
                                      <p:tavLst>
                                        <p:tav tm="0">
                                          <p:val>
                                            <p:strVal val="#ppt_x"/>
                                          </p:val>
                                        </p:tav>
                                        <p:tav tm="100000">
                                          <p:val>
                                            <p:strVal val="#ppt_x"/>
                                          </p:val>
                                        </p:tav>
                                      </p:tavLst>
                                    </p:anim>
                                    <p:anim calcmode="lin" valueType="num">
                                      <p:cBhvr>
                                        <p:cTn id="29" dur="5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Graphic spid="5" grpId="0">
        <p:bldAsOne/>
      </p:bldGraphic>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Walk-forward and robustness checks agree</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11 · RESULTS</a:t>
            </a:r>
          </a:p>
        </p:txBody>
      </p:sp>
      <p:sp>
        <p:nvSpPr>
          <p:cNvPr id="4" name="chart_head"/>
          <p:cNvSpPr txBox="1"/>
          <p:nvPr/>
        </p:nvSpPr>
        <p:spPr>
          <a:xfrm>
            <a:off x="640080" y="1783080"/>
            <a:ext cx="5897880" cy="274320"/>
          </a:xfrm>
          <a:prstGeom prst="rect">
            <a:avLst/>
          </a:prstGeom>
          <a:noFill/>
        </p:spPr>
        <p:txBody>
          <a:bodyPr wrap="square" lIns="0" tIns="0" rIns="0" bIns="0" anchor="t">
            <a:noAutofit/>
          </a:bodyPr>
          <a:lstStyle/>
          <a:p>
            <a:pPr algn="l">
              <a:spcAft>
                <a:spcPts val="0"/>
              </a:spcAft>
            </a:pPr>
            <a:r>
              <a:rPr sz="1300" b="0" i="0">
                <a:solidFill>
                  <a:srgbClr val="AAB6C3"/>
                </a:solidFill>
                <a:latin typeface="Segoe UI"/>
              </a:rPr>
              <a:t>Walk-forward 2016–2025: Sharpe ratio, retrained every year, out-of-sample</a:t>
            </a:r>
          </a:p>
        </p:txBody>
      </p:sp>
      <p:graphicFrame>
        <p:nvGraphicFramePr>
          <p:cNvPr id="5" name="chart_wf"/>
          <p:cNvGraphicFramePr>
            <a:graphicFrameLocks noGrp="1"/>
          </p:cNvGraphicFramePr>
          <p:nvPr/>
        </p:nvGraphicFramePr>
        <p:xfrm>
          <a:off x="640080" y="2103120"/>
          <a:ext cx="58978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wf_big"/>
          <p:cNvSpPr txBox="1"/>
          <p:nvPr/>
        </p:nvSpPr>
        <p:spPr>
          <a:xfrm>
            <a:off x="6858000" y="1783080"/>
            <a:ext cx="4693615" cy="868680"/>
          </a:xfrm>
          <a:prstGeom prst="rect">
            <a:avLst/>
          </a:prstGeom>
          <a:noFill/>
        </p:spPr>
        <p:txBody>
          <a:bodyPr wrap="square" lIns="0" tIns="0" rIns="0" bIns="0" anchor="t">
            <a:noAutofit/>
          </a:bodyPr>
          <a:lstStyle/>
          <a:p>
            <a:pPr algn="l">
              <a:spcAft>
                <a:spcPts val="0"/>
              </a:spcAft>
            </a:pPr>
            <a:r>
              <a:rPr sz="5400" b="0" i="0">
                <a:solidFill>
                  <a:srgbClr val="FFB547"/>
                </a:solidFill>
                <a:latin typeface="Segoe UI Light"/>
              </a:rPr>
              <a:t>0 / 15</a:t>
            </a:r>
          </a:p>
        </p:txBody>
      </p:sp>
      <p:sp>
        <p:nvSpPr>
          <p:cNvPr id="7" name="wf_big_label"/>
          <p:cNvSpPr txBox="1"/>
          <p:nvPr/>
        </p:nvSpPr>
        <p:spPr>
          <a:xfrm>
            <a:off x="6858000" y="2670048"/>
            <a:ext cx="4693615" cy="548640"/>
          </a:xfrm>
          <a:prstGeom prst="rect">
            <a:avLst/>
          </a:prstGeom>
          <a:noFill/>
        </p:spPr>
        <p:txBody>
          <a:bodyPr wrap="square" lIns="0" tIns="0" rIns="0" bIns="0" anchor="t">
            <a:noAutofit/>
          </a:bodyPr>
          <a:lstStyle/>
          <a:p>
            <a:pPr algn="l">
              <a:spcAft>
                <a:spcPts val="0"/>
              </a:spcAft>
            </a:pPr>
            <a:r>
              <a:rPr sz="1400" b="0" i="0">
                <a:solidFill>
                  <a:srgbClr val="AAB6C3"/>
                </a:solidFill>
                <a:latin typeface="Segoe UI"/>
              </a:rPr>
              <a:t>ML strategies beat buy-and-hold over the ten walk-forward years</a:t>
            </a:r>
          </a:p>
        </p:txBody>
      </p:sp>
      <p:sp>
        <p:nvSpPr>
          <p:cNvPr id="8" name="rob_head"/>
          <p:cNvSpPr txBox="1"/>
          <p:nvPr/>
        </p:nvSpPr>
        <p:spPr>
          <a:xfrm>
            <a:off x="6858000" y="3255264"/>
            <a:ext cx="4693615" cy="219456"/>
          </a:xfrm>
          <a:prstGeom prst="rect">
            <a:avLst/>
          </a:prstGeom>
          <a:noFill/>
        </p:spPr>
        <p:txBody>
          <a:bodyPr wrap="square" lIns="0" tIns="0" rIns="0" bIns="0" anchor="t">
            <a:noAutofit/>
          </a:bodyPr>
          <a:lstStyle/>
          <a:p>
            <a:pPr algn="l">
              <a:spcAft>
                <a:spcPts val="0"/>
              </a:spcAft>
            </a:pPr>
            <a:r>
              <a:rPr sz="1000" b="0" i="0" spc="200">
                <a:solidFill>
                  <a:srgbClr val="8291A2"/>
                </a:solidFill>
                <a:latin typeface="Consolas"/>
              </a:rPr>
              <a:t>ROBUSTNESS CHECKS · HOLD-OUT TEST 2022–2025</a:t>
            </a:r>
          </a:p>
        </p:txBody>
      </p:sp>
      <p:grpSp>
        <p:nvGrpSpPr>
          <p:cNvPr id="9" name="rob_cost"/>
          <p:cNvGrpSpPr/>
          <p:nvPr/>
        </p:nvGrpSpPr>
        <p:grpSpPr>
          <a:xfrm>
            <a:off x="6858000" y="3547872"/>
            <a:ext cx="4693615" cy="731520"/>
            <a:chOff x="6858000" y="3547872"/>
            <a:chExt cx="4693615" cy="731520"/>
          </a:xfrm>
        </p:grpSpPr>
        <p:sp>
          <p:nvSpPr>
            <p:cNvPr id="10" name="rob_cost_bg"/>
            <p:cNvSpPr/>
            <p:nvPr/>
          </p:nvSpPr>
          <p:spPr>
            <a:xfrm>
              <a:off x="6858000" y="3547872"/>
              <a:ext cx="4693615" cy="731520"/>
            </a:xfrm>
            <a:prstGeom prst="roundRect">
              <a:avLst>
                <a:gd name="adj" fmla="val 15000"/>
              </a:avLst>
            </a:prstGeom>
            <a:solidFill>
              <a:srgbClr val="111823">
                <a:alpha val="88000"/>
              </a:srgbClr>
            </a:solidFill>
            <a:ln w="9525">
              <a:solidFill>
                <a:srgbClr val="243245"/>
              </a:solidFill>
            </a:ln>
          </p:spPr>
          <p:txBody>
            <a:bodyPr lIns="0" tIns="0" rIns="0" bIns="0" rtlCol="0" anchor="ctr"/>
            <a:lstStyle/>
            <a:p>
              <a:pPr algn="ctr"/>
              <a:endParaRPr/>
            </a:p>
          </p:txBody>
        </p:sp>
        <p:sp>
          <p:nvSpPr>
            <p:cNvPr id="11" name="TextBox 10"/>
            <p:cNvSpPr txBox="1"/>
            <p:nvPr/>
          </p:nvSpPr>
          <p:spPr>
            <a:xfrm>
              <a:off x="7114032" y="3547872"/>
              <a:ext cx="4181551" cy="731520"/>
            </a:xfrm>
            <a:prstGeom prst="rect">
              <a:avLst/>
            </a:prstGeom>
            <a:noFill/>
          </p:spPr>
          <p:txBody>
            <a:bodyPr wrap="square" lIns="0" tIns="0" rIns="0" bIns="0" anchor="ctr">
              <a:noAutofit/>
            </a:bodyPr>
            <a:lstStyle/>
            <a:p>
              <a:pPr algn="l">
                <a:lnSpc>
                  <a:spcPct val="105000"/>
                </a:lnSpc>
                <a:spcAft>
                  <a:spcPts val="0"/>
                </a:spcAft>
              </a:pPr>
              <a:r>
                <a:rPr sz="1100" b="0" i="0">
                  <a:solidFill>
                    <a:srgbClr val="FFB547"/>
                  </a:solidFill>
                  <a:latin typeface="Consolas"/>
                </a:rPr>
                <a:t>COSTS   </a:t>
              </a:r>
              <a:r>
                <a:rPr sz="1300" b="0" i="0">
                  <a:solidFill>
                    <a:srgbClr val="EAF0F6"/>
                  </a:solidFill>
                  <a:latin typeface="Segoe UI"/>
                </a:rPr>
                <a:t>7 / 15 beat buy-and-hold at 0 bps, 0 / 15 at 40 bps</a:t>
              </a:r>
            </a:p>
          </p:txBody>
        </p:sp>
      </p:grpSp>
      <p:grpSp>
        <p:nvGrpSpPr>
          <p:cNvPr id="12" name="rob_vol"/>
          <p:cNvGrpSpPr/>
          <p:nvPr/>
        </p:nvGrpSpPr>
        <p:grpSpPr>
          <a:xfrm>
            <a:off x="6858000" y="4389120"/>
            <a:ext cx="4693615" cy="731520"/>
            <a:chOff x="6858000" y="4389120"/>
            <a:chExt cx="4693615" cy="731520"/>
          </a:xfrm>
        </p:grpSpPr>
        <p:sp>
          <p:nvSpPr>
            <p:cNvPr id="13" name="rob_vol_bg"/>
            <p:cNvSpPr/>
            <p:nvPr/>
          </p:nvSpPr>
          <p:spPr>
            <a:xfrm>
              <a:off x="6858000" y="4389120"/>
              <a:ext cx="4693615" cy="731520"/>
            </a:xfrm>
            <a:prstGeom prst="roundRect">
              <a:avLst>
                <a:gd name="adj" fmla="val 15000"/>
              </a:avLst>
            </a:prstGeom>
            <a:solidFill>
              <a:srgbClr val="111823">
                <a:alpha val="88000"/>
              </a:srgbClr>
            </a:solidFill>
            <a:ln w="9525">
              <a:solidFill>
                <a:srgbClr val="243245"/>
              </a:solidFill>
            </a:ln>
          </p:spPr>
          <p:txBody>
            <a:bodyPr lIns="0" tIns="0" rIns="0" bIns="0" rtlCol="0" anchor="ctr"/>
            <a:lstStyle/>
            <a:p>
              <a:pPr algn="ctr"/>
              <a:endParaRPr/>
            </a:p>
          </p:txBody>
        </p:sp>
        <p:sp>
          <p:nvSpPr>
            <p:cNvPr id="14" name="TextBox 13"/>
            <p:cNvSpPr txBox="1"/>
            <p:nvPr/>
          </p:nvSpPr>
          <p:spPr>
            <a:xfrm>
              <a:off x="7114032" y="4389120"/>
              <a:ext cx="4181551" cy="731520"/>
            </a:xfrm>
            <a:prstGeom prst="rect">
              <a:avLst/>
            </a:prstGeom>
            <a:noFill/>
          </p:spPr>
          <p:txBody>
            <a:bodyPr wrap="square" lIns="0" tIns="0" rIns="0" bIns="0" anchor="ctr">
              <a:noAutofit/>
            </a:bodyPr>
            <a:lstStyle/>
            <a:p>
              <a:pPr algn="l">
                <a:lnSpc>
                  <a:spcPct val="105000"/>
                </a:lnSpc>
                <a:spcAft>
                  <a:spcPts val="0"/>
                </a:spcAft>
              </a:pPr>
              <a:r>
                <a:rPr sz="1100" b="0" i="0">
                  <a:solidFill>
                    <a:srgbClr val="FFB547"/>
                  </a:solidFill>
                  <a:latin typeface="Consolas"/>
                </a:rPr>
                <a:t>SIZING   </a:t>
              </a:r>
              <a:r>
                <a:rPr sz="1300" b="0" i="0">
                  <a:solidFill>
                    <a:srgbClr val="EAF0F6"/>
                  </a:solidFill>
                  <a:latin typeface="Segoe UI"/>
                </a:rPr>
                <a:t>15% volatility targeting cut max drawdown by 21–44% at a similar Sharpe, by holding less</a:t>
              </a:r>
            </a:p>
          </p:txBody>
        </p:sp>
      </p:grpSp>
      <p:grpSp>
        <p:nvGrpSpPr>
          <p:cNvPr id="15" name="rob_var"/>
          <p:cNvGrpSpPr/>
          <p:nvPr/>
        </p:nvGrpSpPr>
        <p:grpSpPr>
          <a:xfrm>
            <a:off x="6858000" y="5230368"/>
            <a:ext cx="4693615" cy="731520"/>
            <a:chOff x="6858000" y="5230368"/>
            <a:chExt cx="4693615" cy="731520"/>
          </a:xfrm>
        </p:grpSpPr>
        <p:sp>
          <p:nvSpPr>
            <p:cNvPr id="16" name="rob_var_bg"/>
            <p:cNvSpPr/>
            <p:nvPr/>
          </p:nvSpPr>
          <p:spPr>
            <a:xfrm>
              <a:off x="6858000" y="5230368"/>
              <a:ext cx="4693615" cy="731520"/>
            </a:xfrm>
            <a:prstGeom prst="roundRect">
              <a:avLst>
                <a:gd name="adj" fmla="val 15000"/>
              </a:avLst>
            </a:prstGeom>
            <a:solidFill>
              <a:srgbClr val="111823">
                <a:alpha val="88000"/>
              </a:srgbClr>
            </a:solidFill>
            <a:ln w="9525">
              <a:solidFill>
                <a:srgbClr val="243245"/>
              </a:solidFill>
            </a:ln>
          </p:spPr>
          <p:txBody>
            <a:bodyPr lIns="0" tIns="0" rIns="0" bIns="0" rtlCol="0" anchor="ctr"/>
            <a:lstStyle/>
            <a:p>
              <a:pPr algn="ctr"/>
              <a:endParaRPr/>
            </a:p>
          </p:txBody>
        </p:sp>
        <p:sp>
          <p:nvSpPr>
            <p:cNvPr id="17" name="TextBox 16"/>
            <p:cNvSpPr txBox="1"/>
            <p:nvPr/>
          </p:nvSpPr>
          <p:spPr>
            <a:xfrm>
              <a:off x="7114032" y="5230368"/>
              <a:ext cx="4181551" cy="731520"/>
            </a:xfrm>
            <a:prstGeom prst="rect">
              <a:avLst/>
            </a:prstGeom>
            <a:noFill/>
          </p:spPr>
          <p:txBody>
            <a:bodyPr wrap="square" lIns="0" tIns="0" rIns="0" bIns="0" anchor="ctr">
              <a:noAutofit/>
            </a:bodyPr>
            <a:lstStyle/>
            <a:p>
              <a:pPr algn="l">
                <a:lnSpc>
                  <a:spcPct val="105000"/>
                </a:lnSpc>
                <a:spcAft>
                  <a:spcPts val="0"/>
                </a:spcAft>
              </a:pPr>
              <a:r>
                <a:rPr sz="1100" b="0" i="0">
                  <a:solidFill>
                    <a:srgbClr val="FFB547"/>
                  </a:solidFill>
                  <a:latin typeface="Consolas"/>
                </a:rPr>
                <a:t>ASSUMPTIONS   </a:t>
              </a:r>
              <a:r>
                <a:rPr sz="1300" b="0" i="0">
                  <a:solidFill>
                    <a:srgbClr val="EAF0F6"/>
                  </a:solidFill>
                  <a:latin typeface="Segoe UI"/>
                </a:rPr>
                <a:t>Binary target or close fills (no LSTM, reduced grids): 3–5 of 12 beat buy-and-hold, and the winners change</a:t>
              </a: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22" presetClass="entr" presetSubtype="4" fill="hold" grpId="0"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900"/>
                                        <p:tgtEl>
                                          <p:spTgt spid="5"/>
                                        </p:tgtEl>
                                      </p:cBhvr>
                                    </p:animEffect>
                                  </p:childTnLst>
                                </p:cTn>
                              </p:par>
                            </p:childTnLst>
                          </p:cTn>
                        </p:par>
                        <p:par>
                          <p:cTn id="11" fill="hold">
                            <p:stCondLst>
                              <p:cond delay="1000"/>
                            </p:stCondLst>
                            <p:childTnLst>
                              <p:par>
                                <p:cTn id="12" presetID="53" presetClass="entr" presetSubtype="16"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450" fill="hold"/>
                                        <p:tgtEl>
                                          <p:spTgt spid="6"/>
                                        </p:tgtEl>
                                        <p:attrNameLst>
                                          <p:attrName>ppt_w</p:attrName>
                                        </p:attrNameLst>
                                      </p:cBhvr>
                                      <p:tavLst>
                                        <p:tav tm="0">
                                          <p:val>
                                            <p:fltVal val="0"/>
                                          </p:val>
                                        </p:tav>
                                        <p:tav tm="100000">
                                          <p:val>
                                            <p:strVal val="#ppt_w"/>
                                          </p:val>
                                        </p:tav>
                                      </p:tavLst>
                                    </p:anim>
                                    <p:anim calcmode="lin" valueType="num">
                                      <p:cBhvr>
                                        <p:cTn id="15" dur="450" fill="hold"/>
                                        <p:tgtEl>
                                          <p:spTgt spid="6"/>
                                        </p:tgtEl>
                                        <p:attrNameLst>
                                          <p:attrName>ppt_h</p:attrName>
                                        </p:attrNameLst>
                                      </p:cBhvr>
                                      <p:tavLst>
                                        <p:tav tm="0">
                                          <p:val>
                                            <p:fltVal val="0"/>
                                          </p:val>
                                        </p:tav>
                                        <p:tav tm="100000">
                                          <p:val>
                                            <p:strVal val="#ppt_h"/>
                                          </p:val>
                                        </p:tav>
                                      </p:tavLst>
                                    </p:anim>
                                    <p:animEffect transition="in" filter="fade">
                                      <p:cBhvr>
                                        <p:cTn id="16" dur="450"/>
                                        <p:tgtEl>
                                          <p:spTgt spid="6"/>
                                        </p:tgtEl>
                                      </p:cBhvr>
                                    </p:animEffect>
                                  </p:childTnLst>
                                </p:cTn>
                              </p:par>
                              <p:par>
                                <p:cTn id="17" presetID="10" presetClass="entr" presetSubtype="0" fill="hold" grpId="0" nodeType="withEffect">
                                  <p:stCondLst>
                                    <p:cond delay="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childTnLst>
                          </p:cTn>
                        </p:par>
                        <p:par>
                          <p:cTn id="20" fill="hold">
                            <p:stCondLst>
                              <p:cond delay="155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42" presetClass="entr" presetSubtype="0" fill="hold" nodeType="withEffect">
                                  <p:stCondLst>
                                    <p:cond delay="1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anim calcmode="lin" valueType="num">
                                      <p:cBhvr>
                                        <p:cTn id="27" dur="450" fill="hold"/>
                                        <p:tgtEl>
                                          <p:spTgt spid="9"/>
                                        </p:tgtEl>
                                        <p:attrNameLst>
                                          <p:attrName>ppt_x</p:attrName>
                                        </p:attrNameLst>
                                      </p:cBhvr>
                                      <p:tavLst>
                                        <p:tav tm="0">
                                          <p:val>
                                            <p:strVal val="#ppt_x"/>
                                          </p:val>
                                        </p:tav>
                                        <p:tav tm="100000">
                                          <p:val>
                                            <p:strVal val="#ppt_x"/>
                                          </p:val>
                                        </p:tav>
                                      </p:tavLst>
                                    </p:anim>
                                    <p:anim calcmode="lin" valueType="num">
                                      <p:cBhvr>
                                        <p:cTn id="28" dur="45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anim calcmode="lin" valueType="num">
                                      <p:cBhvr>
                                        <p:cTn id="32" dur="450" fill="hold"/>
                                        <p:tgtEl>
                                          <p:spTgt spid="12"/>
                                        </p:tgtEl>
                                        <p:attrNameLst>
                                          <p:attrName>ppt_x</p:attrName>
                                        </p:attrNameLst>
                                      </p:cBhvr>
                                      <p:tavLst>
                                        <p:tav tm="0">
                                          <p:val>
                                            <p:strVal val="#ppt_x"/>
                                          </p:val>
                                        </p:tav>
                                        <p:tav tm="100000">
                                          <p:val>
                                            <p:strVal val="#ppt_x"/>
                                          </p:val>
                                        </p:tav>
                                      </p:tavLst>
                                    </p:anim>
                                    <p:anim calcmode="lin" valueType="num">
                                      <p:cBhvr>
                                        <p:cTn id="33" dur="45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40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anim calcmode="lin" valueType="num">
                                      <p:cBhvr>
                                        <p:cTn id="37" dur="450" fill="hold"/>
                                        <p:tgtEl>
                                          <p:spTgt spid="15"/>
                                        </p:tgtEl>
                                        <p:attrNameLst>
                                          <p:attrName>ppt_x</p:attrName>
                                        </p:attrNameLst>
                                      </p:cBhvr>
                                      <p:tavLst>
                                        <p:tav tm="0">
                                          <p:val>
                                            <p:strVal val="#ppt_x"/>
                                          </p:val>
                                        </p:tav>
                                        <p:tav tm="100000">
                                          <p:val>
                                            <p:strVal val="#ppt_x"/>
                                          </p:val>
                                        </p:tav>
                                      </p:tavLst>
                                    </p:anim>
                                    <p:anim calcmode="lin" valueType="num">
                                      <p:cBhvr>
                                        <p:cTn id="38" dur="45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Graphic spid="5" grpId="0">
        <p:bldAsOne/>
      </p:bldGraphic>
      <p:bldP spid="6"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Challenges we handled, limitations we report</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12 · CHALLENGES</a:t>
            </a:r>
          </a:p>
        </p:txBody>
      </p:sp>
      <p:grpSp>
        <p:nvGrpSpPr>
          <p:cNvPr id="4" name="challenges"/>
          <p:cNvGrpSpPr/>
          <p:nvPr/>
        </p:nvGrpSpPr>
        <p:grpSpPr>
          <a:xfrm>
            <a:off x="640080" y="1783080"/>
            <a:ext cx="5340096" cy="4224528"/>
            <a:chOff x="640080" y="1783080"/>
            <a:chExt cx="5340096" cy="4224528"/>
          </a:xfrm>
        </p:grpSpPr>
        <p:sp>
          <p:nvSpPr>
            <p:cNvPr id="5" name="challenges_bg"/>
            <p:cNvSpPr/>
            <p:nvPr/>
          </p:nvSpPr>
          <p:spPr>
            <a:xfrm>
              <a:off x="640080" y="1783080"/>
              <a:ext cx="5340096" cy="4224528"/>
            </a:xfrm>
            <a:prstGeom prst="roundRect">
              <a:avLst>
                <a:gd name="adj" fmla="val 2597"/>
              </a:avLst>
            </a:prstGeom>
            <a:solidFill>
              <a:srgbClr val="111823">
                <a:alpha val="88000"/>
              </a:srgbClr>
            </a:solidFill>
            <a:ln w="9525">
              <a:solidFill>
                <a:srgbClr val="243245"/>
              </a:solidFill>
            </a:ln>
          </p:spPr>
          <p:txBody>
            <a:bodyPr lIns="0" tIns="0" rIns="0" bIns="0" rtlCol="0" anchor="ctr"/>
            <a:lstStyle/>
            <a:p>
              <a:pPr algn="ctr"/>
              <a:endParaRPr/>
            </a:p>
          </p:txBody>
        </p:sp>
        <p:sp>
          <p:nvSpPr>
            <p:cNvPr id="6" name="TextBox 5"/>
            <p:cNvSpPr txBox="1"/>
            <p:nvPr/>
          </p:nvSpPr>
          <p:spPr>
            <a:xfrm>
              <a:off x="960120" y="2011680"/>
              <a:ext cx="4663440" cy="256032"/>
            </a:xfrm>
            <a:prstGeom prst="rect">
              <a:avLst/>
            </a:prstGeom>
            <a:noFill/>
          </p:spPr>
          <p:txBody>
            <a:bodyPr wrap="square" lIns="0" tIns="0" rIns="0" bIns="0" anchor="t">
              <a:noAutofit/>
            </a:bodyPr>
            <a:lstStyle/>
            <a:p>
              <a:pPr algn="l">
                <a:spcAft>
                  <a:spcPts val="0"/>
                </a:spcAft>
              </a:pPr>
              <a:r>
                <a:rPr sz="1200" b="0" i="0" spc="200">
                  <a:solidFill>
                    <a:srgbClr val="FFB547"/>
                  </a:solidFill>
                  <a:latin typeface="Consolas"/>
                </a:rPr>
                <a:t>CHALLENGES WE HANDLED</a:t>
              </a:r>
            </a:p>
          </p:txBody>
        </p:sp>
        <p:sp>
          <p:nvSpPr>
            <p:cNvPr id="7" name="TextBox 6"/>
            <p:cNvSpPr txBox="1"/>
            <p:nvPr/>
          </p:nvSpPr>
          <p:spPr>
            <a:xfrm>
              <a:off x="960120" y="2423160"/>
              <a:ext cx="457200" cy="274320"/>
            </a:xfrm>
            <a:prstGeom prst="rect">
              <a:avLst/>
            </a:prstGeom>
            <a:noFill/>
          </p:spPr>
          <p:txBody>
            <a:bodyPr wrap="square" lIns="0" tIns="0" rIns="0" bIns="0" anchor="t">
              <a:noAutofit/>
            </a:bodyPr>
            <a:lstStyle/>
            <a:p>
              <a:pPr algn="l">
                <a:spcAft>
                  <a:spcPts val="0"/>
                </a:spcAft>
              </a:pPr>
              <a:r>
                <a:rPr sz="1100" b="0" i="0">
                  <a:solidFill>
                    <a:srgbClr val="FFB547"/>
                  </a:solidFill>
                  <a:latin typeface="Consolas"/>
                </a:rPr>
                <a:t>01</a:t>
              </a:r>
            </a:p>
          </p:txBody>
        </p:sp>
        <p:sp>
          <p:nvSpPr>
            <p:cNvPr id="8" name="TextBox 7"/>
            <p:cNvSpPr txBox="1"/>
            <p:nvPr/>
          </p:nvSpPr>
          <p:spPr>
            <a:xfrm>
              <a:off x="1463040" y="2404872"/>
              <a:ext cx="4206240" cy="676656"/>
            </a:xfrm>
            <a:prstGeom prst="rect">
              <a:avLst/>
            </a:prstGeom>
            <a:noFill/>
          </p:spPr>
          <p:txBody>
            <a:bodyPr wrap="square" lIns="0" tIns="0" rIns="0" bIns="0" anchor="t">
              <a:noAutofit/>
            </a:bodyPr>
            <a:lstStyle/>
            <a:p>
              <a:pPr algn="l">
                <a:lnSpc>
                  <a:spcPct val="100000"/>
                </a:lnSpc>
                <a:spcAft>
                  <a:spcPts val="100"/>
                </a:spcAft>
              </a:pPr>
              <a:r>
                <a:rPr sz="1450" b="0" i="0">
                  <a:solidFill>
                    <a:srgbClr val="EAF0F6"/>
                  </a:solidFill>
                  <a:latin typeface="Segoe UI Semibold"/>
                </a:rPr>
                <a:t>Leakage at every step</a:t>
              </a:r>
            </a:p>
            <a:p>
              <a:pPr algn="l">
                <a:lnSpc>
                  <a:spcPct val="100000"/>
                </a:lnSpc>
                <a:spcAft>
                  <a:spcPts val="0"/>
                </a:spcAft>
              </a:pPr>
              <a:r>
                <a:rPr sz="1250" b="0" i="0">
                  <a:solidFill>
                    <a:srgbClr val="AAB6C3"/>
                  </a:solidFill>
                  <a:latin typeface="Segoe UI"/>
                </a:rPr>
                <a:t>Purged splits, point-in-time features and tests that fail on any look-ahead.</a:t>
              </a:r>
            </a:p>
          </p:txBody>
        </p:sp>
        <p:sp>
          <p:nvSpPr>
            <p:cNvPr id="9" name="TextBox 8"/>
            <p:cNvSpPr txBox="1"/>
            <p:nvPr/>
          </p:nvSpPr>
          <p:spPr>
            <a:xfrm>
              <a:off x="960120" y="3127248"/>
              <a:ext cx="457200" cy="274320"/>
            </a:xfrm>
            <a:prstGeom prst="rect">
              <a:avLst/>
            </a:prstGeom>
            <a:noFill/>
          </p:spPr>
          <p:txBody>
            <a:bodyPr wrap="square" lIns="0" tIns="0" rIns="0" bIns="0" anchor="t">
              <a:noAutofit/>
            </a:bodyPr>
            <a:lstStyle/>
            <a:p>
              <a:pPr algn="l">
                <a:spcAft>
                  <a:spcPts val="0"/>
                </a:spcAft>
              </a:pPr>
              <a:r>
                <a:rPr sz="1100" b="0" i="0">
                  <a:solidFill>
                    <a:srgbClr val="FFB547"/>
                  </a:solidFill>
                  <a:latin typeface="Consolas"/>
                </a:rPr>
                <a:t>02</a:t>
              </a:r>
            </a:p>
          </p:txBody>
        </p:sp>
        <p:sp>
          <p:nvSpPr>
            <p:cNvPr id="10" name="TextBox 9"/>
            <p:cNvSpPr txBox="1"/>
            <p:nvPr/>
          </p:nvSpPr>
          <p:spPr>
            <a:xfrm>
              <a:off x="1463040" y="3108960"/>
              <a:ext cx="4206240" cy="676656"/>
            </a:xfrm>
            <a:prstGeom prst="rect">
              <a:avLst/>
            </a:prstGeom>
            <a:noFill/>
          </p:spPr>
          <p:txBody>
            <a:bodyPr wrap="square" lIns="0" tIns="0" rIns="0" bIns="0" anchor="t">
              <a:noAutofit/>
            </a:bodyPr>
            <a:lstStyle/>
            <a:p>
              <a:pPr algn="l">
                <a:lnSpc>
                  <a:spcPct val="100000"/>
                </a:lnSpc>
                <a:spcAft>
                  <a:spcPts val="100"/>
                </a:spcAft>
              </a:pPr>
              <a:r>
                <a:rPr sz="1450" b="0" i="0">
                  <a:solidFill>
                    <a:srgbClr val="EAF0F6"/>
                  </a:solidFill>
                  <a:latin typeface="Segoe UI Semibold"/>
                </a:rPr>
                <a:t>Thresholds collapsing to buy-and-hold</a:t>
              </a:r>
            </a:p>
            <a:p>
              <a:pPr algn="l">
                <a:lnSpc>
                  <a:spcPct val="100000"/>
                </a:lnSpc>
                <a:spcAft>
                  <a:spcPts val="0"/>
                </a:spcAft>
              </a:pPr>
              <a:r>
                <a:rPr sz="1250" b="0" i="0">
                  <a:solidFill>
                    <a:srgbClr val="AAB6C3"/>
                  </a:solidFill>
                  <a:latin typeface="Segoe UI"/>
                </a:rPr>
                <a:t>A bullish 2020–21 validation often picks 'always invested'; we report it rather than hide it.</a:t>
              </a:r>
            </a:p>
          </p:txBody>
        </p:sp>
        <p:sp>
          <p:nvSpPr>
            <p:cNvPr id="11" name="TextBox 10"/>
            <p:cNvSpPr txBox="1"/>
            <p:nvPr/>
          </p:nvSpPr>
          <p:spPr>
            <a:xfrm>
              <a:off x="960120" y="3831336"/>
              <a:ext cx="457200" cy="274320"/>
            </a:xfrm>
            <a:prstGeom prst="rect">
              <a:avLst/>
            </a:prstGeom>
            <a:noFill/>
          </p:spPr>
          <p:txBody>
            <a:bodyPr wrap="square" lIns="0" tIns="0" rIns="0" bIns="0" anchor="t">
              <a:noAutofit/>
            </a:bodyPr>
            <a:lstStyle/>
            <a:p>
              <a:pPr algn="l">
                <a:spcAft>
                  <a:spcPts val="0"/>
                </a:spcAft>
              </a:pPr>
              <a:r>
                <a:rPr sz="1100" b="0" i="0">
                  <a:solidFill>
                    <a:srgbClr val="FFB547"/>
                  </a:solidFill>
                  <a:latin typeface="Consolas"/>
                </a:rPr>
                <a:t>03</a:t>
              </a:r>
            </a:p>
          </p:txBody>
        </p:sp>
        <p:sp>
          <p:nvSpPr>
            <p:cNvPr id="12" name="TextBox 11"/>
            <p:cNvSpPr txBox="1"/>
            <p:nvPr/>
          </p:nvSpPr>
          <p:spPr>
            <a:xfrm>
              <a:off x="1463040" y="3813048"/>
              <a:ext cx="4206240" cy="676656"/>
            </a:xfrm>
            <a:prstGeom prst="rect">
              <a:avLst/>
            </a:prstGeom>
            <a:noFill/>
          </p:spPr>
          <p:txBody>
            <a:bodyPr wrap="square" lIns="0" tIns="0" rIns="0" bIns="0" anchor="t">
              <a:noAutofit/>
            </a:bodyPr>
            <a:lstStyle/>
            <a:p>
              <a:pPr algn="l">
                <a:lnSpc>
                  <a:spcPct val="100000"/>
                </a:lnSpc>
                <a:spcAft>
                  <a:spcPts val="100"/>
                </a:spcAft>
              </a:pPr>
              <a:r>
                <a:rPr sz="1450" b="0" i="0">
                  <a:solidFill>
                    <a:srgbClr val="EAF0F6"/>
                  </a:solidFill>
                  <a:latin typeface="Segoe UI Semibold"/>
                </a:rPr>
                <a:t>An unstable LSTM on ~2,200 training days</a:t>
              </a:r>
            </a:p>
            <a:p>
              <a:pPr algn="l">
                <a:lnSpc>
                  <a:spcPct val="100000"/>
                </a:lnSpc>
                <a:spcAft>
                  <a:spcPts val="0"/>
                </a:spcAft>
              </a:pPr>
              <a:r>
                <a:rPr sz="1250" b="0" i="0">
                  <a:solidFill>
                    <a:srgbClr val="AAB6C3"/>
                  </a:solidFill>
                  <a:latin typeface="Segoe UI"/>
                </a:rPr>
                <a:t>A small one-layer network, early stopping on a purged slice and fixed seeds.</a:t>
              </a:r>
            </a:p>
          </p:txBody>
        </p:sp>
        <p:sp>
          <p:nvSpPr>
            <p:cNvPr id="13" name="TextBox 12"/>
            <p:cNvSpPr txBox="1"/>
            <p:nvPr/>
          </p:nvSpPr>
          <p:spPr>
            <a:xfrm>
              <a:off x="960120" y="4535424"/>
              <a:ext cx="457200" cy="274320"/>
            </a:xfrm>
            <a:prstGeom prst="rect">
              <a:avLst/>
            </a:prstGeom>
            <a:noFill/>
          </p:spPr>
          <p:txBody>
            <a:bodyPr wrap="square" lIns="0" tIns="0" rIns="0" bIns="0" anchor="t">
              <a:noAutofit/>
            </a:bodyPr>
            <a:lstStyle/>
            <a:p>
              <a:pPr algn="l">
                <a:spcAft>
                  <a:spcPts val="0"/>
                </a:spcAft>
              </a:pPr>
              <a:r>
                <a:rPr sz="1100" b="0" i="0">
                  <a:solidFill>
                    <a:srgbClr val="FFB547"/>
                  </a:solidFill>
                  <a:latin typeface="Consolas"/>
                </a:rPr>
                <a:t>04</a:t>
              </a:r>
            </a:p>
          </p:txBody>
        </p:sp>
        <p:sp>
          <p:nvSpPr>
            <p:cNvPr id="14" name="TextBox 13"/>
            <p:cNvSpPr txBox="1"/>
            <p:nvPr/>
          </p:nvSpPr>
          <p:spPr>
            <a:xfrm>
              <a:off x="1463040" y="4517136"/>
              <a:ext cx="4206240" cy="676656"/>
            </a:xfrm>
            <a:prstGeom prst="rect">
              <a:avLst/>
            </a:prstGeom>
            <a:noFill/>
          </p:spPr>
          <p:txBody>
            <a:bodyPr wrap="square" lIns="0" tIns="0" rIns="0" bIns="0" anchor="t">
              <a:noAutofit/>
            </a:bodyPr>
            <a:lstStyle/>
            <a:p>
              <a:pPr algn="l">
                <a:lnSpc>
                  <a:spcPct val="100000"/>
                </a:lnSpc>
                <a:spcAft>
                  <a:spcPts val="100"/>
                </a:spcAft>
              </a:pPr>
              <a:r>
                <a:rPr sz="1450" b="0" i="0">
                  <a:solidFill>
                    <a:srgbClr val="EAF0F6"/>
                  </a:solidFill>
                  <a:latin typeface="Segoe UI Semibold"/>
                </a:rPr>
                <a:t>Unfinished live bars</a:t>
              </a:r>
            </a:p>
            <a:p>
              <a:pPr algn="l">
                <a:lnSpc>
                  <a:spcPct val="100000"/>
                </a:lnSpc>
                <a:spcAft>
                  <a:spcPts val="0"/>
                </a:spcAft>
              </a:pPr>
              <a:r>
                <a:rPr sz="1250" b="0" i="0">
                  <a:solidFill>
                    <a:srgbClr val="AAB6C3"/>
                  </a:solidFill>
                  <a:latin typeface="Segoe UI"/>
                </a:rPr>
                <a:t>Live data can include today's partial session; a guard drops it before 16:15 New York time.</a:t>
              </a:r>
            </a:p>
          </p:txBody>
        </p:sp>
        <p:sp>
          <p:nvSpPr>
            <p:cNvPr id="15" name="TextBox 14"/>
            <p:cNvSpPr txBox="1"/>
            <p:nvPr/>
          </p:nvSpPr>
          <p:spPr>
            <a:xfrm>
              <a:off x="960120" y="5239512"/>
              <a:ext cx="457200" cy="274320"/>
            </a:xfrm>
            <a:prstGeom prst="rect">
              <a:avLst/>
            </a:prstGeom>
            <a:noFill/>
          </p:spPr>
          <p:txBody>
            <a:bodyPr wrap="square" lIns="0" tIns="0" rIns="0" bIns="0" anchor="t">
              <a:noAutofit/>
            </a:bodyPr>
            <a:lstStyle/>
            <a:p>
              <a:pPr algn="l">
                <a:spcAft>
                  <a:spcPts val="0"/>
                </a:spcAft>
              </a:pPr>
              <a:r>
                <a:rPr sz="1100" b="0" i="0">
                  <a:solidFill>
                    <a:srgbClr val="FFB547"/>
                  </a:solidFill>
                  <a:latin typeface="Consolas"/>
                </a:rPr>
                <a:t>05</a:t>
              </a:r>
            </a:p>
          </p:txBody>
        </p:sp>
        <p:sp>
          <p:nvSpPr>
            <p:cNvPr id="16" name="TextBox 15"/>
            <p:cNvSpPr txBox="1"/>
            <p:nvPr/>
          </p:nvSpPr>
          <p:spPr>
            <a:xfrm>
              <a:off x="1463040" y="5221224"/>
              <a:ext cx="4206240" cy="676656"/>
            </a:xfrm>
            <a:prstGeom prst="rect">
              <a:avLst/>
            </a:prstGeom>
            <a:noFill/>
          </p:spPr>
          <p:txBody>
            <a:bodyPr wrap="square" lIns="0" tIns="0" rIns="0" bIns="0" anchor="t">
              <a:noAutofit/>
            </a:bodyPr>
            <a:lstStyle/>
            <a:p>
              <a:pPr algn="l">
                <a:lnSpc>
                  <a:spcPct val="100000"/>
                </a:lnSpc>
                <a:spcAft>
                  <a:spcPts val="100"/>
                </a:spcAft>
              </a:pPr>
              <a:r>
                <a:rPr sz="1450" b="0" i="0">
                  <a:solidFill>
                    <a:srgbClr val="EAF0F6"/>
                  </a:solidFill>
                  <a:latin typeface="Segoe UI Semibold"/>
                </a:rPr>
                <a:t>A 24-minute experiment</a:t>
              </a:r>
            </a:p>
            <a:p>
              <a:pPr algn="l">
                <a:lnSpc>
                  <a:spcPct val="100000"/>
                </a:lnSpc>
                <a:spcAft>
                  <a:spcPts val="0"/>
                </a:spcAft>
              </a:pPr>
              <a:r>
                <a:rPr sz="1250" b="0" i="0">
                  <a:solidFill>
                    <a:srgbClr val="AAB6C3"/>
                  </a:solidFill>
                  <a:latin typeface="Segoe UI"/>
                </a:rPr>
                <a:t>Reduced grids for walk-forward, and a separate results folder for every flag combination.</a:t>
              </a:r>
            </a:p>
          </p:txBody>
        </p:sp>
      </p:grpSp>
      <p:grpSp>
        <p:nvGrpSpPr>
          <p:cNvPr id="17" name="limits"/>
          <p:cNvGrpSpPr/>
          <p:nvPr/>
        </p:nvGrpSpPr>
        <p:grpSpPr>
          <a:xfrm>
            <a:off x="6211519" y="1783080"/>
            <a:ext cx="5340096" cy="4224528"/>
            <a:chOff x="6211519" y="1783080"/>
            <a:chExt cx="5340096" cy="4224528"/>
          </a:xfrm>
        </p:grpSpPr>
        <p:sp>
          <p:nvSpPr>
            <p:cNvPr id="18" name="limits_bg"/>
            <p:cNvSpPr/>
            <p:nvPr/>
          </p:nvSpPr>
          <p:spPr>
            <a:xfrm>
              <a:off x="6211519" y="1783080"/>
              <a:ext cx="5340096" cy="4224528"/>
            </a:xfrm>
            <a:prstGeom prst="roundRect">
              <a:avLst>
                <a:gd name="adj" fmla="val 2597"/>
              </a:avLst>
            </a:prstGeom>
            <a:solidFill>
              <a:srgbClr val="172231">
                <a:alpha val="88000"/>
              </a:srgbClr>
            </a:solidFill>
            <a:ln w="9525">
              <a:solidFill>
                <a:srgbClr val="243245"/>
              </a:solidFill>
            </a:ln>
          </p:spPr>
          <p:txBody>
            <a:bodyPr lIns="0" tIns="0" rIns="0" bIns="0" rtlCol="0" anchor="ctr"/>
            <a:lstStyle/>
            <a:p>
              <a:pPr algn="ctr"/>
              <a:endParaRPr/>
            </a:p>
          </p:txBody>
        </p:sp>
        <p:sp>
          <p:nvSpPr>
            <p:cNvPr id="19" name="TextBox 18"/>
            <p:cNvSpPr txBox="1"/>
            <p:nvPr/>
          </p:nvSpPr>
          <p:spPr>
            <a:xfrm>
              <a:off x="6531559" y="2011680"/>
              <a:ext cx="4663440" cy="256032"/>
            </a:xfrm>
            <a:prstGeom prst="rect">
              <a:avLst/>
            </a:prstGeom>
            <a:noFill/>
          </p:spPr>
          <p:txBody>
            <a:bodyPr wrap="square" lIns="0" tIns="0" rIns="0" bIns="0" anchor="t">
              <a:noAutofit/>
            </a:bodyPr>
            <a:lstStyle/>
            <a:p>
              <a:pPr algn="l">
                <a:spcAft>
                  <a:spcPts val="0"/>
                </a:spcAft>
              </a:pPr>
              <a:r>
                <a:rPr sz="1200" b="0" i="0" spc="200">
                  <a:solidFill>
                    <a:srgbClr val="AAB6C3"/>
                  </a:solidFill>
                  <a:latin typeface="Consolas"/>
                </a:rPr>
                <a:t>LIMITATIONS WE REPORT</a:t>
              </a:r>
            </a:p>
          </p:txBody>
        </p:sp>
        <p:sp>
          <p:nvSpPr>
            <p:cNvPr id="20" name="TextBox 19"/>
            <p:cNvSpPr txBox="1"/>
            <p:nvPr/>
          </p:nvSpPr>
          <p:spPr>
            <a:xfrm>
              <a:off x="6531559" y="2423160"/>
              <a:ext cx="457200" cy="274320"/>
            </a:xfrm>
            <a:prstGeom prst="rect">
              <a:avLst/>
            </a:prstGeom>
            <a:noFill/>
          </p:spPr>
          <p:txBody>
            <a:bodyPr wrap="square" lIns="0" tIns="0" rIns="0" bIns="0" anchor="t">
              <a:noAutofit/>
            </a:bodyPr>
            <a:lstStyle/>
            <a:p>
              <a:pPr algn="l">
                <a:spcAft>
                  <a:spcPts val="0"/>
                </a:spcAft>
              </a:pPr>
              <a:r>
                <a:rPr sz="1100" b="0" i="0">
                  <a:solidFill>
                    <a:srgbClr val="AAB6C3"/>
                  </a:solidFill>
                  <a:latin typeface="Consolas"/>
                </a:rPr>
                <a:t>01</a:t>
              </a:r>
            </a:p>
          </p:txBody>
        </p:sp>
        <p:sp>
          <p:nvSpPr>
            <p:cNvPr id="21" name="TextBox 20"/>
            <p:cNvSpPr txBox="1"/>
            <p:nvPr/>
          </p:nvSpPr>
          <p:spPr>
            <a:xfrm>
              <a:off x="7034479" y="2404872"/>
              <a:ext cx="4206240" cy="676656"/>
            </a:xfrm>
            <a:prstGeom prst="rect">
              <a:avLst/>
            </a:prstGeom>
            <a:noFill/>
          </p:spPr>
          <p:txBody>
            <a:bodyPr wrap="square" lIns="0" tIns="0" rIns="0" bIns="0" anchor="t">
              <a:noAutofit/>
            </a:bodyPr>
            <a:lstStyle/>
            <a:p>
              <a:pPr algn="l">
                <a:lnSpc>
                  <a:spcPct val="100000"/>
                </a:lnSpc>
                <a:spcAft>
                  <a:spcPts val="100"/>
                </a:spcAft>
              </a:pPr>
              <a:r>
                <a:rPr sz="1450" b="0" i="0">
                  <a:solidFill>
                    <a:srgbClr val="EAF0F6"/>
                  </a:solidFill>
                  <a:latin typeface="Segoe UI Semibold"/>
                </a:rPr>
                <a:t>Weak daily signal</a:t>
              </a:r>
            </a:p>
            <a:p>
              <a:pPr algn="l">
                <a:lnSpc>
                  <a:spcPct val="100000"/>
                </a:lnSpc>
                <a:spcAft>
                  <a:spcPts val="0"/>
                </a:spcAft>
              </a:pPr>
              <a:r>
                <a:rPr sz="1250" b="0" i="0">
                  <a:solidFill>
                    <a:srgbClr val="AAB6C3"/>
                  </a:solidFill>
                  <a:latin typeface="Segoe UI"/>
                </a:rPr>
                <a:t>Liquid large caps have near-zero daily autocorrelation; ~50% accuracy is expected.</a:t>
              </a:r>
            </a:p>
          </p:txBody>
        </p:sp>
        <p:sp>
          <p:nvSpPr>
            <p:cNvPr id="22" name="TextBox 21"/>
            <p:cNvSpPr txBox="1"/>
            <p:nvPr/>
          </p:nvSpPr>
          <p:spPr>
            <a:xfrm>
              <a:off x="6531559" y="3127248"/>
              <a:ext cx="457200" cy="274320"/>
            </a:xfrm>
            <a:prstGeom prst="rect">
              <a:avLst/>
            </a:prstGeom>
            <a:noFill/>
          </p:spPr>
          <p:txBody>
            <a:bodyPr wrap="square" lIns="0" tIns="0" rIns="0" bIns="0" anchor="t">
              <a:noAutofit/>
            </a:bodyPr>
            <a:lstStyle/>
            <a:p>
              <a:pPr algn="l">
                <a:spcAft>
                  <a:spcPts val="0"/>
                </a:spcAft>
              </a:pPr>
              <a:r>
                <a:rPr sz="1100" b="0" i="0">
                  <a:solidFill>
                    <a:srgbClr val="AAB6C3"/>
                  </a:solidFill>
                  <a:latin typeface="Consolas"/>
                </a:rPr>
                <a:t>02</a:t>
              </a:r>
            </a:p>
          </p:txBody>
        </p:sp>
        <p:sp>
          <p:nvSpPr>
            <p:cNvPr id="23" name="TextBox 22"/>
            <p:cNvSpPr txBox="1"/>
            <p:nvPr/>
          </p:nvSpPr>
          <p:spPr>
            <a:xfrm>
              <a:off x="7034479" y="3108960"/>
              <a:ext cx="4206240" cy="676656"/>
            </a:xfrm>
            <a:prstGeom prst="rect">
              <a:avLst/>
            </a:prstGeom>
            <a:noFill/>
          </p:spPr>
          <p:txBody>
            <a:bodyPr wrap="square" lIns="0" tIns="0" rIns="0" bIns="0" anchor="t">
              <a:noAutofit/>
            </a:bodyPr>
            <a:lstStyle/>
            <a:p>
              <a:pPr algn="l">
                <a:lnSpc>
                  <a:spcPct val="100000"/>
                </a:lnSpc>
                <a:spcAft>
                  <a:spcPts val="100"/>
                </a:spcAft>
              </a:pPr>
              <a:r>
                <a:rPr sz="1450" b="0" i="0">
                  <a:solidFill>
                    <a:srgbClr val="EAF0F6"/>
                  </a:solidFill>
                  <a:latin typeface="Segoe UI Semibold"/>
                </a:rPr>
                <a:t>Survivorship bias</a:t>
              </a:r>
            </a:p>
            <a:p>
              <a:pPr algn="l">
                <a:lnSpc>
                  <a:spcPct val="100000"/>
                </a:lnSpc>
                <a:spcAft>
                  <a:spcPts val="0"/>
                </a:spcAft>
              </a:pPr>
              <a:r>
                <a:rPr sz="1250" b="0" i="0">
                  <a:solidFill>
                    <a:srgbClr val="AAB6C3"/>
                  </a:solidFill>
                  <a:latin typeface="Segoe UI"/>
                </a:rPr>
                <a:t>SPY, AAPL and MSFT were chosen in hindsight; weaker or delisted stocks could differ.</a:t>
              </a:r>
            </a:p>
          </p:txBody>
        </p:sp>
        <p:sp>
          <p:nvSpPr>
            <p:cNvPr id="24" name="TextBox 23"/>
            <p:cNvSpPr txBox="1"/>
            <p:nvPr/>
          </p:nvSpPr>
          <p:spPr>
            <a:xfrm>
              <a:off x="6531559" y="3831336"/>
              <a:ext cx="457200" cy="274320"/>
            </a:xfrm>
            <a:prstGeom prst="rect">
              <a:avLst/>
            </a:prstGeom>
            <a:noFill/>
          </p:spPr>
          <p:txBody>
            <a:bodyPr wrap="square" lIns="0" tIns="0" rIns="0" bIns="0" anchor="t">
              <a:noAutofit/>
            </a:bodyPr>
            <a:lstStyle/>
            <a:p>
              <a:pPr algn="l">
                <a:spcAft>
                  <a:spcPts val="0"/>
                </a:spcAft>
              </a:pPr>
              <a:r>
                <a:rPr sz="1100" b="0" i="0">
                  <a:solidFill>
                    <a:srgbClr val="AAB6C3"/>
                  </a:solidFill>
                  <a:latin typeface="Consolas"/>
                </a:rPr>
                <a:t>03</a:t>
              </a:r>
            </a:p>
          </p:txBody>
        </p:sp>
        <p:sp>
          <p:nvSpPr>
            <p:cNvPr id="25" name="TextBox 24"/>
            <p:cNvSpPr txBox="1"/>
            <p:nvPr/>
          </p:nvSpPr>
          <p:spPr>
            <a:xfrm>
              <a:off x="7034479" y="3813048"/>
              <a:ext cx="4206240" cy="676656"/>
            </a:xfrm>
            <a:prstGeom prst="rect">
              <a:avLst/>
            </a:prstGeom>
            <a:noFill/>
          </p:spPr>
          <p:txBody>
            <a:bodyPr wrap="square" lIns="0" tIns="0" rIns="0" bIns="0" anchor="t">
              <a:noAutofit/>
            </a:bodyPr>
            <a:lstStyle/>
            <a:p>
              <a:pPr algn="l">
                <a:lnSpc>
                  <a:spcPct val="100000"/>
                </a:lnSpc>
                <a:spcAft>
                  <a:spcPts val="100"/>
                </a:spcAft>
              </a:pPr>
              <a:r>
                <a:rPr sz="1450" b="0" i="0">
                  <a:solidFill>
                    <a:srgbClr val="EAF0F6"/>
                  </a:solidFill>
                  <a:latin typeface="Segoe UI Semibold"/>
                </a:rPr>
                <a:t>Multiple testing</a:t>
              </a:r>
            </a:p>
            <a:p>
              <a:pPr algn="l">
                <a:lnSpc>
                  <a:spcPct val="100000"/>
                </a:lnSpc>
                <a:spcAft>
                  <a:spcPts val="0"/>
                </a:spcAft>
              </a:pPr>
              <a:r>
                <a:rPr sz="1250" b="0" i="0">
                  <a:solidFill>
                    <a:srgbClr val="AAB6C3"/>
                  </a:solidFill>
                  <a:latin typeface="Segoe UI"/>
                </a:rPr>
                <a:t>Many models × thresholds × assets, and no deflated-Sharpe correction.</a:t>
              </a:r>
            </a:p>
          </p:txBody>
        </p:sp>
        <p:sp>
          <p:nvSpPr>
            <p:cNvPr id="26" name="TextBox 25"/>
            <p:cNvSpPr txBox="1"/>
            <p:nvPr/>
          </p:nvSpPr>
          <p:spPr>
            <a:xfrm>
              <a:off x="6531559" y="4535424"/>
              <a:ext cx="457200" cy="274320"/>
            </a:xfrm>
            <a:prstGeom prst="rect">
              <a:avLst/>
            </a:prstGeom>
            <a:noFill/>
          </p:spPr>
          <p:txBody>
            <a:bodyPr wrap="square" lIns="0" tIns="0" rIns="0" bIns="0" anchor="t">
              <a:noAutofit/>
            </a:bodyPr>
            <a:lstStyle/>
            <a:p>
              <a:pPr algn="l">
                <a:spcAft>
                  <a:spcPts val="0"/>
                </a:spcAft>
              </a:pPr>
              <a:r>
                <a:rPr sz="1100" b="0" i="0">
                  <a:solidFill>
                    <a:srgbClr val="AAB6C3"/>
                  </a:solidFill>
                  <a:latin typeface="Consolas"/>
                </a:rPr>
                <a:t>04</a:t>
              </a:r>
            </a:p>
          </p:txBody>
        </p:sp>
        <p:sp>
          <p:nvSpPr>
            <p:cNvPr id="27" name="TextBox 26"/>
            <p:cNvSpPr txBox="1"/>
            <p:nvPr/>
          </p:nvSpPr>
          <p:spPr>
            <a:xfrm>
              <a:off x="7034479" y="4517136"/>
              <a:ext cx="4206240" cy="676656"/>
            </a:xfrm>
            <a:prstGeom prst="rect">
              <a:avLst/>
            </a:prstGeom>
            <a:noFill/>
          </p:spPr>
          <p:txBody>
            <a:bodyPr wrap="square" lIns="0" tIns="0" rIns="0" bIns="0" anchor="t">
              <a:noAutofit/>
            </a:bodyPr>
            <a:lstStyle/>
            <a:p>
              <a:pPr algn="l">
                <a:lnSpc>
                  <a:spcPct val="100000"/>
                </a:lnSpc>
                <a:spcAft>
                  <a:spcPts val="100"/>
                </a:spcAft>
              </a:pPr>
              <a:r>
                <a:rPr sz="1450" b="0" i="0">
                  <a:solidFill>
                    <a:srgbClr val="EAF0F6"/>
                  </a:solidFill>
                  <a:latin typeface="Segoe UI Semibold"/>
                </a:rPr>
                <a:t>Simple cost model</a:t>
              </a:r>
            </a:p>
            <a:p>
              <a:pPr algn="l">
                <a:lnSpc>
                  <a:spcPct val="100000"/>
                </a:lnSpc>
                <a:spcAft>
                  <a:spcPts val="0"/>
                </a:spcAft>
              </a:pPr>
              <a:r>
                <a:rPr sz="1250" b="0" i="0">
                  <a:solidFill>
                    <a:srgbClr val="AAB6C3"/>
                  </a:solidFill>
                  <a:latin typeface="Segoe UI"/>
                </a:rPr>
                <a:t>A flat 15 bps; no market impact, spreads, borrow costs or taxes.</a:t>
              </a:r>
            </a:p>
          </p:txBody>
        </p:sp>
        <p:sp>
          <p:nvSpPr>
            <p:cNvPr id="28" name="TextBox 27"/>
            <p:cNvSpPr txBox="1"/>
            <p:nvPr/>
          </p:nvSpPr>
          <p:spPr>
            <a:xfrm>
              <a:off x="6531559" y="5239512"/>
              <a:ext cx="457200" cy="274320"/>
            </a:xfrm>
            <a:prstGeom prst="rect">
              <a:avLst/>
            </a:prstGeom>
            <a:noFill/>
          </p:spPr>
          <p:txBody>
            <a:bodyPr wrap="square" lIns="0" tIns="0" rIns="0" bIns="0" anchor="t">
              <a:noAutofit/>
            </a:bodyPr>
            <a:lstStyle/>
            <a:p>
              <a:pPr algn="l">
                <a:spcAft>
                  <a:spcPts val="0"/>
                </a:spcAft>
              </a:pPr>
              <a:r>
                <a:rPr sz="1100" b="0" i="0">
                  <a:solidFill>
                    <a:srgbClr val="AAB6C3"/>
                  </a:solidFill>
                  <a:latin typeface="Consolas"/>
                </a:rPr>
                <a:t>05</a:t>
              </a:r>
            </a:p>
          </p:txBody>
        </p:sp>
        <p:sp>
          <p:nvSpPr>
            <p:cNvPr id="29" name="TextBox 28"/>
            <p:cNvSpPr txBox="1"/>
            <p:nvPr/>
          </p:nvSpPr>
          <p:spPr>
            <a:xfrm>
              <a:off x="7034479" y="5221224"/>
              <a:ext cx="4206240" cy="676656"/>
            </a:xfrm>
            <a:prstGeom prst="rect">
              <a:avLst/>
            </a:prstGeom>
            <a:noFill/>
          </p:spPr>
          <p:txBody>
            <a:bodyPr wrap="square" lIns="0" tIns="0" rIns="0" bIns="0" anchor="t">
              <a:noAutofit/>
            </a:bodyPr>
            <a:lstStyle/>
            <a:p>
              <a:pPr algn="l">
                <a:lnSpc>
                  <a:spcPct val="100000"/>
                </a:lnSpc>
                <a:spcAft>
                  <a:spcPts val="100"/>
                </a:spcAft>
              </a:pPr>
              <a:r>
                <a:rPr sz="1450" b="0" i="0">
                  <a:solidFill>
                    <a:srgbClr val="EAF0F6"/>
                  </a:solidFill>
                  <a:latin typeface="Segoe UI Semibold"/>
                </a:rPr>
                <a:t>Price and volume only</a:t>
              </a:r>
            </a:p>
            <a:p>
              <a:pPr algn="l">
                <a:lnSpc>
                  <a:spcPct val="100000"/>
                </a:lnSpc>
                <a:spcAft>
                  <a:spcPts val="0"/>
                </a:spcAft>
              </a:pPr>
              <a:r>
                <a:rPr sz="1250" b="0" i="0">
                  <a:solidFill>
                    <a:srgbClr val="AAB6C3"/>
                  </a:solidFill>
                  <a:latin typeface="Segoe UI"/>
                </a:rPr>
                <a:t>No news, macro, fundamental or order-book data.</a:t>
              </a: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fill="hold"/>
                                        <p:tgtEl>
                                          <p:spTgt spid="4"/>
                                        </p:tgtEl>
                                        <p:attrNameLst>
                                          <p:attrName>ppt_x</p:attrName>
                                        </p:attrNameLst>
                                      </p:cBhvr>
                                      <p:tavLst>
                                        <p:tav tm="0">
                                          <p:val>
                                            <p:strVal val="#ppt_x"/>
                                          </p:val>
                                        </p:tav>
                                        <p:tav tm="100000">
                                          <p:val>
                                            <p:strVal val="#ppt_x"/>
                                          </p:val>
                                        </p:tav>
                                      </p:tavLst>
                                    </p:anim>
                                    <p:anim calcmode="lin" valueType="num">
                                      <p:cBhvr>
                                        <p:cTn id="9" dur="5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3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50"/>
                                        <p:tgtEl>
                                          <p:spTgt spid="17"/>
                                        </p:tgtEl>
                                      </p:cBhvr>
                                    </p:animEffect>
                                    <p:anim calcmode="lin" valueType="num">
                                      <p:cBhvr>
                                        <p:cTn id="13" dur="550" fill="hold"/>
                                        <p:tgtEl>
                                          <p:spTgt spid="17"/>
                                        </p:tgtEl>
                                        <p:attrNameLst>
                                          <p:attrName>ppt_x</p:attrName>
                                        </p:attrNameLst>
                                      </p:cBhvr>
                                      <p:tavLst>
                                        <p:tav tm="0">
                                          <p:val>
                                            <p:strVal val="#ppt_x"/>
                                          </p:val>
                                        </p:tav>
                                        <p:tav tm="100000">
                                          <p:val>
                                            <p:strVal val="#ppt_x"/>
                                          </p:val>
                                        </p:tav>
                                      </p:tavLst>
                                    </p:anim>
                                    <p:anim calcmode="lin" valueType="num">
                                      <p:cBhvr>
                                        <p:cTn id="14" dur="55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Where this goes next</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13 · FUTURE SCOPE</a:t>
            </a:r>
          </a:p>
        </p:txBody>
      </p:sp>
      <p:sp>
        <p:nvSpPr>
          <p:cNvPr id="4" name="rag_label"/>
          <p:cNvSpPr txBox="1"/>
          <p:nvPr/>
        </p:nvSpPr>
        <p:spPr>
          <a:xfrm>
            <a:off x="640080" y="1783080"/>
            <a:ext cx="10911535"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THE STRETCH GOAL, DESIGNED LEAKAGE-SAFE · NEWS SENTIMENT VIA RETRIEVAL (RAG)</a:t>
            </a:r>
          </a:p>
        </p:txBody>
      </p:sp>
      <p:grpSp>
        <p:nvGrpSpPr>
          <p:cNvPr id="5" name="rag_1"/>
          <p:cNvGrpSpPr/>
          <p:nvPr/>
        </p:nvGrpSpPr>
        <p:grpSpPr>
          <a:xfrm>
            <a:off x="640080" y="2148840"/>
            <a:ext cx="1984248" cy="1554480"/>
            <a:chOff x="640080" y="2148840"/>
            <a:chExt cx="1984248" cy="1554480"/>
          </a:xfrm>
        </p:grpSpPr>
        <p:sp>
          <p:nvSpPr>
            <p:cNvPr id="6" name="rag_1_bg"/>
            <p:cNvSpPr/>
            <p:nvPr/>
          </p:nvSpPr>
          <p:spPr>
            <a:xfrm>
              <a:off x="640080" y="2148840"/>
              <a:ext cx="1984248" cy="1554480"/>
            </a:xfrm>
            <a:prstGeom prst="roundRect">
              <a:avLst>
                <a:gd name="adj" fmla="val 7058"/>
              </a:avLst>
            </a:prstGeom>
            <a:solidFill>
              <a:srgbClr val="111823">
                <a:alpha val="88000"/>
              </a:srgbClr>
            </a:solidFill>
            <a:ln w="9525">
              <a:solidFill>
                <a:srgbClr val="243245"/>
              </a:solidFill>
            </a:ln>
          </p:spPr>
          <p:txBody>
            <a:bodyPr lIns="0" tIns="0" rIns="0" bIns="0" rtlCol="0" anchor="ctr"/>
            <a:lstStyle/>
            <a:p>
              <a:pPr algn="ctr"/>
              <a:endParaRPr/>
            </a:p>
          </p:txBody>
        </p:sp>
        <p:sp>
          <p:nvSpPr>
            <p:cNvPr id="7" name="TextBox 6"/>
            <p:cNvSpPr txBox="1"/>
            <p:nvPr/>
          </p:nvSpPr>
          <p:spPr>
            <a:xfrm>
              <a:off x="868680" y="2331720"/>
              <a:ext cx="1554480" cy="237744"/>
            </a:xfrm>
            <a:prstGeom prst="rect">
              <a:avLst/>
            </a:prstGeom>
            <a:noFill/>
          </p:spPr>
          <p:txBody>
            <a:bodyPr wrap="square" lIns="0" tIns="0" rIns="0" bIns="0" anchor="t">
              <a:noAutofit/>
            </a:bodyPr>
            <a:lstStyle/>
            <a:p>
              <a:pPr algn="l">
                <a:spcAft>
                  <a:spcPts val="0"/>
                </a:spcAft>
              </a:pPr>
              <a:r>
                <a:rPr sz="1100" b="0" i="0">
                  <a:solidFill>
                    <a:srgbClr val="FFB547"/>
                  </a:solidFill>
                  <a:latin typeface="Consolas"/>
                </a:rPr>
                <a:t>01</a:t>
              </a:r>
            </a:p>
          </p:txBody>
        </p:sp>
        <p:sp>
          <p:nvSpPr>
            <p:cNvPr id="8" name="TextBox 7"/>
            <p:cNvSpPr txBox="1"/>
            <p:nvPr/>
          </p:nvSpPr>
          <p:spPr>
            <a:xfrm>
              <a:off x="868680" y="2606040"/>
              <a:ext cx="1600200" cy="502920"/>
            </a:xfrm>
            <a:prstGeom prst="rect">
              <a:avLst/>
            </a:prstGeom>
            <a:noFill/>
          </p:spPr>
          <p:txBody>
            <a:bodyPr wrap="square" lIns="0" tIns="0" rIns="0" bIns="0" anchor="t">
              <a:noAutofit/>
            </a:bodyPr>
            <a:lstStyle/>
            <a:p>
              <a:pPr algn="l">
                <a:lnSpc>
                  <a:spcPct val="95000"/>
                </a:lnSpc>
                <a:spcAft>
                  <a:spcPts val="0"/>
                </a:spcAft>
              </a:pPr>
              <a:r>
                <a:rPr sz="1500" b="0" i="0">
                  <a:solidFill>
                    <a:srgbClr val="EAF0F6"/>
                  </a:solidFill>
                  <a:latin typeface="Segoe UI Semibold"/>
                </a:rPr>
                <a:t>Time-stamped news</a:t>
              </a:r>
            </a:p>
          </p:txBody>
        </p:sp>
        <p:sp>
          <p:nvSpPr>
            <p:cNvPr id="9" name="TextBox 8"/>
            <p:cNvSpPr txBox="1"/>
            <p:nvPr/>
          </p:nvSpPr>
          <p:spPr>
            <a:xfrm>
              <a:off x="868680" y="3108960"/>
              <a:ext cx="1600200" cy="530352"/>
            </a:xfrm>
            <a:prstGeom prst="rect">
              <a:avLst/>
            </a:prstGeom>
            <a:noFill/>
          </p:spPr>
          <p:txBody>
            <a:bodyPr wrap="square" lIns="0" tIns="0" rIns="0" bIns="0" anchor="t">
              <a:noAutofit/>
            </a:bodyPr>
            <a:lstStyle/>
            <a:p>
              <a:pPr algn="l">
                <a:lnSpc>
                  <a:spcPct val="100000"/>
                </a:lnSpc>
                <a:spcAft>
                  <a:spcPts val="0"/>
                </a:spcAft>
              </a:pPr>
              <a:r>
                <a:rPr sz="1200" b="0" i="0">
                  <a:solidFill>
                    <a:srgbClr val="AAB6C3"/>
                  </a:solidFill>
                  <a:latin typeface="Segoe UI"/>
                </a:rPr>
                <a:t>GDELT, SEC 8-K filings, licensed archives</a:t>
              </a:r>
            </a:p>
          </p:txBody>
        </p:sp>
      </p:grpSp>
      <p:cxnSp>
        <p:nvCxnSpPr>
          <p:cNvPr id="10" name="rag_arr_1"/>
          <p:cNvCxnSpPr/>
          <p:nvPr/>
        </p:nvCxnSpPr>
        <p:spPr>
          <a:xfrm>
            <a:off x="2651760" y="2926080"/>
            <a:ext cx="192756" cy="0"/>
          </a:xfrm>
          <a:prstGeom prst="line">
            <a:avLst/>
          </a:prstGeom>
          <a:ln w="15875">
            <a:solidFill>
              <a:srgbClr val="FFB547"/>
            </a:solidFill>
            <a:tailEnd type="triangle" w="med" len="med"/>
          </a:ln>
        </p:spPr>
      </p:cxnSp>
      <p:grpSp>
        <p:nvGrpSpPr>
          <p:cNvPr id="11" name="rag_2"/>
          <p:cNvGrpSpPr/>
          <p:nvPr/>
        </p:nvGrpSpPr>
        <p:grpSpPr>
          <a:xfrm>
            <a:off x="2871948" y="2148840"/>
            <a:ext cx="1984248" cy="1554480"/>
            <a:chOff x="2871948" y="2148840"/>
            <a:chExt cx="1984248" cy="1554480"/>
          </a:xfrm>
        </p:grpSpPr>
        <p:sp>
          <p:nvSpPr>
            <p:cNvPr id="12" name="rag_2_bg"/>
            <p:cNvSpPr/>
            <p:nvPr/>
          </p:nvSpPr>
          <p:spPr>
            <a:xfrm>
              <a:off x="2871948" y="2148840"/>
              <a:ext cx="1984248" cy="1554480"/>
            </a:xfrm>
            <a:prstGeom prst="roundRect">
              <a:avLst>
                <a:gd name="adj" fmla="val 7058"/>
              </a:avLst>
            </a:prstGeom>
            <a:solidFill>
              <a:srgbClr val="111823">
                <a:alpha val="88000"/>
              </a:srgbClr>
            </a:solidFill>
            <a:ln w="12700">
              <a:solidFill>
                <a:srgbClr val="FFB547">
                  <a:alpha val="75000"/>
                </a:srgbClr>
              </a:solidFill>
            </a:ln>
          </p:spPr>
          <p:txBody>
            <a:bodyPr lIns="0" tIns="0" rIns="0" bIns="0" rtlCol="0" anchor="ctr"/>
            <a:lstStyle/>
            <a:p>
              <a:pPr algn="ctr"/>
              <a:endParaRPr/>
            </a:p>
          </p:txBody>
        </p:sp>
        <p:sp>
          <p:nvSpPr>
            <p:cNvPr id="13" name="TextBox 12"/>
            <p:cNvSpPr txBox="1"/>
            <p:nvPr/>
          </p:nvSpPr>
          <p:spPr>
            <a:xfrm>
              <a:off x="3100548" y="2331720"/>
              <a:ext cx="1554480" cy="237744"/>
            </a:xfrm>
            <a:prstGeom prst="rect">
              <a:avLst/>
            </a:prstGeom>
            <a:noFill/>
          </p:spPr>
          <p:txBody>
            <a:bodyPr wrap="square" lIns="0" tIns="0" rIns="0" bIns="0" anchor="t">
              <a:noAutofit/>
            </a:bodyPr>
            <a:lstStyle/>
            <a:p>
              <a:pPr algn="l">
                <a:spcAft>
                  <a:spcPts val="0"/>
                </a:spcAft>
              </a:pPr>
              <a:r>
                <a:rPr sz="1100" b="0" i="0">
                  <a:solidFill>
                    <a:srgbClr val="FFB547"/>
                  </a:solidFill>
                  <a:latin typeface="Consolas"/>
                </a:rPr>
                <a:t>02</a:t>
              </a:r>
            </a:p>
          </p:txBody>
        </p:sp>
        <p:sp>
          <p:nvSpPr>
            <p:cNvPr id="14" name="TextBox 13"/>
            <p:cNvSpPr txBox="1"/>
            <p:nvPr/>
          </p:nvSpPr>
          <p:spPr>
            <a:xfrm>
              <a:off x="3100548" y="2606040"/>
              <a:ext cx="1600200" cy="502920"/>
            </a:xfrm>
            <a:prstGeom prst="rect">
              <a:avLst/>
            </a:prstGeom>
            <a:noFill/>
          </p:spPr>
          <p:txBody>
            <a:bodyPr wrap="square" lIns="0" tIns="0" rIns="0" bIns="0" anchor="t">
              <a:noAutofit/>
            </a:bodyPr>
            <a:lstStyle/>
            <a:p>
              <a:pPr algn="l">
                <a:lnSpc>
                  <a:spcPct val="95000"/>
                </a:lnSpc>
                <a:spcAft>
                  <a:spcPts val="0"/>
                </a:spcAft>
              </a:pPr>
              <a:r>
                <a:rPr sz="1500" b="0" i="0">
                  <a:solidFill>
                    <a:srgbClr val="EAF0F6"/>
                  </a:solidFill>
                  <a:latin typeface="Segoe UI Semibold"/>
                </a:rPr>
                <a:t>Retrieve before close t</a:t>
              </a:r>
            </a:p>
          </p:txBody>
        </p:sp>
        <p:sp>
          <p:nvSpPr>
            <p:cNvPr id="15" name="TextBox 14"/>
            <p:cNvSpPr txBox="1"/>
            <p:nvPr/>
          </p:nvSpPr>
          <p:spPr>
            <a:xfrm>
              <a:off x="3100548" y="3108960"/>
              <a:ext cx="1600200" cy="530352"/>
            </a:xfrm>
            <a:prstGeom prst="rect">
              <a:avLst/>
            </a:prstGeom>
            <a:noFill/>
          </p:spPr>
          <p:txBody>
            <a:bodyPr wrap="square" lIns="0" tIns="0" rIns="0" bIns="0" anchor="t">
              <a:noAutofit/>
            </a:bodyPr>
            <a:lstStyle/>
            <a:p>
              <a:pPr algn="l">
                <a:lnSpc>
                  <a:spcPct val="100000"/>
                </a:lnSpc>
                <a:spcAft>
                  <a:spcPts val="0"/>
                </a:spcAft>
              </a:pPr>
              <a:r>
                <a:rPr sz="1200" b="0" i="0">
                  <a:solidFill>
                    <a:srgbClr val="AAB6C3"/>
                  </a:solidFill>
                  <a:latin typeface="Segoe UI"/>
                </a:rPr>
                <a:t>vector index by ticker and publication time</a:t>
              </a:r>
            </a:p>
          </p:txBody>
        </p:sp>
      </p:grpSp>
      <p:cxnSp>
        <p:nvCxnSpPr>
          <p:cNvPr id="16" name="rag_arr_2"/>
          <p:cNvCxnSpPr/>
          <p:nvPr/>
        </p:nvCxnSpPr>
        <p:spPr>
          <a:xfrm>
            <a:off x="4883628" y="2926080"/>
            <a:ext cx="192755" cy="0"/>
          </a:xfrm>
          <a:prstGeom prst="line">
            <a:avLst/>
          </a:prstGeom>
          <a:ln w="15875">
            <a:solidFill>
              <a:srgbClr val="FFB547"/>
            </a:solidFill>
            <a:tailEnd type="triangle" w="med" len="med"/>
          </a:ln>
        </p:spPr>
      </p:cxnSp>
      <p:grpSp>
        <p:nvGrpSpPr>
          <p:cNvPr id="17" name="rag_3"/>
          <p:cNvGrpSpPr/>
          <p:nvPr/>
        </p:nvGrpSpPr>
        <p:grpSpPr>
          <a:xfrm>
            <a:off x="5103815" y="2148840"/>
            <a:ext cx="1984248" cy="1554480"/>
            <a:chOff x="5103815" y="2148840"/>
            <a:chExt cx="1984248" cy="1554480"/>
          </a:xfrm>
        </p:grpSpPr>
        <p:sp>
          <p:nvSpPr>
            <p:cNvPr id="18" name="rag_3_bg"/>
            <p:cNvSpPr/>
            <p:nvPr/>
          </p:nvSpPr>
          <p:spPr>
            <a:xfrm>
              <a:off x="5103815" y="2148840"/>
              <a:ext cx="1984248" cy="1554480"/>
            </a:xfrm>
            <a:prstGeom prst="roundRect">
              <a:avLst>
                <a:gd name="adj" fmla="val 7058"/>
              </a:avLst>
            </a:prstGeom>
            <a:solidFill>
              <a:srgbClr val="111823">
                <a:alpha val="88000"/>
              </a:srgbClr>
            </a:solidFill>
            <a:ln w="9525">
              <a:solidFill>
                <a:srgbClr val="243245"/>
              </a:solidFill>
            </a:ln>
          </p:spPr>
          <p:txBody>
            <a:bodyPr lIns="0" tIns="0" rIns="0" bIns="0" rtlCol="0" anchor="ctr"/>
            <a:lstStyle/>
            <a:p>
              <a:pPr algn="ctr"/>
              <a:endParaRPr/>
            </a:p>
          </p:txBody>
        </p:sp>
        <p:sp>
          <p:nvSpPr>
            <p:cNvPr id="19" name="TextBox 18"/>
            <p:cNvSpPr txBox="1"/>
            <p:nvPr/>
          </p:nvSpPr>
          <p:spPr>
            <a:xfrm>
              <a:off x="5332415" y="2331720"/>
              <a:ext cx="1554480" cy="237744"/>
            </a:xfrm>
            <a:prstGeom prst="rect">
              <a:avLst/>
            </a:prstGeom>
            <a:noFill/>
          </p:spPr>
          <p:txBody>
            <a:bodyPr wrap="square" lIns="0" tIns="0" rIns="0" bIns="0" anchor="t">
              <a:noAutofit/>
            </a:bodyPr>
            <a:lstStyle/>
            <a:p>
              <a:pPr algn="l">
                <a:spcAft>
                  <a:spcPts val="0"/>
                </a:spcAft>
              </a:pPr>
              <a:r>
                <a:rPr sz="1100" b="0" i="0">
                  <a:solidFill>
                    <a:srgbClr val="FFB547"/>
                  </a:solidFill>
                  <a:latin typeface="Consolas"/>
                </a:rPr>
                <a:t>03</a:t>
              </a:r>
            </a:p>
          </p:txBody>
        </p:sp>
        <p:sp>
          <p:nvSpPr>
            <p:cNvPr id="20" name="TextBox 19"/>
            <p:cNvSpPr txBox="1"/>
            <p:nvPr/>
          </p:nvSpPr>
          <p:spPr>
            <a:xfrm>
              <a:off x="5332415" y="2606040"/>
              <a:ext cx="1600200" cy="502920"/>
            </a:xfrm>
            <a:prstGeom prst="rect">
              <a:avLst/>
            </a:prstGeom>
            <a:noFill/>
          </p:spPr>
          <p:txBody>
            <a:bodyPr wrap="square" lIns="0" tIns="0" rIns="0" bIns="0" anchor="t">
              <a:noAutofit/>
            </a:bodyPr>
            <a:lstStyle/>
            <a:p>
              <a:pPr algn="l">
                <a:lnSpc>
                  <a:spcPct val="95000"/>
                </a:lnSpc>
                <a:spcAft>
                  <a:spcPts val="0"/>
                </a:spcAft>
              </a:pPr>
              <a:r>
                <a:rPr sz="1500" b="0" i="0">
                  <a:solidFill>
                    <a:srgbClr val="EAF0F6"/>
                  </a:solidFill>
                  <a:latin typeface="Segoe UI Semibold"/>
                </a:rPr>
                <a:t>Score sentiment</a:t>
              </a:r>
            </a:p>
          </p:txBody>
        </p:sp>
        <p:sp>
          <p:nvSpPr>
            <p:cNvPr id="21" name="TextBox 20"/>
            <p:cNvSpPr txBox="1"/>
            <p:nvPr/>
          </p:nvSpPr>
          <p:spPr>
            <a:xfrm>
              <a:off x="5332415" y="3108960"/>
              <a:ext cx="1600200" cy="530352"/>
            </a:xfrm>
            <a:prstGeom prst="rect">
              <a:avLst/>
            </a:prstGeom>
            <a:noFill/>
          </p:spPr>
          <p:txBody>
            <a:bodyPr wrap="square" lIns="0" tIns="0" rIns="0" bIns="0" anchor="t">
              <a:noAutofit/>
            </a:bodyPr>
            <a:lstStyle/>
            <a:p>
              <a:pPr algn="l">
                <a:lnSpc>
                  <a:spcPct val="100000"/>
                </a:lnSpc>
                <a:spcAft>
                  <a:spcPts val="0"/>
                </a:spcAft>
              </a:pPr>
              <a:r>
                <a:rPr sz="1200" b="0" i="0">
                  <a:solidFill>
                    <a:srgbClr val="AAB6C3"/>
                  </a:solidFill>
                  <a:latin typeface="Segoe UI"/>
                </a:rPr>
                <a:t>a financial model such as FinBERT</a:t>
              </a:r>
            </a:p>
          </p:txBody>
        </p:sp>
      </p:grpSp>
      <p:cxnSp>
        <p:nvCxnSpPr>
          <p:cNvPr id="22" name="rag_arr_3"/>
          <p:cNvCxnSpPr/>
          <p:nvPr/>
        </p:nvCxnSpPr>
        <p:spPr>
          <a:xfrm>
            <a:off x="7115495" y="2926080"/>
            <a:ext cx="192756" cy="0"/>
          </a:xfrm>
          <a:prstGeom prst="line">
            <a:avLst/>
          </a:prstGeom>
          <a:ln w="15875">
            <a:solidFill>
              <a:srgbClr val="FFB547"/>
            </a:solidFill>
            <a:tailEnd type="triangle" w="med" len="med"/>
          </a:ln>
        </p:spPr>
      </p:cxnSp>
      <p:grpSp>
        <p:nvGrpSpPr>
          <p:cNvPr id="23" name="rag_4"/>
          <p:cNvGrpSpPr/>
          <p:nvPr/>
        </p:nvGrpSpPr>
        <p:grpSpPr>
          <a:xfrm>
            <a:off x="7335683" y="2148840"/>
            <a:ext cx="1984248" cy="1554480"/>
            <a:chOff x="7335683" y="2148840"/>
            <a:chExt cx="1984248" cy="1554480"/>
          </a:xfrm>
        </p:grpSpPr>
        <p:sp>
          <p:nvSpPr>
            <p:cNvPr id="24" name="rag_4_bg"/>
            <p:cNvSpPr/>
            <p:nvPr/>
          </p:nvSpPr>
          <p:spPr>
            <a:xfrm>
              <a:off x="7335683" y="2148840"/>
              <a:ext cx="1984248" cy="1554480"/>
            </a:xfrm>
            <a:prstGeom prst="roundRect">
              <a:avLst>
                <a:gd name="adj" fmla="val 7058"/>
              </a:avLst>
            </a:prstGeom>
            <a:solidFill>
              <a:srgbClr val="111823">
                <a:alpha val="88000"/>
              </a:srgbClr>
            </a:solidFill>
            <a:ln w="9525">
              <a:solidFill>
                <a:srgbClr val="243245"/>
              </a:solidFill>
            </a:ln>
          </p:spPr>
          <p:txBody>
            <a:bodyPr lIns="0" tIns="0" rIns="0" bIns="0" rtlCol="0" anchor="ctr"/>
            <a:lstStyle/>
            <a:p>
              <a:pPr algn="ctr"/>
              <a:endParaRPr/>
            </a:p>
          </p:txBody>
        </p:sp>
        <p:sp>
          <p:nvSpPr>
            <p:cNvPr id="25" name="TextBox 24"/>
            <p:cNvSpPr txBox="1"/>
            <p:nvPr/>
          </p:nvSpPr>
          <p:spPr>
            <a:xfrm>
              <a:off x="7564283" y="2331720"/>
              <a:ext cx="1554480" cy="237744"/>
            </a:xfrm>
            <a:prstGeom prst="rect">
              <a:avLst/>
            </a:prstGeom>
            <a:noFill/>
          </p:spPr>
          <p:txBody>
            <a:bodyPr wrap="square" lIns="0" tIns="0" rIns="0" bIns="0" anchor="t">
              <a:noAutofit/>
            </a:bodyPr>
            <a:lstStyle/>
            <a:p>
              <a:pPr algn="l">
                <a:spcAft>
                  <a:spcPts val="0"/>
                </a:spcAft>
              </a:pPr>
              <a:r>
                <a:rPr sz="1100" b="0" i="0">
                  <a:solidFill>
                    <a:srgbClr val="FFB547"/>
                  </a:solidFill>
                  <a:latin typeface="Consolas"/>
                </a:rPr>
                <a:t>04</a:t>
              </a:r>
            </a:p>
          </p:txBody>
        </p:sp>
        <p:sp>
          <p:nvSpPr>
            <p:cNvPr id="26" name="TextBox 25"/>
            <p:cNvSpPr txBox="1"/>
            <p:nvPr/>
          </p:nvSpPr>
          <p:spPr>
            <a:xfrm>
              <a:off x="7564283" y="2606040"/>
              <a:ext cx="1600200" cy="502920"/>
            </a:xfrm>
            <a:prstGeom prst="rect">
              <a:avLst/>
            </a:prstGeom>
            <a:noFill/>
          </p:spPr>
          <p:txBody>
            <a:bodyPr wrap="square" lIns="0" tIns="0" rIns="0" bIns="0" anchor="t">
              <a:noAutofit/>
            </a:bodyPr>
            <a:lstStyle/>
            <a:p>
              <a:pPr algn="l">
                <a:lnSpc>
                  <a:spcPct val="95000"/>
                </a:lnSpc>
                <a:spcAft>
                  <a:spcPts val="0"/>
                </a:spcAft>
              </a:pPr>
              <a:r>
                <a:rPr sz="1500" b="0" i="0">
                  <a:solidFill>
                    <a:srgbClr val="EAF0F6"/>
                  </a:solidFill>
                  <a:latin typeface="Segoe UI Semibold"/>
                </a:rPr>
                <a:t>Daily features</a:t>
              </a:r>
            </a:p>
          </p:txBody>
        </p:sp>
        <p:sp>
          <p:nvSpPr>
            <p:cNvPr id="27" name="TextBox 26"/>
            <p:cNvSpPr txBox="1"/>
            <p:nvPr/>
          </p:nvSpPr>
          <p:spPr>
            <a:xfrm>
              <a:off x="7564283" y="3108960"/>
              <a:ext cx="1600200" cy="530352"/>
            </a:xfrm>
            <a:prstGeom prst="rect">
              <a:avLst/>
            </a:prstGeom>
            <a:noFill/>
          </p:spPr>
          <p:txBody>
            <a:bodyPr wrap="square" lIns="0" tIns="0" rIns="0" bIns="0" anchor="t">
              <a:noAutofit/>
            </a:bodyPr>
            <a:lstStyle/>
            <a:p>
              <a:pPr algn="l">
                <a:lnSpc>
                  <a:spcPct val="100000"/>
                </a:lnSpc>
                <a:spcAft>
                  <a:spcPts val="0"/>
                </a:spcAft>
              </a:pPr>
              <a:r>
                <a:rPr sz="1200" b="0" i="0">
                  <a:solidFill>
                    <a:srgbClr val="AAB6C3"/>
                  </a:solidFill>
                  <a:latin typeface="Segoe UI"/>
                </a:rPr>
                <a:t>mean, count, spread; lagged one bar</a:t>
              </a:r>
            </a:p>
          </p:txBody>
        </p:sp>
      </p:grpSp>
      <p:cxnSp>
        <p:nvCxnSpPr>
          <p:cNvPr id="28" name="rag_arr_4"/>
          <p:cNvCxnSpPr/>
          <p:nvPr/>
        </p:nvCxnSpPr>
        <p:spPr>
          <a:xfrm>
            <a:off x="9347363" y="2926080"/>
            <a:ext cx="192755" cy="0"/>
          </a:xfrm>
          <a:prstGeom prst="line">
            <a:avLst/>
          </a:prstGeom>
          <a:ln w="15875">
            <a:solidFill>
              <a:srgbClr val="FFB547"/>
            </a:solidFill>
            <a:tailEnd type="triangle" w="med" len="med"/>
          </a:ln>
        </p:spPr>
      </p:cxnSp>
      <p:grpSp>
        <p:nvGrpSpPr>
          <p:cNvPr id="29" name="rag_5"/>
          <p:cNvGrpSpPr/>
          <p:nvPr/>
        </p:nvGrpSpPr>
        <p:grpSpPr>
          <a:xfrm>
            <a:off x="9567550" y="2148840"/>
            <a:ext cx="1984248" cy="1554480"/>
            <a:chOff x="9567550" y="2148840"/>
            <a:chExt cx="1984248" cy="1554480"/>
          </a:xfrm>
        </p:grpSpPr>
        <p:sp>
          <p:nvSpPr>
            <p:cNvPr id="30" name="rag_5_bg"/>
            <p:cNvSpPr/>
            <p:nvPr/>
          </p:nvSpPr>
          <p:spPr>
            <a:xfrm>
              <a:off x="9567550" y="2148840"/>
              <a:ext cx="1984248" cy="1554480"/>
            </a:xfrm>
            <a:prstGeom prst="roundRect">
              <a:avLst>
                <a:gd name="adj" fmla="val 7058"/>
              </a:avLst>
            </a:prstGeom>
            <a:solidFill>
              <a:srgbClr val="111823">
                <a:alpha val="88000"/>
              </a:srgbClr>
            </a:solidFill>
            <a:ln w="9525">
              <a:solidFill>
                <a:srgbClr val="243245"/>
              </a:solidFill>
            </a:ln>
          </p:spPr>
          <p:txBody>
            <a:bodyPr lIns="0" tIns="0" rIns="0" bIns="0" rtlCol="0" anchor="ctr"/>
            <a:lstStyle/>
            <a:p>
              <a:pPr algn="ctr"/>
              <a:endParaRPr/>
            </a:p>
          </p:txBody>
        </p:sp>
        <p:sp>
          <p:nvSpPr>
            <p:cNvPr id="31" name="TextBox 30"/>
            <p:cNvSpPr txBox="1"/>
            <p:nvPr/>
          </p:nvSpPr>
          <p:spPr>
            <a:xfrm>
              <a:off x="9796150" y="2331720"/>
              <a:ext cx="1554480" cy="237744"/>
            </a:xfrm>
            <a:prstGeom prst="rect">
              <a:avLst/>
            </a:prstGeom>
            <a:noFill/>
          </p:spPr>
          <p:txBody>
            <a:bodyPr wrap="square" lIns="0" tIns="0" rIns="0" bIns="0" anchor="t">
              <a:noAutofit/>
            </a:bodyPr>
            <a:lstStyle/>
            <a:p>
              <a:pPr algn="l">
                <a:spcAft>
                  <a:spcPts val="0"/>
                </a:spcAft>
              </a:pPr>
              <a:r>
                <a:rPr sz="1100" b="0" i="0">
                  <a:solidFill>
                    <a:srgbClr val="FFB547"/>
                  </a:solidFill>
                  <a:latin typeface="Consolas"/>
                </a:rPr>
                <a:t>05</a:t>
              </a:r>
            </a:p>
          </p:txBody>
        </p:sp>
        <p:sp>
          <p:nvSpPr>
            <p:cNvPr id="32" name="TextBox 31"/>
            <p:cNvSpPr txBox="1"/>
            <p:nvPr/>
          </p:nvSpPr>
          <p:spPr>
            <a:xfrm>
              <a:off x="9796150" y="2606040"/>
              <a:ext cx="1600200" cy="502920"/>
            </a:xfrm>
            <a:prstGeom prst="rect">
              <a:avLst/>
            </a:prstGeom>
            <a:noFill/>
          </p:spPr>
          <p:txBody>
            <a:bodyPr wrap="square" lIns="0" tIns="0" rIns="0" bIns="0" anchor="t">
              <a:noAutofit/>
            </a:bodyPr>
            <a:lstStyle/>
            <a:p>
              <a:pPr algn="l">
                <a:lnSpc>
                  <a:spcPct val="95000"/>
                </a:lnSpc>
                <a:spcAft>
                  <a:spcPts val="0"/>
                </a:spcAft>
              </a:pPr>
              <a:r>
                <a:rPr sz="1500" b="0" i="0">
                  <a:solidFill>
                    <a:srgbClr val="EAF0F6"/>
                  </a:solidFill>
                  <a:latin typeface="Segoe UI Semibold"/>
                </a:rPr>
                <a:t>Same protocol</a:t>
              </a:r>
            </a:p>
          </p:txBody>
        </p:sp>
        <p:sp>
          <p:nvSpPr>
            <p:cNvPr id="33" name="TextBox 32"/>
            <p:cNvSpPr txBox="1"/>
            <p:nvPr/>
          </p:nvSpPr>
          <p:spPr>
            <a:xfrm>
              <a:off x="9796150" y="3108960"/>
              <a:ext cx="1600200" cy="530352"/>
            </a:xfrm>
            <a:prstGeom prst="rect">
              <a:avLst/>
            </a:prstGeom>
            <a:noFill/>
          </p:spPr>
          <p:txBody>
            <a:bodyPr wrap="square" lIns="0" tIns="0" rIns="0" bIns="0" anchor="t">
              <a:noAutofit/>
            </a:bodyPr>
            <a:lstStyle/>
            <a:p>
              <a:pPr algn="l">
                <a:lnSpc>
                  <a:spcPct val="100000"/>
                </a:lnSpc>
                <a:spcAft>
                  <a:spcPts val="0"/>
                </a:spcAft>
              </a:pPr>
              <a:r>
                <a:rPr sz="1200" b="0" i="0">
                  <a:solidFill>
                    <a:srgbClr val="AAB6C3"/>
                  </a:solidFill>
                  <a:latin typeface="Segoe UI"/>
                </a:rPr>
                <a:t>same splits, τ rule and backtester</a:t>
              </a:r>
            </a:p>
          </p:txBody>
        </p:sp>
      </p:grpSp>
      <p:grpSp>
        <p:nvGrpSpPr>
          <p:cNvPr id="34" name="next_1"/>
          <p:cNvGrpSpPr/>
          <p:nvPr/>
        </p:nvGrpSpPr>
        <p:grpSpPr>
          <a:xfrm>
            <a:off x="640080" y="4069080"/>
            <a:ext cx="3474720" cy="1783080"/>
            <a:chOff x="640080" y="4069080"/>
            <a:chExt cx="3474720" cy="1783080"/>
          </a:xfrm>
        </p:grpSpPr>
        <p:sp>
          <p:nvSpPr>
            <p:cNvPr id="35" name="next_1_bg"/>
            <p:cNvSpPr/>
            <p:nvPr/>
          </p:nvSpPr>
          <p:spPr>
            <a:xfrm>
              <a:off x="640080" y="4069080"/>
              <a:ext cx="3474720" cy="1783080"/>
            </a:xfrm>
            <a:prstGeom prst="roundRect">
              <a:avLst>
                <a:gd name="adj" fmla="val 6153"/>
              </a:avLst>
            </a:prstGeom>
            <a:solidFill>
              <a:srgbClr val="111823">
                <a:alpha val="88000"/>
              </a:srgbClr>
            </a:solidFill>
            <a:ln w="9525">
              <a:solidFill>
                <a:srgbClr val="243245"/>
              </a:solidFill>
            </a:ln>
          </p:spPr>
          <p:txBody>
            <a:bodyPr lIns="0" tIns="0" rIns="0" bIns="0" rtlCol="0" anchor="ctr"/>
            <a:lstStyle/>
            <a:p>
              <a:pPr algn="ctr"/>
              <a:endParaRPr/>
            </a:p>
          </p:txBody>
        </p:sp>
        <p:sp>
          <p:nvSpPr>
            <p:cNvPr id="36" name="TextBox 35"/>
            <p:cNvSpPr txBox="1"/>
            <p:nvPr/>
          </p:nvSpPr>
          <p:spPr>
            <a:xfrm>
              <a:off x="914400" y="4279392"/>
              <a:ext cx="292608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DATA</a:t>
              </a:r>
            </a:p>
          </p:txBody>
        </p:sp>
        <p:sp>
          <p:nvSpPr>
            <p:cNvPr id="37" name="TextBox 36"/>
            <p:cNvSpPr txBox="1"/>
            <p:nvPr/>
          </p:nvSpPr>
          <p:spPr>
            <a:xfrm>
              <a:off x="914400" y="4572000"/>
              <a:ext cx="2926080" cy="329184"/>
            </a:xfrm>
            <a:prstGeom prst="rect">
              <a:avLst/>
            </a:prstGeom>
            <a:noFill/>
          </p:spPr>
          <p:txBody>
            <a:bodyPr wrap="square" lIns="0" tIns="0" rIns="0" bIns="0" anchor="t">
              <a:noAutofit/>
            </a:bodyPr>
            <a:lstStyle/>
            <a:p>
              <a:pPr algn="l">
                <a:spcAft>
                  <a:spcPts val="0"/>
                </a:spcAft>
              </a:pPr>
              <a:r>
                <a:rPr sz="1600" b="0" i="0">
                  <a:solidFill>
                    <a:srgbClr val="EAF0F6"/>
                  </a:solidFill>
                  <a:latin typeface="Segoe UI Semibold"/>
                </a:rPr>
                <a:t>A broader, fairer universe</a:t>
              </a:r>
            </a:p>
          </p:txBody>
        </p:sp>
        <p:sp>
          <p:nvSpPr>
            <p:cNvPr id="38" name="TextBox 37"/>
            <p:cNvSpPr txBox="1"/>
            <p:nvPr/>
          </p:nvSpPr>
          <p:spPr>
            <a:xfrm>
              <a:off x="914400" y="4956048"/>
              <a:ext cx="2926080" cy="822960"/>
            </a:xfrm>
            <a:prstGeom prst="rect">
              <a:avLst/>
            </a:prstGeom>
            <a:noFill/>
          </p:spPr>
          <p:txBody>
            <a:bodyPr wrap="square" lIns="0" tIns="0" rIns="0" bIns="0" anchor="t">
              <a:noAutofit/>
            </a:bodyPr>
            <a:lstStyle/>
            <a:p>
              <a:pPr algn="l">
                <a:lnSpc>
                  <a:spcPct val="105000"/>
                </a:lnSpc>
                <a:spcAft>
                  <a:spcPts val="0"/>
                </a:spcAft>
              </a:pPr>
              <a:r>
                <a:rPr sz="1300" b="0" i="0">
                  <a:solidFill>
                    <a:srgbClr val="AAB6C3"/>
                  </a:solidFill>
                  <a:latin typeface="Segoe UI"/>
                </a:rPr>
                <a:t>Include delisted stocks to remove survivorship bias, and test weekly and intraday horizons.</a:t>
              </a:r>
            </a:p>
          </p:txBody>
        </p:sp>
      </p:grpSp>
      <p:grpSp>
        <p:nvGrpSpPr>
          <p:cNvPr id="39" name="next_2"/>
          <p:cNvGrpSpPr/>
          <p:nvPr/>
        </p:nvGrpSpPr>
        <p:grpSpPr>
          <a:xfrm>
            <a:off x="4358488" y="4069080"/>
            <a:ext cx="3474720" cy="1783080"/>
            <a:chOff x="4358488" y="4069080"/>
            <a:chExt cx="3474720" cy="1783080"/>
          </a:xfrm>
        </p:grpSpPr>
        <p:sp>
          <p:nvSpPr>
            <p:cNvPr id="40" name="next_2_bg"/>
            <p:cNvSpPr/>
            <p:nvPr/>
          </p:nvSpPr>
          <p:spPr>
            <a:xfrm>
              <a:off x="4358488" y="4069080"/>
              <a:ext cx="3474720" cy="1783080"/>
            </a:xfrm>
            <a:prstGeom prst="roundRect">
              <a:avLst>
                <a:gd name="adj" fmla="val 6153"/>
              </a:avLst>
            </a:prstGeom>
            <a:solidFill>
              <a:srgbClr val="111823">
                <a:alpha val="88000"/>
              </a:srgbClr>
            </a:solidFill>
            <a:ln w="9525">
              <a:solidFill>
                <a:srgbClr val="243245"/>
              </a:solidFill>
            </a:ln>
          </p:spPr>
          <p:txBody>
            <a:bodyPr lIns="0" tIns="0" rIns="0" bIns="0" rtlCol="0" anchor="ctr"/>
            <a:lstStyle/>
            <a:p>
              <a:pPr algn="ctr"/>
              <a:endParaRPr/>
            </a:p>
          </p:txBody>
        </p:sp>
        <p:sp>
          <p:nvSpPr>
            <p:cNvPr id="41" name="TextBox 40"/>
            <p:cNvSpPr txBox="1"/>
            <p:nvPr/>
          </p:nvSpPr>
          <p:spPr>
            <a:xfrm>
              <a:off x="4632808" y="4279392"/>
              <a:ext cx="292608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STATISTICS</a:t>
              </a:r>
            </a:p>
          </p:txBody>
        </p:sp>
        <p:sp>
          <p:nvSpPr>
            <p:cNvPr id="42" name="TextBox 41"/>
            <p:cNvSpPr txBox="1"/>
            <p:nvPr/>
          </p:nvSpPr>
          <p:spPr>
            <a:xfrm>
              <a:off x="4632808" y="4572000"/>
              <a:ext cx="2926080" cy="329184"/>
            </a:xfrm>
            <a:prstGeom prst="rect">
              <a:avLst/>
            </a:prstGeom>
            <a:noFill/>
          </p:spPr>
          <p:txBody>
            <a:bodyPr wrap="square" lIns="0" tIns="0" rIns="0" bIns="0" anchor="t">
              <a:noAutofit/>
            </a:bodyPr>
            <a:lstStyle/>
            <a:p>
              <a:pPr algn="l">
                <a:spcAft>
                  <a:spcPts val="0"/>
                </a:spcAft>
              </a:pPr>
              <a:r>
                <a:rPr sz="1600" b="0" i="0">
                  <a:solidFill>
                    <a:srgbClr val="EAF0F6"/>
                  </a:solidFill>
                  <a:latin typeface="Segoe UI Semibold"/>
                </a:rPr>
                <a:t>Stronger evidence</a:t>
              </a:r>
            </a:p>
          </p:txBody>
        </p:sp>
        <p:sp>
          <p:nvSpPr>
            <p:cNvPr id="43" name="TextBox 42"/>
            <p:cNvSpPr txBox="1"/>
            <p:nvPr/>
          </p:nvSpPr>
          <p:spPr>
            <a:xfrm>
              <a:off x="4632808" y="4956048"/>
              <a:ext cx="2926080" cy="822960"/>
            </a:xfrm>
            <a:prstGeom prst="rect">
              <a:avLst/>
            </a:prstGeom>
            <a:noFill/>
          </p:spPr>
          <p:txBody>
            <a:bodyPr wrap="square" lIns="0" tIns="0" rIns="0" bIns="0" anchor="t">
              <a:noAutofit/>
            </a:bodyPr>
            <a:lstStyle/>
            <a:p>
              <a:pPr algn="l">
                <a:lnSpc>
                  <a:spcPct val="105000"/>
                </a:lnSpc>
                <a:spcAft>
                  <a:spcPts val="0"/>
                </a:spcAft>
              </a:pPr>
              <a:r>
                <a:rPr sz="1300" b="0" i="0">
                  <a:solidFill>
                    <a:srgbClr val="AAB6C3"/>
                  </a:solidFill>
                  <a:latin typeface="Segoe UI"/>
                </a:rPr>
                <a:t>Deflated Sharpe ratio and multiple-testing control; calibrate probabilities before thresholding.</a:t>
              </a:r>
            </a:p>
          </p:txBody>
        </p:sp>
      </p:grpSp>
      <p:grpSp>
        <p:nvGrpSpPr>
          <p:cNvPr id="44" name="next_3"/>
          <p:cNvGrpSpPr/>
          <p:nvPr/>
        </p:nvGrpSpPr>
        <p:grpSpPr>
          <a:xfrm>
            <a:off x="8076895" y="4069080"/>
            <a:ext cx="3474720" cy="1783080"/>
            <a:chOff x="8076895" y="4069080"/>
            <a:chExt cx="3474720" cy="1783080"/>
          </a:xfrm>
        </p:grpSpPr>
        <p:sp>
          <p:nvSpPr>
            <p:cNvPr id="45" name="next_3_bg"/>
            <p:cNvSpPr/>
            <p:nvPr/>
          </p:nvSpPr>
          <p:spPr>
            <a:xfrm>
              <a:off x="8076895" y="4069080"/>
              <a:ext cx="3474720" cy="1783080"/>
            </a:xfrm>
            <a:prstGeom prst="roundRect">
              <a:avLst>
                <a:gd name="adj" fmla="val 6153"/>
              </a:avLst>
            </a:prstGeom>
            <a:solidFill>
              <a:srgbClr val="111823">
                <a:alpha val="88000"/>
              </a:srgbClr>
            </a:solidFill>
            <a:ln w="9525">
              <a:solidFill>
                <a:srgbClr val="243245"/>
              </a:solidFill>
            </a:ln>
          </p:spPr>
          <p:txBody>
            <a:bodyPr lIns="0" tIns="0" rIns="0" bIns="0" rtlCol="0" anchor="ctr"/>
            <a:lstStyle/>
            <a:p>
              <a:pPr algn="ctr"/>
              <a:endParaRPr/>
            </a:p>
          </p:txBody>
        </p:sp>
        <p:sp>
          <p:nvSpPr>
            <p:cNvPr id="46" name="TextBox 45"/>
            <p:cNvSpPr txBox="1"/>
            <p:nvPr/>
          </p:nvSpPr>
          <p:spPr>
            <a:xfrm>
              <a:off x="8351215" y="4279392"/>
              <a:ext cx="292608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PRACTICE</a:t>
              </a:r>
            </a:p>
          </p:txBody>
        </p:sp>
        <p:sp>
          <p:nvSpPr>
            <p:cNvPr id="47" name="TextBox 46"/>
            <p:cNvSpPr txBox="1"/>
            <p:nvPr/>
          </p:nvSpPr>
          <p:spPr>
            <a:xfrm>
              <a:off x="8351215" y="4572000"/>
              <a:ext cx="2926080" cy="329184"/>
            </a:xfrm>
            <a:prstGeom prst="rect">
              <a:avLst/>
            </a:prstGeom>
            <a:noFill/>
          </p:spPr>
          <p:txBody>
            <a:bodyPr wrap="square" lIns="0" tIns="0" rIns="0" bIns="0" anchor="t">
              <a:noAutofit/>
            </a:bodyPr>
            <a:lstStyle/>
            <a:p>
              <a:pPr algn="l">
                <a:spcAft>
                  <a:spcPts val="0"/>
                </a:spcAft>
              </a:pPr>
              <a:r>
                <a:rPr sz="1600" b="0" i="0">
                  <a:solidFill>
                    <a:srgbClr val="EAF0F6"/>
                  </a:solidFill>
                  <a:latin typeface="Segoe UI Semibold"/>
                </a:rPr>
                <a:t>From backtest to live</a:t>
              </a:r>
            </a:p>
          </p:txBody>
        </p:sp>
        <p:sp>
          <p:nvSpPr>
            <p:cNvPr id="48" name="TextBox 47"/>
            <p:cNvSpPr txBox="1"/>
            <p:nvPr/>
          </p:nvSpPr>
          <p:spPr>
            <a:xfrm>
              <a:off x="8351215" y="4956048"/>
              <a:ext cx="2926080" cy="822960"/>
            </a:xfrm>
            <a:prstGeom prst="rect">
              <a:avLst/>
            </a:prstGeom>
            <a:noFill/>
          </p:spPr>
          <p:txBody>
            <a:bodyPr wrap="square" lIns="0" tIns="0" rIns="0" bIns="0" anchor="t">
              <a:noAutofit/>
            </a:bodyPr>
            <a:lstStyle/>
            <a:p>
              <a:pPr algn="l">
                <a:lnSpc>
                  <a:spcPct val="105000"/>
                </a:lnSpc>
                <a:spcAft>
                  <a:spcPts val="0"/>
                </a:spcAft>
              </a:pPr>
              <a:r>
                <a:rPr sz="1300" b="0" i="0">
                  <a:solidFill>
                    <a:srgbClr val="AAB6C3"/>
                  </a:solidFill>
                  <a:latin typeface="Segoe UI"/>
                </a:rPr>
                <a:t>Host the dashboard publicly and paper-trade the signals on live data with risk-based sizing.</a:t>
              </a: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42" presetClass="entr" presetSubtype="0" fill="hold" nodeType="withEffect">
                                  <p:stCondLst>
                                    <p:cond delay="1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anim calcmode="lin" valueType="num">
                                      <p:cBhvr>
                                        <p:cTn id="11" dur="400" fill="hold"/>
                                        <p:tgtEl>
                                          <p:spTgt spid="5"/>
                                        </p:tgtEl>
                                        <p:attrNameLst>
                                          <p:attrName>ppt_x</p:attrName>
                                        </p:attrNameLst>
                                      </p:cBhvr>
                                      <p:tavLst>
                                        <p:tav tm="0">
                                          <p:val>
                                            <p:strVal val="#ppt_x"/>
                                          </p:val>
                                        </p:tav>
                                        <p:tav tm="100000">
                                          <p:val>
                                            <p:strVal val="#ppt_x"/>
                                          </p:val>
                                        </p:tav>
                                      </p:tavLst>
                                    </p:anim>
                                    <p:anim calcmode="lin" valueType="num">
                                      <p:cBhvr>
                                        <p:cTn id="12" dur="400" fill="hold"/>
                                        <p:tgtEl>
                                          <p:spTgt spid="5"/>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20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anim calcmode="lin" valueType="num">
                                      <p:cBhvr>
                                        <p:cTn id="16" dur="400" fill="hold"/>
                                        <p:tgtEl>
                                          <p:spTgt spid="10"/>
                                        </p:tgtEl>
                                        <p:attrNameLst>
                                          <p:attrName>ppt_x</p:attrName>
                                        </p:attrNameLst>
                                      </p:cBhvr>
                                      <p:tavLst>
                                        <p:tav tm="0">
                                          <p:val>
                                            <p:strVal val="#ppt_x"/>
                                          </p:val>
                                        </p:tav>
                                        <p:tav tm="100000">
                                          <p:val>
                                            <p:strVal val="#ppt_x"/>
                                          </p:val>
                                        </p:tav>
                                      </p:tavLst>
                                    </p:anim>
                                    <p:anim calcmode="lin" valueType="num">
                                      <p:cBhvr>
                                        <p:cTn id="17" dur="400" fill="hold"/>
                                        <p:tgtEl>
                                          <p:spTgt spid="10"/>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30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anim calcmode="lin" valueType="num">
                                      <p:cBhvr>
                                        <p:cTn id="21" dur="400" fill="hold"/>
                                        <p:tgtEl>
                                          <p:spTgt spid="11"/>
                                        </p:tgtEl>
                                        <p:attrNameLst>
                                          <p:attrName>ppt_x</p:attrName>
                                        </p:attrNameLst>
                                      </p:cBhvr>
                                      <p:tavLst>
                                        <p:tav tm="0">
                                          <p:val>
                                            <p:strVal val="#ppt_x"/>
                                          </p:val>
                                        </p:tav>
                                        <p:tav tm="100000">
                                          <p:val>
                                            <p:strVal val="#ppt_x"/>
                                          </p:val>
                                        </p:tav>
                                      </p:tavLst>
                                    </p:anim>
                                    <p:anim calcmode="lin" valueType="num">
                                      <p:cBhvr>
                                        <p:cTn id="22" dur="400" fill="hold"/>
                                        <p:tgtEl>
                                          <p:spTgt spid="11"/>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40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00"/>
                                        <p:tgtEl>
                                          <p:spTgt spid="16"/>
                                        </p:tgtEl>
                                      </p:cBhvr>
                                    </p:animEffect>
                                    <p:anim calcmode="lin" valueType="num">
                                      <p:cBhvr>
                                        <p:cTn id="26" dur="400" fill="hold"/>
                                        <p:tgtEl>
                                          <p:spTgt spid="16"/>
                                        </p:tgtEl>
                                        <p:attrNameLst>
                                          <p:attrName>ppt_x</p:attrName>
                                        </p:attrNameLst>
                                      </p:cBhvr>
                                      <p:tavLst>
                                        <p:tav tm="0">
                                          <p:val>
                                            <p:strVal val="#ppt_x"/>
                                          </p:val>
                                        </p:tav>
                                        <p:tav tm="100000">
                                          <p:val>
                                            <p:strVal val="#ppt_x"/>
                                          </p:val>
                                        </p:tav>
                                      </p:tavLst>
                                    </p:anim>
                                    <p:anim calcmode="lin" valueType="num">
                                      <p:cBhvr>
                                        <p:cTn id="27" dur="400" fill="hold"/>
                                        <p:tgtEl>
                                          <p:spTgt spid="16"/>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50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00"/>
                                        <p:tgtEl>
                                          <p:spTgt spid="17"/>
                                        </p:tgtEl>
                                      </p:cBhvr>
                                    </p:animEffect>
                                    <p:anim calcmode="lin" valueType="num">
                                      <p:cBhvr>
                                        <p:cTn id="31" dur="400" fill="hold"/>
                                        <p:tgtEl>
                                          <p:spTgt spid="17"/>
                                        </p:tgtEl>
                                        <p:attrNameLst>
                                          <p:attrName>ppt_x</p:attrName>
                                        </p:attrNameLst>
                                      </p:cBhvr>
                                      <p:tavLst>
                                        <p:tav tm="0">
                                          <p:val>
                                            <p:strVal val="#ppt_x"/>
                                          </p:val>
                                        </p:tav>
                                        <p:tav tm="100000">
                                          <p:val>
                                            <p:strVal val="#ppt_x"/>
                                          </p:val>
                                        </p:tav>
                                      </p:tavLst>
                                    </p:anim>
                                    <p:anim calcmode="lin" valueType="num">
                                      <p:cBhvr>
                                        <p:cTn id="32" dur="400" fill="hold"/>
                                        <p:tgtEl>
                                          <p:spTgt spid="17"/>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60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400"/>
                                        <p:tgtEl>
                                          <p:spTgt spid="22"/>
                                        </p:tgtEl>
                                      </p:cBhvr>
                                    </p:animEffect>
                                    <p:anim calcmode="lin" valueType="num">
                                      <p:cBhvr>
                                        <p:cTn id="36" dur="400" fill="hold"/>
                                        <p:tgtEl>
                                          <p:spTgt spid="22"/>
                                        </p:tgtEl>
                                        <p:attrNameLst>
                                          <p:attrName>ppt_x</p:attrName>
                                        </p:attrNameLst>
                                      </p:cBhvr>
                                      <p:tavLst>
                                        <p:tav tm="0">
                                          <p:val>
                                            <p:strVal val="#ppt_x"/>
                                          </p:val>
                                        </p:tav>
                                        <p:tav tm="100000">
                                          <p:val>
                                            <p:strVal val="#ppt_x"/>
                                          </p:val>
                                        </p:tav>
                                      </p:tavLst>
                                    </p:anim>
                                    <p:anim calcmode="lin" valueType="num">
                                      <p:cBhvr>
                                        <p:cTn id="37" dur="400" fill="hold"/>
                                        <p:tgtEl>
                                          <p:spTgt spid="22"/>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70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00"/>
                                        <p:tgtEl>
                                          <p:spTgt spid="23"/>
                                        </p:tgtEl>
                                      </p:cBhvr>
                                    </p:animEffect>
                                    <p:anim calcmode="lin" valueType="num">
                                      <p:cBhvr>
                                        <p:cTn id="41" dur="400" fill="hold"/>
                                        <p:tgtEl>
                                          <p:spTgt spid="23"/>
                                        </p:tgtEl>
                                        <p:attrNameLst>
                                          <p:attrName>ppt_x</p:attrName>
                                        </p:attrNameLst>
                                      </p:cBhvr>
                                      <p:tavLst>
                                        <p:tav tm="0">
                                          <p:val>
                                            <p:strVal val="#ppt_x"/>
                                          </p:val>
                                        </p:tav>
                                        <p:tav tm="100000">
                                          <p:val>
                                            <p:strVal val="#ppt_x"/>
                                          </p:val>
                                        </p:tav>
                                      </p:tavLst>
                                    </p:anim>
                                    <p:anim calcmode="lin" valueType="num">
                                      <p:cBhvr>
                                        <p:cTn id="42" dur="400" fill="hold"/>
                                        <p:tgtEl>
                                          <p:spTgt spid="23"/>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80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400"/>
                                        <p:tgtEl>
                                          <p:spTgt spid="28"/>
                                        </p:tgtEl>
                                      </p:cBhvr>
                                    </p:animEffect>
                                    <p:anim calcmode="lin" valueType="num">
                                      <p:cBhvr>
                                        <p:cTn id="46" dur="400" fill="hold"/>
                                        <p:tgtEl>
                                          <p:spTgt spid="28"/>
                                        </p:tgtEl>
                                        <p:attrNameLst>
                                          <p:attrName>ppt_x</p:attrName>
                                        </p:attrNameLst>
                                      </p:cBhvr>
                                      <p:tavLst>
                                        <p:tav tm="0">
                                          <p:val>
                                            <p:strVal val="#ppt_x"/>
                                          </p:val>
                                        </p:tav>
                                        <p:tav tm="100000">
                                          <p:val>
                                            <p:strVal val="#ppt_x"/>
                                          </p:val>
                                        </p:tav>
                                      </p:tavLst>
                                    </p:anim>
                                    <p:anim calcmode="lin" valueType="num">
                                      <p:cBhvr>
                                        <p:cTn id="47" dur="400" fill="hold"/>
                                        <p:tgtEl>
                                          <p:spTgt spid="28"/>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90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400"/>
                                        <p:tgtEl>
                                          <p:spTgt spid="29"/>
                                        </p:tgtEl>
                                      </p:cBhvr>
                                    </p:animEffect>
                                    <p:anim calcmode="lin" valueType="num">
                                      <p:cBhvr>
                                        <p:cTn id="51" dur="400" fill="hold"/>
                                        <p:tgtEl>
                                          <p:spTgt spid="29"/>
                                        </p:tgtEl>
                                        <p:attrNameLst>
                                          <p:attrName>ppt_x</p:attrName>
                                        </p:attrNameLst>
                                      </p:cBhvr>
                                      <p:tavLst>
                                        <p:tav tm="0">
                                          <p:val>
                                            <p:strVal val="#ppt_x"/>
                                          </p:val>
                                        </p:tav>
                                        <p:tav tm="100000">
                                          <p:val>
                                            <p:strVal val="#ppt_x"/>
                                          </p:val>
                                        </p:tav>
                                      </p:tavLst>
                                    </p:anim>
                                    <p:anim calcmode="lin" valueType="num">
                                      <p:cBhvr>
                                        <p:cTn id="52" dur="400" fill="hold"/>
                                        <p:tgtEl>
                                          <p:spTgt spid="29"/>
                                        </p:tgtEl>
                                        <p:attrNameLst>
                                          <p:attrName>ppt_y</p:attrName>
                                        </p:attrNameLst>
                                      </p:cBhvr>
                                      <p:tavLst>
                                        <p:tav tm="0">
                                          <p:val>
                                            <p:strVal val="#ppt_y+.1"/>
                                          </p:val>
                                        </p:tav>
                                        <p:tav tm="100000">
                                          <p:val>
                                            <p:strVal val="#ppt_y"/>
                                          </p:val>
                                        </p:tav>
                                      </p:tavLst>
                                    </p:anim>
                                  </p:childTnLst>
                                </p:cTn>
                              </p:par>
                            </p:childTnLst>
                          </p:cTn>
                        </p:par>
                        <p:par>
                          <p:cTn id="53" fill="hold">
                            <p:stCondLst>
                              <p:cond delay="1300"/>
                            </p:stCondLst>
                            <p:childTnLst>
                              <p:par>
                                <p:cTn id="54" presetID="42" presetClass="entr" presetSubtype="0" fill="hold" nodeType="after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500"/>
                                        <p:tgtEl>
                                          <p:spTgt spid="34"/>
                                        </p:tgtEl>
                                      </p:cBhvr>
                                    </p:animEffect>
                                    <p:anim calcmode="lin" valueType="num">
                                      <p:cBhvr>
                                        <p:cTn id="57" dur="500" fill="hold"/>
                                        <p:tgtEl>
                                          <p:spTgt spid="34"/>
                                        </p:tgtEl>
                                        <p:attrNameLst>
                                          <p:attrName>ppt_x</p:attrName>
                                        </p:attrNameLst>
                                      </p:cBhvr>
                                      <p:tavLst>
                                        <p:tav tm="0">
                                          <p:val>
                                            <p:strVal val="#ppt_x"/>
                                          </p:val>
                                        </p:tav>
                                        <p:tav tm="100000">
                                          <p:val>
                                            <p:strVal val="#ppt_x"/>
                                          </p:val>
                                        </p:tav>
                                      </p:tavLst>
                                    </p:anim>
                                    <p:anim calcmode="lin" valueType="num">
                                      <p:cBhvr>
                                        <p:cTn id="58" dur="500" fill="hold"/>
                                        <p:tgtEl>
                                          <p:spTgt spid="34"/>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12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500"/>
                                        <p:tgtEl>
                                          <p:spTgt spid="39"/>
                                        </p:tgtEl>
                                      </p:cBhvr>
                                    </p:animEffect>
                                    <p:anim calcmode="lin" valueType="num">
                                      <p:cBhvr>
                                        <p:cTn id="62" dur="500" fill="hold"/>
                                        <p:tgtEl>
                                          <p:spTgt spid="39"/>
                                        </p:tgtEl>
                                        <p:attrNameLst>
                                          <p:attrName>ppt_x</p:attrName>
                                        </p:attrNameLst>
                                      </p:cBhvr>
                                      <p:tavLst>
                                        <p:tav tm="0">
                                          <p:val>
                                            <p:strVal val="#ppt_x"/>
                                          </p:val>
                                        </p:tav>
                                        <p:tav tm="100000">
                                          <p:val>
                                            <p:strVal val="#ppt_x"/>
                                          </p:val>
                                        </p:tav>
                                      </p:tavLst>
                                    </p:anim>
                                    <p:anim calcmode="lin" valueType="num">
                                      <p:cBhvr>
                                        <p:cTn id="63" dur="500" fill="hold"/>
                                        <p:tgtEl>
                                          <p:spTgt spid="39"/>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240"/>
                                  </p:stCondLst>
                                  <p:childTnLst>
                                    <p:set>
                                      <p:cBhvr>
                                        <p:cTn id="65" dur="1" fill="hold">
                                          <p:stCondLst>
                                            <p:cond delay="0"/>
                                          </p:stCondLst>
                                        </p:cTn>
                                        <p:tgtEl>
                                          <p:spTgt spid="44"/>
                                        </p:tgtEl>
                                        <p:attrNameLst>
                                          <p:attrName>style.visibility</p:attrName>
                                        </p:attrNameLst>
                                      </p:cBhvr>
                                      <p:to>
                                        <p:strVal val="visible"/>
                                      </p:to>
                                    </p:set>
                                    <p:animEffect transition="in" filter="fade">
                                      <p:cBhvr>
                                        <p:cTn id="66" dur="500"/>
                                        <p:tgtEl>
                                          <p:spTgt spid="44"/>
                                        </p:tgtEl>
                                      </p:cBhvr>
                                    </p:animEffect>
                                    <p:anim calcmode="lin" valueType="num">
                                      <p:cBhvr>
                                        <p:cTn id="67" dur="500" fill="hold"/>
                                        <p:tgtEl>
                                          <p:spTgt spid="44"/>
                                        </p:tgtEl>
                                        <p:attrNameLst>
                                          <p:attrName>ppt_x</p:attrName>
                                        </p:attrNameLst>
                                      </p:cBhvr>
                                      <p:tavLst>
                                        <p:tav tm="0">
                                          <p:val>
                                            <p:strVal val="#ppt_x"/>
                                          </p:val>
                                        </p:tav>
                                        <p:tav tm="100000">
                                          <p:val>
                                            <p:strVal val="#ppt_x"/>
                                          </p:val>
                                        </p:tav>
                                      </p:tavLst>
                                    </p:anim>
                                    <p:anim calcmode="lin" valueType="num">
                                      <p:cBhvr>
                                        <p:cTn id="68" dur="5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t>What we can claim</a:t>
            </a:r>
          </a:p>
        </p:txBody>
      </p:sp>
      <p:sp>
        <p:nvSpPr>
          <p:cNvPr id="3" name="eyebrow"/>
          <p:cNvSpPr txBox="1"/>
          <p:nvPr/>
        </p:nvSpPr>
        <p:spPr>
          <a:xfrm>
            <a:off x="640080" y="457200"/>
            <a:ext cx="8229600" cy="237744"/>
          </a:xfrm>
          <a:prstGeom prst="rect">
            <a:avLst/>
          </a:prstGeom>
          <a:noFill/>
        </p:spPr>
        <p:txBody>
          <a:bodyPr wrap="square" lIns="0" tIns="0" rIns="0" bIns="0" anchor="t">
            <a:noAutofit/>
          </a:bodyPr>
          <a:lstStyle/>
          <a:p>
            <a:pPr algn="l">
              <a:spcAft>
                <a:spcPts val="0"/>
              </a:spcAft>
            </a:pPr>
            <a:r>
              <a:rPr sz="1100" b="0" i="0" spc="200">
                <a:solidFill>
                  <a:srgbClr val="FFB547"/>
                </a:solidFill>
                <a:latin typeface="Consolas"/>
              </a:rPr>
              <a:t>14 · CONCLUSION</a:t>
            </a:r>
          </a:p>
        </p:txBody>
      </p:sp>
      <p:grpSp>
        <p:nvGrpSpPr>
          <p:cNvPr id="4" name="claim_1"/>
          <p:cNvGrpSpPr/>
          <p:nvPr/>
        </p:nvGrpSpPr>
        <p:grpSpPr>
          <a:xfrm>
            <a:off x="640080" y="1737360"/>
            <a:ext cx="10881360" cy="1069848"/>
            <a:chOff x="640080" y="1737360"/>
            <a:chExt cx="10881360" cy="1069848"/>
          </a:xfrm>
        </p:grpSpPr>
        <p:sp>
          <p:nvSpPr>
            <p:cNvPr id="5" name="TextBox 4"/>
            <p:cNvSpPr txBox="1"/>
            <p:nvPr/>
          </p:nvSpPr>
          <p:spPr>
            <a:xfrm>
              <a:off x="640080" y="1737360"/>
              <a:ext cx="731520" cy="640080"/>
            </a:xfrm>
            <a:prstGeom prst="rect">
              <a:avLst/>
            </a:prstGeom>
            <a:noFill/>
          </p:spPr>
          <p:txBody>
            <a:bodyPr wrap="square" lIns="0" tIns="0" rIns="0" bIns="0" anchor="t">
              <a:noAutofit/>
            </a:bodyPr>
            <a:lstStyle/>
            <a:p>
              <a:pPr algn="l">
                <a:spcAft>
                  <a:spcPts val="0"/>
                </a:spcAft>
              </a:pPr>
              <a:r>
                <a:rPr sz="3000" b="0" i="0">
                  <a:solidFill>
                    <a:srgbClr val="FFB547"/>
                  </a:solidFill>
                  <a:latin typeface="Segoe UI Light"/>
                </a:rPr>
                <a:t>1</a:t>
              </a:r>
            </a:p>
          </p:txBody>
        </p:sp>
        <p:sp>
          <p:nvSpPr>
            <p:cNvPr id="6" name="TextBox 5"/>
            <p:cNvSpPr txBox="1"/>
            <p:nvPr/>
          </p:nvSpPr>
          <p:spPr>
            <a:xfrm>
              <a:off x="1463040" y="1783080"/>
              <a:ext cx="10058400" cy="411480"/>
            </a:xfrm>
            <a:prstGeom prst="rect">
              <a:avLst/>
            </a:prstGeom>
            <a:noFill/>
          </p:spPr>
          <p:txBody>
            <a:bodyPr wrap="square" lIns="0" tIns="0" rIns="0" bIns="0" anchor="t">
              <a:noAutofit/>
            </a:bodyPr>
            <a:lstStyle/>
            <a:p>
              <a:pPr algn="l">
                <a:spcAft>
                  <a:spcPts val="0"/>
                </a:spcAft>
              </a:pPr>
              <a:r>
                <a:rPr sz="2100" b="0" i="0">
                  <a:solidFill>
                    <a:srgbClr val="EAF0F6"/>
                  </a:solidFill>
                  <a:latin typeface="Segoe UI Semibold"/>
                </a:rPr>
                <a:t>ML did not reliably beat simple baselines at a daily horizon.</a:t>
              </a:r>
            </a:p>
          </p:txBody>
        </p:sp>
        <p:sp>
          <p:nvSpPr>
            <p:cNvPr id="7" name="TextBox 6"/>
            <p:cNvSpPr txBox="1"/>
            <p:nvPr/>
          </p:nvSpPr>
          <p:spPr>
            <a:xfrm>
              <a:off x="1463040" y="2240280"/>
              <a:ext cx="10058400" cy="566928"/>
            </a:xfrm>
            <a:prstGeom prst="rect">
              <a:avLst/>
            </a:prstGeom>
            <a:noFill/>
          </p:spPr>
          <p:txBody>
            <a:bodyPr wrap="square" lIns="0" tIns="0" rIns="0" bIns="0" anchor="t">
              <a:noAutofit/>
            </a:bodyPr>
            <a:lstStyle/>
            <a:p>
              <a:pPr algn="l">
                <a:lnSpc>
                  <a:spcPct val="105000"/>
                </a:lnSpc>
                <a:spcAft>
                  <a:spcPts val="0"/>
                </a:spcAft>
              </a:pPr>
              <a:r>
                <a:rPr sz="1400" b="0" i="0">
                  <a:solidFill>
                    <a:srgbClr val="AAB6C3"/>
                  </a:solidFill>
                  <a:latin typeface="Segoe UI"/>
                </a:rPr>
                <a:t>No model reliably beat 'always Up' on accuracy (one was reliably worse); τ-rule: 0 of 15 beat buy-and-hold in walk-forward.</a:t>
              </a:r>
            </a:p>
          </p:txBody>
        </p:sp>
      </p:grpSp>
      <p:grpSp>
        <p:nvGrpSpPr>
          <p:cNvPr id="8" name="claim_2"/>
          <p:cNvGrpSpPr/>
          <p:nvPr/>
        </p:nvGrpSpPr>
        <p:grpSpPr>
          <a:xfrm>
            <a:off x="640080" y="2880360"/>
            <a:ext cx="10881360" cy="1069848"/>
            <a:chOff x="640080" y="2880360"/>
            <a:chExt cx="10881360" cy="1069848"/>
          </a:xfrm>
        </p:grpSpPr>
        <p:sp>
          <p:nvSpPr>
            <p:cNvPr id="9" name="TextBox 8"/>
            <p:cNvSpPr txBox="1"/>
            <p:nvPr/>
          </p:nvSpPr>
          <p:spPr>
            <a:xfrm>
              <a:off x="640080" y="2880360"/>
              <a:ext cx="731520" cy="640080"/>
            </a:xfrm>
            <a:prstGeom prst="rect">
              <a:avLst/>
            </a:prstGeom>
            <a:noFill/>
          </p:spPr>
          <p:txBody>
            <a:bodyPr wrap="square" lIns="0" tIns="0" rIns="0" bIns="0" anchor="t">
              <a:noAutofit/>
            </a:bodyPr>
            <a:lstStyle/>
            <a:p>
              <a:pPr algn="l">
                <a:spcAft>
                  <a:spcPts val="0"/>
                </a:spcAft>
              </a:pPr>
              <a:r>
                <a:rPr sz="3000" b="0" i="0">
                  <a:solidFill>
                    <a:srgbClr val="FFB547"/>
                  </a:solidFill>
                  <a:latin typeface="Segoe UI Light"/>
                </a:rPr>
                <a:t>2</a:t>
              </a:r>
            </a:p>
          </p:txBody>
        </p:sp>
        <p:sp>
          <p:nvSpPr>
            <p:cNvPr id="10" name="TextBox 9"/>
            <p:cNvSpPr txBox="1"/>
            <p:nvPr/>
          </p:nvSpPr>
          <p:spPr>
            <a:xfrm>
              <a:off x="1463040" y="2926080"/>
              <a:ext cx="10058400" cy="411480"/>
            </a:xfrm>
            <a:prstGeom prst="rect">
              <a:avLst/>
            </a:prstGeom>
            <a:noFill/>
          </p:spPr>
          <p:txBody>
            <a:bodyPr wrap="square" lIns="0" tIns="0" rIns="0" bIns="0" anchor="t">
              <a:noAutofit/>
            </a:bodyPr>
            <a:lstStyle/>
            <a:p>
              <a:pPr algn="l">
                <a:spcAft>
                  <a:spcPts val="0"/>
                </a:spcAft>
              </a:pPr>
              <a:r>
                <a:rPr sz="2100" b="0" i="0">
                  <a:solidFill>
                    <a:srgbClr val="EAF0F6"/>
                  </a:solidFill>
                  <a:latin typeface="Segoe UI Semibold"/>
                </a:rPr>
                <a:t>The contribution is the framework, not a trading edge.</a:t>
              </a:r>
            </a:p>
          </p:txBody>
        </p:sp>
        <p:sp>
          <p:nvSpPr>
            <p:cNvPr id="11" name="TextBox 10"/>
            <p:cNvSpPr txBox="1"/>
            <p:nvPr/>
          </p:nvSpPr>
          <p:spPr>
            <a:xfrm>
              <a:off x="1463040" y="3383280"/>
              <a:ext cx="10058400" cy="566928"/>
            </a:xfrm>
            <a:prstGeom prst="rect">
              <a:avLst/>
            </a:prstGeom>
            <a:noFill/>
          </p:spPr>
          <p:txBody>
            <a:bodyPr wrap="square" lIns="0" tIns="0" rIns="0" bIns="0" anchor="t">
              <a:noAutofit/>
            </a:bodyPr>
            <a:lstStyle/>
            <a:p>
              <a:pPr algn="l">
                <a:lnSpc>
                  <a:spcPct val="105000"/>
                </a:lnSpc>
                <a:spcAft>
                  <a:spcPts val="0"/>
                </a:spcAft>
              </a:pPr>
              <a:r>
                <a:rPr sz="1400" b="0" i="0">
                  <a:solidFill>
                    <a:srgbClr val="AAB6C3"/>
                  </a:solidFill>
                  <a:latin typeface="Segoe UI"/>
                </a:rPr>
                <a:t>Leakage-safe, cost-aware, covered by 301 tests and reproducible with one command.</a:t>
              </a:r>
            </a:p>
          </p:txBody>
        </p:sp>
      </p:grpSp>
      <p:grpSp>
        <p:nvGrpSpPr>
          <p:cNvPr id="12" name="claim_3"/>
          <p:cNvGrpSpPr/>
          <p:nvPr/>
        </p:nvGrpSpPr>
        <p:grpSpPr>
          <a:xfrm>
            <a:off x="640080" y="4023360"/>
            <a:ext cx="10881360" cy="1069848"/>
            <a:chOff x="640080" y="4023360"/>
            <a:chExt cx="10881360" cy="1069848"/>
          </a:xfrm>
        </p:grpSpPr>
        <p:sp>
          <p:nvSpPr>
            <p:cNvPr id="13" name="TextBox 12"/>
            <p:cNvSpPr txBox="1"/>
            <p:nvPr/>
          </p:nvSpPr>
          <p:spPr>
            <a:xfrm>
              <a:off x="640080" y="4023360"/>
              <a:ext cx="731520" cy="640080"/>
            </a:xfrm>
            <a:prstGeom prst="rect">
              <a:avLst/>
            </a:prstGeom>
            <a:noFill/>
          </p:spPr>
          <p:txBody>
            <a:bodyPr wrap="square" lIns="0" tIns="0" rIns="0" bIns="0" anchor="t">
              <a:noAutofit/>
            </a:bodyPr>
            <a:lstStyle/>
            <a:p>
              <a:pPr algn="l">
                <a:spcAft>
                  <a:spcPts val="0"/>
                </a:spcAft>
              </a:pPr>
              <a:r>
                <a:rPr sz="3000" b="0" i="0">
                  <a:solidFill>
                    <a:srgbClr val="FFB547"/>
                  </a:solidFill>
                  <a:latin typeface="Segoe UI Light"/>
                </a:rPr>
                <a:t>3</a:t>
              </a:r>
            </a:p>
          </p:txBody>
        </p:sp>
        <p:sp>
          <p:nvSpPr>
            <p:cNvPr id="14" name="TextBox 13"/>
            <p:cNvSpPr txBox="1"/>
            <p:nvPr/>
          </p:nvSpPr>
          <p:spPr>
            <a:xfrm>
              <a:off x="1463040" y="4069080"/>
              <a:ext cx="10058400" cy="411480"/>
            </a:xfrm>
            <a:prstGeom prst="rect">
              <a:avLst/>
            </a:prstGeom>
            <a:noFill/>
          </p:spPr>
          <p:txBody>
            <a:bodyPr wrap="square" lIns="0" tIns="0" rIns="0" bIns="0" anchor="t">
              <a:noAutofit/>
            </a:bodyPr>
            <a:lstStyle/>
            <a:p>
              <a:pPr algn="l">
                <a:spcAft>
                  <a:spcPts val="0"/>
                </a:spcAft>
              </a:pPr>
              <a:r>
                <a:rPr sz="2100" b="0" i="0">
                  <a:solidFill>
                    <a:srgbClr val="EAF0F6"/>
                  </a:solidFill>
                  <a:latin typeface="Segoe UI Semibold"/>
                </a:rPr>
                <a:t>Position sizing changed risk more than any forecast changed returns.</a:t>
              </a:r>
            </a:p>
          </p:txBody>
        </p:sp>
        <p:sp>
          <p:nvSpPr>
            <p:cNvPr id="15" name="TextBox 14"/>
            <p:cNvSpPr txBox="1"/>
            <p:nvPr/>
          </p:nvSpPr>
          <p:spPr>
            <a:xfrm>
              <a:off x="1463040" y="4526280"/>
              <a:ext cx="10058400" cy="566928"/>
            </a:xfrm>
            <a:prstGeom prst="rect">
              <a:avLst/>
            </a:prstGeom>
            <a:noFill/>
          </p:spPr>
          <p:txBody>
            <a:bodyPr wrap="square" lIns="0" tIns="0" rIns="0" bIns="0" anchor="t">
              <a:noAutofit/>
            </a:bodyPr>
            <a:lstStyle/>
            <a:p>
              <a:pPr algn="l">
                <a:lnSpc>
                  <a:spcPct val="105000"/>
                </a:lnSpc>
                <a:spcAft>
                  <a:spcPts val="0"/>
                </a:spcAft>
              </a:pPr>
              <a:r>
                <a:rPr sz="1400" b="0" i="0">
                  <a:solidFill>
                    <a:srgbClr val="AAB6C3"/>
                  </a:solidFill>
                  <a:latin typeface="Segoe UI"/>
                </a:rPr>
                <a:t>Volatility targeting cut max drawdown by 21–44% at a similar Sharpe ratio, by holding less, with no forecast at all.</a:t>
              </a:r>
            </a:p>
          </p:txBody>
        </p:sp>
      </p:grpSp>
      <p:sp>
        <p:nvSpPr>
          <p:cNvPr id="16" name="!!trace"/>
          <p:cNvSpPr/>
          <p:nvPr/>
        </p:nvSpPr>
        <p:spPr>
          <a:xfrm>
            <a:off x="640080" y="5468112"/>
            <a:ext cx="10911535" cy="676656"/>
          </a:xfrm>
          <a:custGeom>
            <a:avLst/>
            <a:gdLst/>
            <a:ahLst/>
            <a:cxnLst/>
            <a:rect l="l" t="t" r="r" b="b"/>
            <a:pathLst>
              <a:path w="10911535" h="676656">
                <a:moveTo>
                  <a:pt x="0" y="647434"/>
                </a:moveTo>
                <a:lnTo>
                  <a:pt x="13555" y="643639"/>
                </a:lnTo>
                <a:lnTo>
                  <a:pt x="27109" y="642749"/>
                </a:lnTo>
                <a:lnTo>
                  <a:pt x="40664" y="658599"/>
                </a:lnTo>
                <a:lnTo>
                  <a:pt x="54219" y="655588"/>
                </a:lnTo>
                <a:lnTo>
                  <a:pt x="67774" y="664567"/>
                </a:lnTo>
                <a:lnTo>
                  <a:pt x="81328" y="655925"/>
                </a:lnTo>
                <a:lnTo>
                  <a:pt x="94883" y="654359"/>
                </a:lnTo>
                <a:lnTo>
                  <a:pt x="108438" y="650257"/>
                </a:lnTo>
                <a:lnTo>
                  <a:pt x="121992" y="642993"/>
                </a:lnTo>
                <a:lnTo>
                  <a:pt x="135547" y="637316"/>
                </a:lnTo>
                <a:lnTo>
                  <a:pt x="149102" y="636733"/>
                </a:lnTo>
                <a:lnTo>
                  <a:pt x="162656" y="636312"/>
                </a:lnTo>
                <a:lnTo>
                  <a:pt x="176211" y="631668"/>
                </a:lnTo>
                <a:lnTo>
                  <a:pt x="189766" y="625179"/>
                </a:lnTo>
                <a:lnTo>
                  <a:pt x="203321" y="625867"/>
                </a:lnTo>
                <a:lnTo>
                  <a:pt x="216875" y="626277"/>
                </a:lnTo>
                <a:lnTo>
                  <a:pt x="230430" y="647230"/>
                </a:lnTo>
                <a:lnTo>
                  <a:pt x="243985" y="638990"/>
                </a:lnTo>
                <a:lnTo>
                  <a:pt x="257539" y="662376"/>
                </a:lnTo>
                <a:lnTo>
                  <a:pt x="271094" y="653255"/>
                </a:lnTo>
                <a:lnTo>
                  <a:pt x="284649" y="664453"/>
                </a:lnTo>
                <a:lnTo>
                  <a:pt x="298203" y="656284"/>
                </a:lnTo>
                <a:lnTo>
                  <a:pt x="311758" y="649093"/>
                </a:lnTo>
                <a:lnTo>
                  <a:pt x="325313" y="659961"/>
                </a:lnTo>
                <a:lnTo>
                  <a:pt x="338868" y="676656"/>
                </a:lnTo>
                <a:lnTo>
                  <a:pt x="352422" y="659505"/>
                </a:lnTo>
                <a:lnTo>
                  <a:pt x="365977" y="661627"/>
                </a:lnTo>
                <a:lnTo>
                  <a:pt x="379532" y="649562"/>
                </a:lnTo>
                <a:lnTo>
                  <a:pt x="393086" y="646255"/>
                </a:lnTo>
                <a:lnTo>
                  <a:pt x="406641" y="645625"/>
                </a:lnTo>
                <a:lnTo>
                  <a:pt x="420196" y="658846"/>
                </a:lnTo>
                <a:lnTo>
                  <a:pt x="433750" y="662120"/>
                </a:lnTo>
                <a:lnTo>
                  <a:pt x="447305" y="667387"/>
                </a:lnTo>
                <a:lnTo>
                  <a:pt x="460860" y="654929"/>
                </a:lnTo>
                <a:lnTo>
                  <a:pt x="474415" y="646557"/>
                </a:lnTo>
                <a:lnTo>
                  <a:pt x="487969" y="641279"/>
                </a:lnTo>
                <a:lnTo>
                  <a:pt x="501524" y="639411"/>
                </a:lnTo>
                <a:lnTo>
                  <a:pt x="515079" y="635740"/>
                </a:lnTo>
                <a:lnTo>
                  <a:pt x="528633" y="633167"/>
                </a:lnTo>
                <a:lnTo>
                  <a:pt x="542188" y="633906"/>
                </a:lnTo>
                <a:lnTo>
                  <a:pt x="555743" y="628680"/>
                </a:lnTo>
                <a:lnTo>
                  <a:pt x="569297" y="626734"/>
                </a:lnTo>
                <a:lnTo>
                  <a:pt x="582852" y="621245"/>
                </a:lnTo>
                <a:lnTo>
                  <a:pt x="596407" y="630144"/>
                </a:lnTo>
                <a:lnTo>
                  <a:pt x="609962" y="629385"/>
                </a:lnTo>
                <a:lnTo>
                  <a:pt x="623516" y="622775"/>
                </a:lnTo>
                <a:lnTo>
                  <a:pt x="637071" y="617028"/>
                </a:lnTo>
                <a:lnTo>
                  <a:pt x="650626" y="614978"/>
                </a:lnTo>
                <a:lnTo>
                  <a:pt x="664180" y="609201"/>
                </a:lnTo>
                <a:lnTo>
                  <a:pt x="677735" y="609348"/>
                </a:lnTo>
                <a:lnTo>
                  <a:pt x="691290" y="605267"/>
                </a:lnTo>
                <a:lnTo>
                  <a:pt x="704845" y="602897"/>
                </a:lnTo>
                <a:lnTo>
                  <a:pt x="718399" y="602897"/>
                </a:lnTo>
                <a:lnTo>
                  <a:pt x="731954" y="604467"/>
                </a:lnTo>
                <a:lnTo>
                  <a:pt x="745509" y="596274"/>
                </a:lnTo>
                <a:lnTo>
                  <a:pt x="759063" y="591689"/>
                </a:lnTo>
                <a:lnTo>
                  <a:pt x="772618" y="588407"/>
                </a:lnTo>
                <a:lnTo>
                  <a:pt x="786173" y="591596"/>
                </a:lnTo>
                <a:lnTo>
                  <a:pt x="799727" y="595614"/>
                </a:lnTo>
                <a:lnTo>
                  <a:pt x="813282" y="598879"/>
                </a:lnTo>
                <a:lnTo>
                  <a:pt x="826837" y="598277"/>
                </a:lnTo>
                <a:lnTo>
                  <a:pt x="840392" y="595335"/>
                </a:lnTo>
                <a:lnTo>
                  <a:pt x="853946" y="590000"/>
                </a:lnTo>
                <a:lnTo>
                  <a:pt x="867501" y="591862"/>
                </a:lnTo>
                <a:lnTo>
                  <a:pt x="881056" y="596329"/>
                </a:lnTo>
                <a:lnTo>
                  <a:pt x="894610" y="586472"/>
                </a:lnTo>
                <a:lnTo>
                  <a:pt x="908165" y="584322"/>
                </a:lnTo>
                <a:lnTo>
                  <a:pt x="921720" y="584004"/>
                </a:lnTo>
                <a:lnTo>
                  <a:pt x="935274" y="590208"/>
                </a:lnTo>
                <a:lnTo>
                  <a:pt x="948829" y="593055"/>
                </a:lnTo>
                <a:lnTo>
                  <a:pt x="962384" y="593242"/>
                </a:lnTo>
                <a:lnTo>
                  <a:pt x="975939" y="601439"/>
                </a:lnTo>
                <a:lnTo>
                  <a:pt x="989493" y="604828"/>
                </a:lnTo>
                <a:lnTo>
                  <a:pt x="1003048" y="599307"/>
                </a:lnTo>
                <a:lnTo>
                  <a:pt x="1016603" y="594422"/>
                </a:lnTo>
                <a:lnTo>
                  <a:pt x="1030157" y="583637"/>
                </a:lnTo>
                <a:lnTo>
                  <a:pt x="1043712" y="593925"/>
                </a:lnTo>
                <a:lnTo>
                  <a:pt x="1057267" y="585630"/>
                </a:lnTo>
                <a:lnTo>
                  <a:pt x="1070821" y="595607"/>
                </a:lnTo>
                <a:lnTo>
                  <a:pt x="1084376" y="620205"/>
                </a:lnTo>
                <a:lnTo>
                  <a:pt x="1097931" y="627831"/>
                </a:lnTo>
                <a:lnTo>
                  <a:pt x="1111486" y="635353"/>
                </a:lnTo>
                <a:lnTo>
                  <a:pt x="1125040" y="630609"/>
                </a:lnTo>
                <a:lnTo>
                  <a:pt x="1138595" y="618463"/>
                </a:lnTo>
                <a:lnTo>
                  <a:pt x="1152150" y="631568"/>
                </a:lnTo>
                <a:lnTo>
                  <a:pt x="1165704" y="615387"/>
                </a:lnTo>
                <a:lnTo>
                  <a:pt x="1179259" y="636387"/>
                </a:lnTo>
                <a:lnTo>
                  <a:pt x="1192814" y="637450"/>
                </a:lnTo>
                <a:lnTo>
                  <a:pt x="1206368" y="630533"/>
                </a:lnTo>
                <a:lnTo>
                  <a:pt x="1219923" y="612729"/>
                </a:lnTo>
                <a:lnTo>
                  <a:pt x="1233478" y="609217"/>
                </a:lnTo>
                <a:lnTo>
                  <a:pt x="1247033" y="597882"/>
                </a:lnTo>
                <a:lnTo>
                  <a:pt x="1260587" y="605472"/>
                </a:lnTo>
                <a:lnTo>
                  <a:pt x="1274142" y="602579"/>
                </a:lnTo>
                <a:lnTo>
                  <a:pt x="1287697" y="614219"/>
                </a:lnTo>
                <a:lnTo>
                  <a:pt x="1301251" y="620026"/>
                </a:lnTo>
                <a:lnTo>
                  <a:pt x="1314806" y="603656"/>
                </a:lnTo>
                <a:lnTo>
                  <a:pt x="1328361" y="608619"/>
                </a:lnTo>
                <a:lnTo>
                  <a:pt x="1341916" y="616577"/>
                </a:lnTo>
                <a:lnTo>
                  <a:pt x="1355470" y="601040"/>
                </a:lnTo>
                <a:lnTo>
                  <a:pt x="1369025" y="598098"/>
                </a:lnTo>
                <a:lnTo>
                  <a:pt x="1382580" y="594487"/>
                </a:lnTo>
                <a:lnTo>
                  <a:pt x="1396134" y="589126"/>
                </a:lnTo>
                <a:lnTo>
                  <a:pt x="1409689" y="588139"/>
                </a:lnTo>
                <a:lnTo>
                  <a:pt x="1423244" y="586269"/>
                </a:lnTo>
                <a:lnTo>
                  <a:pt x="1436798" y="580088"/>
                </a:lnTo>
                <a:lnTo>
                  <a:pt x="1450353" y="578516"/>
                </a:lnTo>
                <a:lnTo>
                  <a:pt x="1463908" y="576521"/>
                </a:lnTo>
                <a:lnTo>
                  <a:pt x="1477463" y="575664"/>
                </a:lnTo>
                <a:lnTo>
                  <a:pt x="1491017" y="575079"/>
                </a:lnTo>
                <a:lnTo>
                  <a:pt x="1504572" y="567653"/>
                </a:lnTo>
                <a:lnTo>
                  <a:pt x="1518127" y="569090"/>
                </a:lnTo>
                <a:lnTo>
                  <a:pt x="1531681" y="566531"/>
                </a:lnTo>
                <a:lnTo>
                  <a:pt x="1545236" y="572271"/>
                </a:lnTo>
                <a:lnTo>
                  <a:pt x="1558791" y="574898"/>
                </a:lnTo>
                <a:lnTo>
                  <a:pt x="1572345" y="575486"/>
                </a:lnTo>
                <a:lnTo>
                  <a:pt x="1585900" y="568603"/>
                </a:lnTo>
                <a:lnTo>
                  <a:pt x="1599455" y="574786"/>
                </a:lnTo>
                <a:lnTo>
                  <a:pt x="1613010" y="581604"/>
                </a:lnTo>
                <a:lnTo>
                  <a:pt x="1626564" y="586576"/>
                </a:lnTo>
                <a:lnTo>
                  <a:pt x="1640119" y="582550"/>
                </a:lnTo>
                <a:lnTo>
                  <a:pt x="1653674" y="593447"/>
                </a:lnTo>
                <a:lnTo>
                  <a:pt x="1667228" y="584360"/>
                </a:lnTo>
                <a:lnTo>
                  <a:pt x="1680783" y="576361"/>
                </a:lnTo>
                <a:lnTo>
                  <a:pt x="1694338" y="584955"/>
                </a:lnTo>
                <a:lnTo>
                  <a:pt x="1707892" y="572489"/>
                </a:lnTo>
                <a:lnTo>
                  <a:pt x="1721447" y="579890"/>
                </a:lnTo>
                <a:lnTo>
                  <a:pt x="1735002" y="572582"/>
                </a:lnTo>
                <a:lnTo>
                  <a:pt x="1748557" y="580352"/>
                </a:lnTo>
                <a:lnTo>
                  <a:pt x="1762111" y="572087"/>
                </a:lnTo>
                <a:lnTo>
                  <a:pt x="1775666" y="565637"/>
                </a:lnTo>
                <a:lnTo>
                  <a:pt x="1789221" y="564625"/>
                </a:lnTo>
                <a:lnTo>
                  <a:pt x="1802775" y="562725"/>
                </a:lnTo>
                <a:lnTo>
                  <a:pt x="1816330" y="563400"/>
                </a:lnTo>
                <a:lnTo>
                  <a:pt x="1829885" y="558502"/>
                </a:lnTo>
                <a:lnTo>
                  <a:pt x="1843439" y="552497"/>
                </a:lnTo>
                <a:lnTo>
                  <a:pt x="1856994" y="552244"/>
                </a:lnTo>
                <a:lnTo>
                  <a:pt x="1870549" y="554990"/>
                </a:lnTo>
                <a:lnTo>
                  <a:pt x="1884104" y="551822"/>
                </a:lnTo>
                <a:lnTo>
                  <a:pt x="1897658" y="557740"/>
                </a:lnTo>
                <a:lnTo>
                  <a:pt x="1911213" y="552479"/>
                </a:lnTo>
                <a:lnTo>
                  <a:pt x="1924768" y="561929"/>
                </a:lnTo>
                <a:lnTo>
                  <a:pt x="1938322" y="561014"/>
                </a:lnTo>
                <a:lnTo>
                  <a:pt x="1951877" y="568915"/>
                </a:lnTo>
                <a:lnTo>
                  <a:pt x="1965432" y="567000"/>
                </a:lnTo>
                <a:lnTo>
                  <a:pt x="1978987" y="564344"/>
                </a:lnTo>
                <a:lnTo>
                  <a:pt x="1992541" y="562323"/>
                </a:lnTo>
                <a:lnTo>
                  <a:pt x="2006096" y="557566"/>
                </a:lnTo>
                <a:lnTo>
                  <a:pt x="2019651" y="553435"/>
                </a:lnTo>
                <a:lnTo>
                  <a:pt x="2033205" y="559047"/>
                </a:lnTo>
                <a:lnTo>
                  <a:pt x="2046760" y="550484"/>
                </a:lnTo>
                <a:lnTo>
                  <a:pt x="2060315" y="547634"/>
                </a:lnTo>
                <a:lnTo>
                  <a:pt x="2073869" y="545706"/>
                </a:lnTo>
                <a:lnTo>
                  <a:pt x="2087424" y="541043"/>
                </a:lnTo>
                <a:lnTo>
                  <a:pt x="2100979" y="539011"/>
                </a:lnTo>
                <a:lnTo>
                  <a:pt x="2114534" y="537868"/>
                </a:lnTo>
                <a:lnTo>
                  <a:pt x="2128088" y="537238"/>
                </a:lnTo>
                <a:lnTo>
                  <a:pt x="2141643" y="543624"/>
                </a:lnTo>
                <a:lnTo>
                  <a:pt x="2155198" y="535595"/>
                </a:lnTo>
                <a:lnTo>
                  <a:pt x="2168752" y="529371"/>
                </a:lnTo>
                <a:lnTo>
                  <a:pt x="2182307" y="530106"/>
                </a:lnTo>
                <a:lnTo>
                  <a:pt x="2195862" y="530146"/>
                </a:lnTo>
                <a:lnTo>
                  <a:pt x="2209416" y="526439"/>
                </a:lnTo>
                <a:lnTo>
                  <a:pt x="2222971" y="526577"/>
                </a:lnTo>
                <a:lnTo>
                  <a:pt x="2236526" y="525277"/>
                </a:lnTo>
                <a:lnTo>
                  <a:pt x="2250081" y="524551"/>
                </a:lnTo>
                <a:lnTo>
                  <a:pt x="2263635" y="520850"/>
                </a:lnTo>
                <a:lnTo>
                  <a:pt x="2277190" y="515247"/>
                </a:lnTo>
                <a:lnTo>
                  <a:pt x="2290745" y="510287"/>
                </a:lnTo>
                <a:lnTo>
                  <a:pt x="2304299" y="506678"/>
                </a:lnTo>
                <a:lnTo>
                  <a:pt x="2317854" y="510307"/>
                </a:lnTo>
                <a:lnTo>
                  <a:pt x="2331409" y="517788"/>
                </a:lnTo>
                <a:lnTo>
                  <a:pt x="2344963" y="516868"/>
                </a:lnTo>
                <a:lnTo>
                  <a:pt x="2358518" y="513637"/>
                </a:lnTo>
                <a:lnTo>
                  <a:pt x="2372073" y="518329"/>
                </a:lnTo>
                <a:lnTo>
                  <a:pt x="2385628" y="516138"/>
                </a:lnTo>
                <a:lnTo>
                  <a:pt x="2399182" y="504548"/>
                </a:lnTo>
                <a:lnTo>
                  <a:pt x="2412737" y="501918"/>
                </a:lnTo>
                <a:lnTo>
                  <a:pt x="2426292" y="501810"/>
                </a:lnTo>
                <a:lnTo>
                  <a:pt x="2439846" y="498659"/>
                </a:lnTo>
                <a:lnTo>
                  <a:pt x="2453401" y="500222"/>
                </a:lnTo>
                <a:lnTo>
                  <a:pt x="2466956" y="506511"/>
                </a:lnTo>
                <a:lnTo>
                  <a:pt x="2480510" y="507108"/>
                </a:lnTo>
                <a:lnTo>
                  <a:pt x="2494065" y="510645"/>
                </a:lnTo>
                <a:lnTo>
                  <a:pt x="2507620" y="507145"/>
                </a:lnTo>
                <a:lnTo>
                  <a:pt x="2521175" y="501078"/>
                </a:lnTo>
                <a:lnTo>
                  <a:pt x="2534729" y="497047"/>
                </a:lnTo>
                <a:lnTo>
                  <a:pt x="2548284" y="500343"/>
                </a:lnTo>
                <a:lnTo>
                  <a:pt x="2561839" y="500379"/>
                </a:lnTo>
                <a:lnTo>
                  <a:pt x="2575393" y="497882"/>
                </a:lnTo>
                <a:lnTo>
                  <a:pt x="2588948" y="490472"/>
                </a:lnTo>
                <a:lnTo>
                  <a:pt x="2602503" y="487719"/>
                </a:lnTo>
                <a:lnTo>
                  <a:pt x="2616058" y="487262"/>
                </a:lnTo>
                <a:lnTo>
                  <a:pt x="2629612" y="485373"/>
                </a:lnTo>
                <a:lnTo>
                  <a:pt x="2643167" y="480596"/>
                </a:lnTo>
                <a:lnTo>
                  <a:pt x="2656722" y="479294"/>
                </a:lnTo>
                <a:lnTo>
                  <a:pt x="2670276" y="479774"/>
                </a:lnTo>
                <a:lnTo>
                  <a:pt x="2683831" y="478287"/>
                </a:lnTo>
                <a:lnTo>
                  <a:pt x="2697386" y="482025"/>
                </a:lnTo>
                <a:lnTo>
                  <a:pt x="2710940" y="474695"/>
                </a:lnTo>
                <a:lnTo>
                  <a:pt x="2724495" y="471056"/>
                </a:lnTo>
                <a:lnTo>
                  <a:pt x="2738050" y="473021"/>
                </a:lnTo>
                <a:lnTo>
                  <a:pt x="2751605" y="471107"/>
                </a:lnTo>
                <a:lnTo>
                  <a:pt x="2765159" y="474255"/>
                </a:lnTo>
                <a:lnTo>
                  <a:pt x="2778714" y="480335"/>
                </a:lnTo>
                <a:lnTo>
                  <a:pt x="2792269" y="483368"/>
                </a:lnTo>
                <a:lnTo>
                  <a:pt x="2805823" y="473882"/>
                </a:lnTo>
                <a:lnTo>
                  <a:pt x="2819378" y="472399"/>
                </a:lnTo>
                <a:lnTo>
                  <a:pt x="2832933" y="468390"/>
                </a:lnTo>
                <a:lnTo>
                  <a:pt x="2846487" y="465138"/>
                </a:lnTo>
                <a:lnTo>
                  <a:pt x="2860042" y="471107"/>
                </a:lnTo>
                <a:lnTo>
                  <a:pt x="2873597" y="467178"/>
                </a:lnTo>
                <a:lnTo>
                  <a:pt x="2887152" y="468359"/>
                </a:lnTo>
                <a:lnTo>
                  <a:pt x="2900706" y="466845"/>
                </a:lnTo>
                <a:lnTo>
                  <a:pt x="2914261" y="475064"/>
                </a:lnTo>
                <a:lnTo>
                  <a:pt x="2927816" y="465787"/>
                </a:lnTo>
                <a:lnTo>
                  <a:pt x="2941370" y="466052"/>
                </a:lnTo>
                <a:lnTo>
                  <a:pt x="2954925" y="463514"/>
                </a:lnTo>
                <a:lnTo>
                  <a:pt x="2968480" y="461274"/>
                </a:lnTo>
                <a:lnTo>
                  <a:pt x="2982034" y="462989"/>
                </a:lnTo>
                <a:lnTo>
                  <a:pt x="2995589" y="458468"/>
                </a:lnTo>
                <a:lnTo>
                  <a:pt x="3009144" y="456410"/>
                </a:lnTo>
                <a:lnTo>
                  <a:pt x="3022699" y="451952"/>
                </a:lnTo>
                <a:lnTo>
                  <a:pt x="3036253" y="453172"/>
                </a:lnTo>
                <a:lnTo>
                  <a:pt x="3049808" y="451899"/>
                </a:lnTo>
                <a:lnTo>
                  <a:pt x="3063363" y="448222"/>
                </a:lnTo>
                <a:lnTo>
                  <a:pt x="3076917" y="448081"/>
                </a:lnTo>
                <a:lnTo>
                  <a:pt x="3090472" y="446765"/>
                </a:lnTo>
                <a:lnTo>
                  <a:pt x="3104027" y="445705"/>
                </a:lnTo>
                <a:lnTo>
                  <a:pt x="3117581" y="448300"/>
                </a:lnTo>
                <a:lnTo>
                  <a:pt x="3131136" y="456105"/>
                </a:lnTo>
                <a:lnTo>
                  <a:pt x="3144691" y="451678"/>
                </a:lnTo>
                <a:lnTo>
                  <a:pt x="3158246" y="445269"/>
                </a:lnTo>
                <a:lnTo>
                  <a:pt x="3171800" y="443211"/>
                </a:lnTo>
                <a:lnTo>
                  <a:pt x="3185355" y="443271"/>
                </a:lnTo>
                <a:lnTo>
                  <a:pt x="3198910" y="443132"/>
                </a:lnTo>
                <a:lnTo>
                  <a:pt x="3212464" y="440796"/>
                </a:lnTo>
                <a:lnTo>
                  <a:pt x="3226019" y="447864"/>
                </a:lnTo>
                <a:lnTo>
                  <a:pt x="3239574" y="450966"/>
                </a:lnTo>
                <a:lnTo>
                  <a:pt x="3253129" y="453586"/>
                </a:lnTo>
                <a:lnTo>
                  <a:pt x="3266683" y="464142"/>
                </a:lnTo>
                <a:lnTo>
                  <a:pt x="3280238" y="450093"/>
                </a:lnTo>
                <a:lnTo>
                  <a:pt x="3293793" y="443115"/>
                </a:lnTo>
                <a:lnTo>
                  <a:pt x="3307347" y="437323"/>
                </a:lnTo>
                <a:lnTo>
                  <a:pt x="3320902" y="435744"/>
                </a:lnTo>
                <a:lnTo>
                  <a:pt x="3334457" y="433647"/>
                </a:lnTo>
                <a:lnTo>
                  <a:pt x="3348011" y="431220"/>
                </a:lnTo>
                <a:lnTo>
                  <a:pt x="3361566" y="430028"/>
                </a:lnTo>
                <a:lnTo>
                  <a:pt x="3375121" y="440781"/>
                </a:lnTo>
                <a:lnTo>
                  <a:pt x="3388676" y="430535"/>
                </a:lnTo>
                <a:lnTo>
                  <a:pt x="3402230" y="427258"/>
                </a:lnTo>
                <a:lnTo>
                  <a:pt x="3415785" y="440731"/>
                </a:lnTo>
                <a:lnTo>
                  <a:pt x="3429340" y="437254"/>
                </a:lnTo>
                <a:lnTo>
                  <a:pt x="3442894" y="435727"/>
                </a:lnTo>
                <a:lnTo>
                  <a:pt x="3456449" y="440237"/>
                </a:lnTo>
                <a:lnTo>
                  <a:pt x="3470004" y="434239"/>
                </a:lnTo>
                <a:lnTo>
                  <a:pt x="3483558" y="429921"/>
                </a:lnTo>
                <a:lnTo>
                  <a:pt x="3497113" y="425399"/>
                </a:lnTo>
                <a:lnTo>
                  <a:pt x="3510668" y="423343"/>
                </a:lnTo>
                <a:lnTo>
                  <a:pt x="3524223" y="424692"/>
                </a:lnTo>
                <a:lnTo>
                  <a:pt x="3537777" y="429667"/>
                </a:lnTo>
                <a:lnTo>
                  <a:pt x="3551332" y="426105"/>
                </a:lnTo>
                <a:lnTo>
                  <a:pt x="3564887" y="431035"/>
                </a:lnTo>
                <a:lnTo>
                  <a:pt x="3578441" y="429278"/>
                </a:lnTo>
                <a:lnTo>
                  <a:pt x="3591996" y="423934"/>
                </a:lnTo>
                <a:lnTo>
                  <a:pt x="3605551" y="427025"/>
                </a:lnTo>
                <a:lnTo>
                  <a:pt x="3619105" y="421572"/>
                </a:lnTo>
                <a:lnTo>
                  <a:pt x="3632660" y="422933"/>
                </a:lnTo>
                <a:lnTo>
                  <a:pt x="3646215" y="421617"/>
                </a:lnTo>
                <a:lnTo>
                  <a:pt x="3659770" y="420420"/>
                </a:lnTo>
                <a:lnTo>
                  <a:pt x="3673324" y="419622"/>
                </a:lnTo>
                <a:lnTo>
                  <a:pt x="3686879" y="421688"/>
                </a:lnTo>
                <a:lnTo>
                  <a:pt x="3700434" y="426238"/>
                </a:lnTo>
                <a:lnTo>
                  <a:pt x="3713988" y="425305"/>
                </a:lnTo>
                <a:lnTo>
                  <a:pt x="3727543" y="419722"/>
                </a:lnTo>
                <a:lnTo>
                  <a:pt x="3741098" y="429308"/>
                </a:lnTo>
                <a:lnTo>
                  <a:pt x="3754652" y="425420"/>
                </a:lnTo>
                <a:lnTo>
                  <a:pt x="3768207" y="421492"/>
                </a:lnTo>
                <a:lnTo>
                  <a:pt x="3781762" y="419926"/>
                </a:lnTo>
                <a:lnTo>
                  <a:pt x="3795317" y="423479"/>
                </a:lnTo>
                <a:lnTo>
                  <a:pt x="3808871" y="423406"/>
                </a:lnTo>
                <a:lnTo>
                  <a:pt x="3822426" y="424456"/>
                </a:lnTo>
                <a:lnTo>
                  <a:pt x="3835981" y="422520"/>
                </a:lnTo>
                <a:lnTo>
                  <a:pt x="3849535" y="457908"/>
                </a:lnTo>
                <a:lnTo>
                  <a:pt x="3863090" y="450567"/>
                </a:lnTo>
                <a:lnTo>
                  <a:pt x="3876645" y="445736"/>
                </a:lnTo>
                <a:lnTo>
                  <a:pt x="3890200" y="437298"/>
                </a:lnTo>
                <a:lnTo>
                  <a:pt x="3903754" y="446028"/>
                </a:lnTo>
                <a:lnTo>
                  <a:pt x="3917309" y="449190"/>
                </a:lnTo>
                <a:lnTo>
                  <a:pt x="3930864" y="436886"/>
                </a:lnTo>
                <a:lnTo>
                  <a:pt x="3944418" y="437072"/>
                </a:lnTo>
                <a:lnTo>
                  <a:pt x="3957973" y="433126"/>
                </a:lnTo>
                <a:lnTo>
                  <a:pt x="3971528" y="422438"/>
                </a:lnTo>
                <a:lnTo>
                  <a:pt x="3985082" y="420359"/>
                </a:lnTo>
                <a:lnTo>
                  <a:pt x="3998637" y="424234"/>
                </a:lnTo>
                <a:lnTo>
                  <a:pt x="4012192" y="422764"/>
                </a:lnTo>
                <a:lnTo>
                  <a:pt x="4025747" y="421891"/>
                </a:lnTo>
                <a:lnTo>
                  <a:pt x="4039301" y="427419"/>
                </a:lnTo>
                <a:lnTo>
                  <a:pt x="4052856" y="427030"/>
                </a:lnTo>
                <a:lnTo>
                  <a:pt x="4066411" y="428550"/>
                </a:lnTo>
                <a:lnTo>
                  <a:pt x="4079965" y="425480"/>
                </a:lnTo>
                <a:lnTo>
                  <a:pt x="4093520" y="432565"/>
                </a:lnTo>
                <a:lnTo>
                  <a:pt x="4107075" y="446581"/>
                </a:lnTo>
                <a:lnTo>
                  <a:pt x="4120629" y="453168"/>
                </a:lnTo>
                <a:lnTo>
                  <a:pt x="4134184" y="449670"/>
                </a:lnTo>
                <a:lnTo>
                  <a:pt x="4147739" y="449736"/>
                </a:lnTo>
                <a:lnTo>
                  <a:pt x="4161294" y="457523"/>
                </a:lnTo>
                <a:lnTo>
                  <a:pt x="4174848" y="445345"/>
                </a:lnTo>
                <a:lnTo>
                  <a:pt x="4188403" y="444833"/>
                </a:lnTo>
                <a:lnTo>
                  <a:pt x="4201958" y="435688"/>
                </a:lnTo>
                <a:lnTo>
                  <a:pt x="4215512" y="435098"/>
                </a:lnTo>
                <a:lnTo>
                  <a:pt x="4229067" y="429018"/>
                </a:lnTo>
                <a:lnTo>
                  <a:pt x="4242622" y="427624"/>
                </a:lnTo>
                <a:lnTo>
                  <a:pt x="4256176" y="424130"/>
                </a:lnTo>
                <a:lnTo>
                  <a:pt x="4269731" y="426501"/>
                </a:lnTo>
                <a:lnTo>
                  <a:pt x="4283286" y="420407"/>
                </a:lnTo>
                <a:lnTo>
                  <a:pt x="4296841" y="418983"/>
                </a:lnTo>
                <a:lnTo>
                  <a:pt x="4310395" y="421240"/>
                </a:lnTo>
                <a:lnTo>
                  <a:pt x="4323950" y="424959"/>
                </a:lnTo>
                <a:lnTo>
                  <a:pt x="4337505" y="422570"/>
                </a:lnTo>
                <a:lnTo>
                  <a:pt x="4351059" y="426123"/>
                </a:lnTo>
                <a:lnTo>
                  <a:pt x="4364614" y="418437"/>
                </a:lnTo>
                <a:lnTo>
                  <a:pt x="4378169" y="417052"/>
                </a:lnTo>
                <a:lnTo>
                  <a:pt x="4391723" y="417360"/>
                </a:lnTo>
                <a:lnTo>
                  <a:pt x="4405278" y="421026"/>
                </a:lnTo>
                <a:lnTo>
                  <a:pt x="4418833" y="425975"/>
                </a:lnTo>
                <a:lnTo>
                  <a:pt x="4432388" y="415978"/>
                </a:lnTo>
                <a:lnTo>
                  <a:pt x="4445942" y="410894"/>
                </a:lnTo>
                <a:lnTo>
                  <a:pt x="4459497" y="406565"/>
                </a:lnTo>
                <a:lnTo>
                  <a:pt x="4473052" y="406222"/>
                </a:lnTo>
                <a:lnTo>
                  <a:pt x="4486606" y="405808"/>
                </a:lnTo>
                <a:lnTo>
                  <a:pt x="4500161" y="404230"/>
                </a:lnTo>
                <a:lnTo>
                  <a:pt x="4513716" y="402758"/>
                </a:lnTo>
                <a:lnTo>
                  <a:pt x="4527271" y="403550"/>
                </a:lnTo>
                <a:lnTo>
                  <a:pt x="4540825" y="403791"/>
                </a:lnTo>
                <a:lnTo>
                  <a:pt x="4554380" y="402844"/>
                </a:lnTo>
                <a:lnTo>
                  <a:pt x="4567935" y="411141"/>
                </a:lnTo>
                <a:lnTo>
                  <a:pt x="4581489" y="409308"/>
                </a:lnTo>
                <a:lnTo>
                  <a:pt x="4595044" y="406209"/>
                </a:lnTo>
                <a:lnTo>
                  <a:pt x="4608599" y="407488"/>
                </a:lnTo>
                <a:lnTo>
                  <a:pt x="4622153" y="409293"/>
                </a:lnTo>
                <a:lnTo>
                  <a:pt x="4635708" y="408889"/>
                </a:lnTo>
                <a:lnTo>
                  <a:pt x="4649263" y="408223"/>
                </a:lnTo>
                <a:lnTo>
                  <a:pt x="4662818" y="412819"/>
                </a:lnTo>
                <a:lnTo>
                  <a:pt x="4676372" y="408310"/>
                </a:lnTo>
                <a:lnTo>
                  <a:pt x="4689927" y="402347"/>
                </a:lnTo>
                <a:lnTo>
                  <a:pt x="4703482" y="399106"/>
                </a:lnTo>
                <a:lnTo>
                  <a:pt x="4717036" y="399386"/>
                </a:lnTo>
                <a:lnTo>
                  <a:pt x="4730591" y="393521"/>
                </a:lnTo>
                <a:lnTo>
                  <a:pt x="4744146" y="391765"/>
                </a:lnTo>
                <a:lnTo>
                  <a:pt x="4757700" y="390099"/>
                </a:lnTo>
                <a:lnTo>
                  <a:pt x="4771255" y="392050"/>
                </a:lnTo>
                <a:lnTo>
                  <a:pt x="4784810" y="388133"/>
                </a:lnTo>
                <a:lnTo>
                  <a:pt x="4798365" y="388351"/>
                </a:lnTo>
                <a:lnTo>
                  <a:pt x="4811919" y="389579"/>
                </a:lnTo>
                <a:lnTo>
                  <a:pt x="4825474" y="387671"/>
                </a:lnTo>
                <a:lnTo>
                  <a:pt x="4839029" y="385802"/>
                </a:lnTo>
                <a:lnTo>
                  <a:pt x="4852583" y="380659"/>
                </a:lnTo>
                <a:lnTo>
                  <a:pt x="4866138" y="375757"/>
                </a:lnTo>
                <a:lnTo>
                  <a:pt x="4879693" y="375784"/>
                </a:lnTo>
                <a:lnTo>
                  <a:pt x="4893247" y="375091"/>
                </a:lnTo>
                <a:lnTo>
                  <a:pt x="4906802" y="375222"/>
                </a:lnTo>
                <a:lnTo>
                  <a:pt x="4920357" y="378044"/>
                </a:lnTo>
                <a:lnTo>
                  <a:pt x="4933912" y="375948"/>
                </a:lnTo>
                <a:lnTo>
                  <a:pt x="4947466" y="375739"/>
                </a:lnTo>
                <a:lnTo>
                  <a:pt x="4961021" y="376290"/>
                </a:lnTo>
                <a:lnTo>
                  <a:pt x="4974576" y="378429"/>
                </a:lnTo>
                <a:lnTo>
                  <a:pt x="4988130" y="371929"/>
                </a:lnTo>
                <a:lnTo>
                  <a:pt x="5001685" y="371825"/>
                </a:lnTo>
                <a:lnTo>
                  <a:pt x="5015240" y="370027"/>
                </a:lnTo>
                <a:lnTo>
                  <a:pt x="5028794" y="375292"/>
                </a:lnTo>
                <a:lnTo>
                  <a:pt x="5042349" y="369076"/>
                </a:lnTo>
                <a:lnTo>
                  <a:pt x="5055904" y="365563"/>
                </a:lnTo>
                <a:lnTo>
                  <a:pt x="5069459" y="365029"/>
                </a:lnTo>
                <a:lnTo>
                  <a:pt x="5083013" y="365041"/>
                </a:lnTo>
                <a:lnTo>
                  <a:pt x="5096568" y="364719"/>
                </a:lnTo>
                <a:lnTo>
                  <a:pt x="5110123" y="366622"/>
                </a:lnTo>
                <a:lnTo>
                  <a:pt x="5123677" y="365650"/>
                </a:lnTo>
                <a:lnTo>
                  <a:pt x="5137232" y="361276"/>
                </a:lnTo>
                <a:lnTo>
                  <a:pt x="5150787" y="359619"/>
                </a:lnTo>
                <a:lnTo>
                  <a:pt x="5164342" y="359581"/>
                </a:lnTo>
                <a:lnTo>
                  <a:pt x="5177896" y="358955"/>
                </a:lnTo>
                <a:lnTo>
                  <a:pt x="5191451" y="363094"/>
                </a:lnTo>
                <a:lnTo>
                  <a:pt x="5205006" y="364885"/>
                </a:lnTo>
                <a:lnTo>
                  <a:pt x="5218560" y="362538"/>
                </a:lnTo>
                <a:lnTo>
                  <a:pt x="5232115" y="358418"/>
                </a:lnTo>
                <a:lnTo>
                  <a:pt x="5245670" y="356714"/>
                </a:lnTo>
                <a:lnTo>
                  <a:pt x="5259224" y="354552"/>
                </a:lnTo>
                <a:lnTo>
                  <a:pt x="5272779" y="355532"/>
                </a:lnTo>
                <a:lnTo>
                  <a:pt x="5286334" y="351350"/>
                </a:lnTo>
                <a:lnTo>
                  <a:pt x="5299889" y="349359"/>
                </a:lnTo>
                <a:lnTo>
                  <a:pt x="5313443" y="347732"/>
                </a:lnTo>
                <a:lnTo>
                  <a:pt x="5326998" y="346740"/>
                </a:lnTo>
                <a:lnTo>
                  <a:pt x="5340553" y="345969"/>
                </a:lnTo>
                <a:lnTo>
                  <a:pt x="5354107" y="343450"/>
                </a:lnTo>
                <a:lnTo>
                  <a:pt x="5367662" y="344071"/>
                </a:lnTo>
                <a:lnTo>
                  <a:pt x="5381217" y="344107"/>
                </a:lnTo>
                <a:lnTo>
                  <a:pt x="5394771" y="338686"/>
                </a:lnTo>
                <a:lnTo>
                  <a:pt x="5408326" y="338309"/>
                </a:lnTo>
                <a:lnTo>
                  <a:pt x="5421881" y="334121"/>
                </a:lnTo>
                <a:lnTo>
                  <a:pt x="5435436" y="332093"/>
                </a:lnTo>
                <a:lnTo>
                  <a:pt x="5448990" y="331919"/>
                </a:lnTo>
                <a:lnTo>
                  <a:pt x="5462545" y="326998"/>
                </a:lnTo>
                <a:lnTo>
                  <a:pt x="5476100" y="321906"/>
                </a:lnTo>
                <a:lnTo>
                  <a:pt x="5489654" y="317139"/>
                </a:lnTo>
                <a:lnTo>
                  <a:pt x="5503209" y="310411"/>
                </a:lnTo>
                <a:lnTo>
                  <a:pt x="5516764" y="322658"/>
                </a:lnTo>
                <a:lnTo>
                  <a:pt x="5530318" y="338725"/>
                </a:lnTo>
                <a:lnTo>
                  <a:pt x="5543873" y="325295"/>
                </a:lnTo>
                <a:lnTo>
                  <a:pt x="5557428" y="319920"/>
                </a:lnTo>
                <a:lnTo>
                  <a:pt x="5570983" y="326338"/>
                </a:lnTo>
                <a:lnTo>
                  <a:pt x="5584537" y="319231"/>
                </a:lnTo>
                <a:lnTo>
                  <a:pt x="5598092" y="327039"/>
                </a:lnTo>
                <a:lnTo>
                  <a:pt x="5611647" y="333250"/>
                </a:lnTo>
                <a:lnTo>
                  <a:pt x="5625201" y="338353"/>
                </a:lnTo>
                <a:lnTo>
                  <a:pt x="5638756" y="333203"/>
                </a:lnTo>
                <a:lnTo>
                  <a:pt x="5652311" y="327382"/>
                </a:lnTo>
                <a:lnTo>
                  <a:pt x="5665865" y="335744"/>
                </a:lnTo>
                <a:lnTo>
                  <a:pt x="5679420" y="333402"/>
                </a:lnTo>
                <a:lnTo>
                  <a:pt x="5692975" y="331147"/>
                </a:lnTo>
                <a:lnTo>
                  <a:pt x="5706530" y="326343"/>
                </a:lnTo>
                <a:lnTo>
                  <a:pt x="5720084" y="324625"/>
                </a:lnTo>
                <a:lnTo>
                  <a:pt x="5733639" y="324625"/>
                </a:lnTo>
                <a:lnTo>
                  <a:pt x="5747194" y="319240"/>
                </a:lnTo>
                <a:lnTo>
                  <a:pt x="5760748" y="318539"/>
                </a:lnTo>
                <a:lnTo>
                  <a:pt x="5774303" y="319453"/>
                </a:lnTo>
                <a:lnTo>
                  <a:pt x="5787858" y="326960"/>
                </a:lnTo>
                <a:lnTo>
                  <a:pt x="5801413" y="322674"/>
                </a:lnTo>
                <a:lnTo>
                  <a:pt x="5814967" y="315668"/>
                </a:lnTo>
                <a:lnTo>
                  <a:pt x="5828522" y="314972"/>
                </a:lnTo>
                <a:lnTo>
                  <a:pt x="5842077" y="311305"/>
                </a:lnTo>
                <a:lnTo>
                  <a:pt x="5855631" y="312344"/>
                </a:lnTo>
                <a:lnTo>
                  <a:pt x="5869186" y="309423"/>
                </a:lnTo>
                <a:lnTo>
                  <a:pt x="5882741" y="310521"/>
                </a:lnTo>
                <a:lnTo>
                  <a:pt x="5896295" y="308644"/>
                </a:lnTo>
                <a:lnTo>
                  <a:pt x="5909850" y="303802"/>
                </a:lnTo>
                <a:lnTo>
                  <a:pt x="5923405" y="306692"/>
                </a:lnTo>
                <a:lnTo>
                  <a:pt x="5936960" y="303185"/>
                </a:lnTo>
                <a:lnTo>
                  <a:pt x="5950514" y="300612"/>
                </a:lnTo>
                <a:lnTo>
                  <a:pt x="5964069" y="301959"/>
                </a:lnTo>
                <a:lnTo>
                  <a:pt x="5977624" y="305058"/>
                </a:lnTo>
                <a:lnTo>
                  <a:pt x="5991178" y="318079"/>
                </a:lnTo>
                <a:lnTo>
                  <a:pt x="6004733" y="317743"/>
                </a:lnTo>
                <a:lnTo>
                  <a:pt x="6018288" y="330213"/>
                </a:lnTo>
                <a:lnTo>
                  <a:pt x="6031842" y="322662"/>
                </a:lnTo>
                <a:lnTo>
                  <a:pt x="6045397" y="316058"/>
                </a:lnTo>
                <a:lnTo>
                  <a:pt x="6058952" y="320577"/>
                </a:lnTo>
                <a:lnTo>
                  <a:pt x="6072507" y="327694"/>
                </a:lnTo>
                <a:lnTo>
                  <a:pt x="6086061" y="314349"/>
                </a:lnTo>
                <a:lnTo>
                  <a:pt x="6099616" y="331614"/>
                </a:lnTo>
                <a:lnTo>
                  <a:pt x="6113171" y="342392"/>
                </a:lnTo>
                <a:lnTo>
                  <a:pt x="6126725" y="351572"/>
                </a:lnTo>
                <a:lnTo>
                  <a:pt x="6140280" y="354056"/>
                </a:lnTo>
                <a:lnTo>
                  <a:pt x="6153835" y="336021"/>
                </a:lnTo>
                <a:lnTo>
                  <a:pt x="6167389" y="331186"/>
                </a:lnTo>
                <a:lnTo>
                  <a:pt x="6180944" y="327889"/>
                </a:lnTo>
                <a:lnTo>
                  <a:pt x="6194499" y="322950"/>
                </a:lnTo>
                <a:lnTo>
                  <a:pt x="6208054" y="322480"/>
                </a:lnTo>
                <a:lnTo>
                  <a:pt x="6221608" y="314692"/>
                </a:lnTo>
                <a:lnTo>
                  <a:pt x="6235163" y="312305"/>
                </a:lnTo>
                <a:lnTo>
                  <a:pt x="6248718" y="312438"/>
                </a:lnTo>
                <a:lnTo>
                  <a:pt x="6262272" y="313502"/>
                </a:lnTo>
                <a:lnTo>
                  <a:pt x="6275827" y="307854"/>
                </a:lnTo>
                <a:lnTo>
                  <a:pt x="6289382" y="311478"/>
                </a:lnTo>
                <a:lnTo>
                  <a:pt x="6302936" y="304045"/>
                </a:lnTo>
                <a:lnTo>
                  <a:pt x="6316491" y="300860"/>
                </a:lnTo>
                <a:lnTo>
                  <a:pt x="6330046" y="299599"/>
                </a:lnTo>
                <a:lnTo>
                  <a:pt x="6343601" y="296512"/>
                </a:lnTo>
                <a:lnTo>
                  <a:pt x="6357155" y="295311"/>
                </a:lnTo>
                <a:lnTo>
                  <a:pt x="6370710" y="301781"/>
                </a:lnTo>
                <a:lnTo>
                  <a:pt x="6384265" y="306685"/>
                </a:lnTo>
                <a:lnTo>
                  <a:pt x="6397819" y="303310"/>
                </a:lnTo>
                <a:lnTo>
                  <a:pt x="6411374" y="312332"/>
                </a:lnTo>
                <a:lnTo>
                  <a:pt x="6424929" y="307165"/>
                </a:lnTo>
                <a:lnTo>
                  <a:pt x="6438484" y="301288"/>
                </a:lnTo>
                <a:lnTo>
                  <a:pt x="6452038" y="296321"/>
                </a:lnTo>
                <a:lnTo>
                  <a:pt x="6465593" y="297566"/>
                </a:lnTo>
                <a:lnTo>
                  <a:pt x="6479148" y="288825"/>
                </a:lnTo>
                <a:lnTo>
                  <a:pt x="6492702" y="288298"/>
                </a:lnTo>
                <a:lnTo>
                  <a:pt x="6506257" y="288794"/>
                </a:lnTo>
                <a:lnTo>
                  <a:pt x="6519812" y="287586"/>
                </a:lnTo>
                <a:lnTo>
                  <a:pt x="6533366" y="292950"/>
                </a:lnTo>
                <a:lnTo>
                  <a:pt x="6546921" y="294231"/>
                </a:lnTo>
                <a:lnTo>
                  <a:pt x="6560476" y="303824"/>
                </a:lnTo>
                <a:lnTo>
                  <a:pt x="6574031" y="295562"/>
                </a:lnTo>
                <a:lnTo>
                  <a:pt x="6587585" y="295329"/>
                </a:lnTo>
                <a:lnTo>
                  <a:pt x="6601140" y="289602"/>
                </a:lnTo>
                <a:lnTo>
                  <a:pt x="6614695" y="286465"/>
                </a:lnTo>
                <a:lnTo>
                  <a:pt x="6628249" y="287939"/>
                </a:lnTo>
                <a:lnTo>
                  <a:pt x="6641804" y="290939"/>
                </a:lnTo>
                <a:lnTo>
                  <a:pt x="6655359" y="292039"/>
                </a:lnTo>
                <a:lnTo>
                  <a:pt x="6668913" y="290019"/>
                </a:lnTo>
                <a:lnTo>
                  <a:pt x="6682468" y="288261"/>
                </a:lnTo>
                <a:lnTo>
                  <a:pt x="6696023" y="284517"/>
                </a:lnTo>
                <a:lnTo>
                  <a:pt x="6709578" y="279898"/>
                </a:lnTo>
                <a:lnTo>
                  <a:pt x="6723132" y="277083"/>
                </a:lnTo>
                <a:lnTo>
                  <a:pt x="6736687" y="274244"/>
                </a:lnTo>
                <a:lnTo>
                  <a:pt x="6750242" y="275068"/>
                </a:lnTo>
                <a:lnTo>
                  <a:pt x="6763796" y="274393"/>
                </a:lnTo>
                <a:lnTo>
                  <a:pt x="6777351" y="272178"/>
                </a:lnTo>
                <a:lnTo>
                  <a:pt x="6790906" y="266692"/>
                </a:lnTo>
                <a:lnTo>
                  <a:pt x="6804460" y="263516"/>
                </a:lnTo>
                <a:lnTo>
                  <a:pt x="6818015" y="262901"/>
                </a:lnTo>
                <a:lnTo>
                  <a:pt x="6831570" y="260423"/>
                </a:lnTo>
                <a:lnTo>
                  <a:pt x="6845125" y="256879"/>
                </a:lnTo>
                <a:lnTo>
                  <a:pt x="6858679" y="253572"/>
                </a:lnTo>
                <a:lnTo>
                  <a:pt x="6872234" y="257360"/>
                </a:lnTo>
                <a:lnTo>
                  <a:pt x="6885789" y="251473"/>
                </a:lnTo>
                <a:lnTo>
                  <a:pt x="6899343" y="248635"/>
                </a:lnTo>
                <a:lnTo>
                  <a:pt x="6912898" y="251936"/>
                </a:lnTo>
                <a:lnTo>
                  <a:pt x="6926453" y="288524"/>
                </a:lnTo>
                <a:lnTo>
                  <a:pt x="6940007" y="287274"/>
                </a:lnTo>
                <a:lnTo>
                  <a:pt x="6953562" y="317998"/>
                </a:lnTo>
                <a:lnTo>
                  <a:pt x="6967117" y="366596"/>
                </a:lnTo>
                <a:lnTo>
                  <a:pt x="6980672" y="334999"/>
                </a:lnTo>
                <a:lnTo>
                  <a:pt x="6994226" y="341446"/>
                </a:lnTo>
                <a:lnTo>
                  <a:pt x="7007781" y="308992"/>
                </a:lnTo>
                <a:lnTo>
                  <a:pt x="7021336" y="302412"/>
                </a:lnTo>
                <a:lnTo>
                  <a:pt x="7034890" y="296474"/>
                </a:lnTo>
                <a:lnTo>
                  <a:pt x="7048445" y="300246"/>
                </a:lnTo>
                <a:lnTo>
                  <a:pt x="7062000" y="290660"/>
                </a:lnTo>
                <a:lnTo>
                  <a:pt x="7075555" y="288029"/>
                </a:lnTo>
                <a:lnTo>
                  <a:pt x="7089109" y="283782"/>
                </a:lnTo>
                <a:lnTo>
                  <a:pt x="7102664" y="274616"/>
                </a:lnTo>
                <a:lnTo>
                  <a:pt x="7116219" y="262117"/>
                </a:lnTo>
                <a:lnTo>
                  <a:pt x="7129773" y="269757"/>
                </a:lnTo>
                <a:lnTo>
                  <a:pt x="7143328" y="269300"/>
                </a:lnTo>
                <a:lnTo>
                  <a:pt x="7156883" y="272978"/>
                </a:lnTo>
                <a:lnTo>
                  <a:pt x="7170437" y="265235"/>
                </a:lnTo>
                <a:lnTo>
                  <a:pt x="7183992" y="259740"/>
                </a:lnTo>
                <a:lnTo>
                  <a:pt x="7197547" y="254965"/>
                </a:lnTo>
                <a:lnTo>
                  <a:pt x="7211102" y="256615"/>
                </a:lnTo>
                <a:lnTo>
                  <a:pt x="7224656" y="250038"/>
                </a:lnTo>
                <a:lnTo>
                  <a:pt x="7238211" y="245116"/>
                </a:lnTo>
                <a:lnTo>
                  <a:pt x="7251766" y="245309"/>
                </a:lnTo>
                <a:lnTo>
                  <a:pt x="7265320" y="235971"/>
                </a:lnTo>
                <a:lnTo>
                  <a:pt x="7278875" y="227090"/>
                </a:lnTo>
                <a:lnTo>
                  <a:pt x="7292430" y="248386"/>
                </a:lnTo>
                <a:lnTo>
                  <a:pt x="7305984" y="246585"/>
                </a:lnTo>
                <a:lnTo>
                  <a:pt x="7319539" y="256924"/>
                </a:lnTo>
                <a:lnTo>
                  <a:pt x="7333094" y="244247"/>
                </a:lnTo>
                <a:lnTo>
                  <a:pt x="7346649" y="238126"/>
                </a:lnTo>
                <a:lnTo>
                  <a:pt x="7360203" y="234799"/>
                </a:lnTo>
                <a:lnTo>
                  <a:pt x="7373758" y="237381"/>
                </a:lnTo>
                <a:lnTo>
                  <a:pt x="7387313" y="250792"/>
                </a:lnTo>
                <a:lnTo>
                  <a:pt x="7400867" y="232370"/>
                </a:lnTo>
                <a:lnTo>
                  <a:pt x="7414422" y="229760"/>
                </a:lnTo>
                <a:lnTo>
                  <a:pt x="7427977" y="225786"/>
                </a:lnTo>
                <a:lnTo>
                  <a:pt x="7441531" y="220737"/>
                </a:lnTo>
                <a:lnTo>
                  <a:pt x="7455086" y="215528"/>
                </a:lnTo>
                <a:lnTo>
                  <a:pt x="7468641" y="218510"/>
                </a:lnTo>
                <a:lnTo>
                  <a:pt x="7482196" y="214773"/>
                </a:lnTo>
                <a:lnTo>
                  <a:pt x="7495750" y="212280"/>
                </a:lnTo>
                <a:lnTo>
                  <a:pt x="7509305" y="212978"/>
                </a:lnTo>
                <a:lnTo>
                  <a:pt x="7522860" y="206845"/>
                </a:lnTo>
                <a:lnTo>
                  <a:pt x="7536414" y="202694"/>
                </a:lnTo>
                <a:lnTo>
                  <a:pt x="7549969" y="210424"/>
                </a:lnTo>
                <a:lnTo>
                  <a:pt x="7563524" y="204341"/>
                </a:lnTo>
                <a:lnTo>
                  <a:pt x="7577078" y="197748"/>
                </a:lnTo>
                <a:lnTo>
                  <a:pt x="7590633" y="197242"/>
                </a:lnTo>
                <a:lnTo>
                  <a:pt x="7604188" y="203952"/>
                </a:lnTo>
                <a:lnTo>
                  <a:pt x="7617743" y="208539"/>
                </a:lnTo>
                <a:lnTo>
                  <a:pt x="7631297" y="195026"/>
                </a:lnTo>
                <a:lnTo>
                  <a:pt x="7644852" y="196641"/>
                </a:lnTo>
                <a:lnTo>
                  <a:pt x="7658407" y="197039"/>
                </a:lnTo>
                <a:lnTo>
                  <a:pt x="7671961" y="188502"/>
                </a:lnTo>
                <a:lnTo>
                  <a:pt x="7685516" y="180218"/>
                </a:lnTo>
                <a:lnTo>
                  <a:pt x="7699071" y="175913"/>
                </a:lnTo>
                <a:lnTo>
                  <a:pt x="7712626" y="176299"/>
                </a:lnTo>
                <a:lnTo>
                  <a:pt x="7726180" y="175883"/>
                </a:lnTo>
                <a:lnTo>
                  <a:pt x="7739735" y="172333"/>
                </a:lnTo>
                <a:lnTo>
                  <a:pt x="7753290" y="176417"/>
                </a:lnTo>
                <a:lnTo>
                  <a:pt x="7766844" y="177637"/>
                </a:lnTo>
                <a:lnTo>
                  <a:pt x="7780399" y="173860"/>
                </a:lnTo>
                <a:lnTo>
                  <a:pt x="7793954" y="172282"/>
                </a:lnTo>
                <a:lnTo>
                  <a:pt x="7807508" y="170042"/>
                </a:lnTo>
                <a:lnTo>
                  <a:pt x="7821063" y="172248"/>
                </a:lnTo>
                <a:lnTo>
                  <a:pt x="7834618" y="167429"/>
                </a:lnTo>
                <a:lnTo>
                  <a:pt x="7848173" y="163506"/>
                </a:lnTo>
                <a:lnTo>
                  <a:pt x="7861727" y="161612"/>
                </a:lnTo>
                <a:lnTo>
                  <a:pt x="7875282" y="164844"/>
                </a:lnTo>
                <a:lnTo>
                  <a:pt x="7888837" y="159194"/>
                </a:lnTo>
                <a:lnTo>
                  <a:pt x="7902391" y="157691"/>
                </a:lnTo>
                <a:lnTo>
                  <a:pt x="7915946" y="156621"/>
                </a:lnTo>
                <a:lnTo>
                  <a:pt x="7929501" y="155672"/>
                </a:lnTo>
                <a:lnTo>
                  <a:pt x="7943055" y="152948"/>
                </a:lnTo>
                <a:lnTo>
                  <a:pt x="7956610" y="150480"/>
                </a:lnTo>
                <a:lnTo>
                  <a:pt x="7970165" y="150925"/>
                </a:lnTo>
                <a:lnTo>
                  <a:pt x="7983720" y="153010"/>
                </a:lnTo>
                <a:lnTo>
                  <a:pt x="7997274" y="159016"/>
                </a:lnTo>
                <a:lnTo>
                  <a:pt x="8010829" y="161433"/>
                </a:lnTo>
                <a:lnTo>
                  <a:pt x="8024384" y="161113"/>
                </a:lnTo>
                <a:lnTo>
                  <a:pt x="8037938" y="160914"/>
                </a:lnTo>
                <a:lnTo>
                  <a:pt x="8051493" y="148910"/>
                </a:lnTo>
                <a:lnTo>
                  <a:pt x="8065048" y="147866"/>
                </a:lnTo>
                <a:lnTo>
                  <a:pt x="8078602" y="140610"/>
                </a:lnTo>
                <a:lnTo>
                  <a:pt x="8092157" y="141343"/>
                </a:lnTo>
                <a:lnTo>
                  <a:pt x="8105712" y="138343"/>
                </a:lnTo>
                <a:lnTo>
                  <a:pt x="8119267" y="137486"/>
                </a:lnTo>
                <a:lnTo>
                  <a:pt x="8132821" y="145518"/>
                </a:lnTo>
                <a:lnTo>
                  <a:pt x="8146376" y="139527"/>
                </a:lnTo>
                <a:lnTo>
                  <a:pt x="8159931" y="139461"/>
                </a:lnTo>
                <a:lnTo>
                  <a:pt x="8173485" y="135639"/>
                </a:lnTo>
                <a:lnTo>
                  <a:pt x="8187040" y="132787"/>
                </a:lnTo>
                <a:lnTo>
                  <a:pt x="8200595" y="138616"/>
                </a:lnTo>
                <a:lnTo>
                  <a:pt x="8214149" y="139526"/>
                </a:lnTo>
                <a:lnTo>
                  <a:pt x="8227704" y="156537"/>
                </a:lnTo>
                <a:lnTo>
                  <a:pt x="8241259" y="149539"/>
                </a:lnTo>
                <a:lnTo>
                  <a:pt x="8254814" y="151365"/>
                </a:lnTo>
                <a:lnTo>
                  <a:pt x="8268368" y="157114"/>
                </a:lnTo>
                <a:lnTo>
                  <a:pt x="8281923" y="163841"/>
                </a:lnTo>
                <a:lnTo>
                  <a:pt x="8295478" y="163547"/>
                </a:lnTo>
                <a:lnTo>
                  <a:pt x="8309032" y="173580"/>
                </a:lnTo>
                <a:lnTo>
                  <a:pt x="8322587" y="166298"/>
                </a:lnTo>
                <a:lnTo>
                  <a:pt x="8336142" y="148800"/>
                </a:lnTo>
                <a:lnTo>
                  <a:pt x="8349697" y="140683"/>
                </a:lnTo>
                <a:lnTo>
                  <a:pt x="8363251" y="147811"/>
                </a:lnTo>
                <a:lnTo>
                  <a:pt x="8376806" y="156669"/>
                </a:lnTo>
                <a:lnTo>
                  <a:pt x="8390361" y="152174"/>
                </a:lnTo>
                <a:lnTo>
                  <a:pt x="8403915" y="171864"/>
                </a:lnTo>
                <a:lnTo>
                  <a:pt x="8417470" y="163249"/>
                </a:lnTo>
                <a:lnTo>
                  <a:pt x="8431025" y="190587"/>
                </a:lnTo>
                <a:lnTo>
                  <a:pt x="8444579" y="191288"/>
                </a:lnTo>
                <a:lnTo>
                  <a:pt x="8458134" y="186971"/>
                </a:lnTo>
                <a:lnTo>
                  <a:pt x="8471689" y="171775"/>
                </a:lnTo>
                <a:lnTo>
                  <a:pt x="8485244" y="183821"/>
                </a:lnTo>
                <a:lnTo>
                  <a:pt x="8498798" y="211847"/>
                </a:lnTo>
                <a:lnTo>
                  <a:pt x="8512353" y="191363"/>
                </a:lnTo>
                <a:lnTo>
                  <a:pt x="8525908" y="198450"/>
                </a:lnTo>
                <a:lnTo>
                  <a:pt x="8539462" y="196035"/>
                </a:lnTo>
                <a:lnTo>
                  <a:pt x="8553017" y="197875"/>
                </a:lnTo>
                <a:lnTo>
                  <a:pt x="8566572" y="187042"/>
                </a:lnTo>
                <a:lnTo>
                  <a:pt x="8580126" y="175385"/>
                </a:lnTo>
                <a:lnTo>
                  <a:pt x="8593681" y="173719"/>
                </a:lnTo>
                <a:lnTo>
                  <a:pt x="8607236" y="162061"/>
                </a:lnTo>
                <a:lnTo>
                  <a:pt x="8620791" y="173449"/>
                </a:lnTo>
                <a:lnTo>
                  <a:pt x="8634345" y="181573"/>
                </a:lnTo>
                <a:lnTo>
                  <a:pt x="8647900" y="190825"/>
                </a:lnTo>
                <a:lnTo>
                  <a:pt x="8661455" y="188979"/>
                </a:lnTo>
                <a:lnTo>
                  <a:pt x="8675009" y="194880"/>
                </a:lnTo>
                <a:lnTo>
                  <a:pt x="8688564" y="212016"/>
                </a:lnTo>
                <a:lnTo>
                  <a:pt x="8702119" y="199846"/>
                </a:lnTo>
                <a:lnTo>
                  <a:pt x="8715673" y="216852"/>
                </a:lnTo>
                <a:lnTo>
                  <a:pt x="8729228" y="205492"/>
                </a:lnTo>
                <a:lnTo>
                  <a:pt x="8742783" y="194213"/>
                </a:lnTo>
                <a:lnTo>
                  <a:pt x="8756338" y="194534"/>
                </a:lnTo>
                <a:lnTo>
                  <a:pt x="8769892" y="196567"/>
                </a:lnTo>
                <a:lnTo>
                  <a:pt x="8783447" y="183501"/>
                </a:lnTo>
                <a:lnTo>
                  <a:pt x="8797002" y="182409"/>
                </a:lnTo>
                <a:lnTo>
                  <a:pt x="8810556" y="176452"/>
                </a:lnTo>
                <a:lnTo>
                  <a:pt x="8824111" y="187664"/>
                </a:lnTo>
                <a:lnTo>
                  <a:pt x="8837666" y="182796"/>
                </a:lnTo>
                <a:lnTo>
                  <a:pt x="8851220" y="191746"/>
                </a:lnTo>
                <a:lnTo>
                  <a:pt x="8864775" y="193987"/>
                </a:lnTo>
                <a:lnTo>
                  <a:pt x="8878330" y="190269"/>
                </a:lnTo>
                <a:lnTo>
                  <a:pt x="8891885" y="182077"/>
                </a:lnTo>
                <a:lnTo>
                  <a:pt x="8905439" y="180429"/>
                </a:lnTo>
                <a:lnTo>
                  <a:pt x="8918994" y="180460"/>
                </a:lnTo>
                <a:lnTo>
                  <a:pt x="8932549" y="173410"/>
                </a:lnTo>
                <a:lnTo>
                  <a:pt x="8946103" y="171155"/>
                </a:lnTo>
                <a:lnTo>
                  <a:pt x="8959658" y="181619"/>
                </a:lnTo>
                <a:lnTo>
                  <a:pt x="8973213" y="183820"/>
                </a:lnTo>
                <a:lnTo>
                  <a:pt x="8986768" y="182255"/>
                </a:lnTo>
                <a:lnTo>
                  <a:pt x="9000322" y="187374"/>
                </a:lnTo>
                <a:lnTo>
                  <a:pt x="9013877" y="180582"/>
                </a:lnTo>
                <a:lnTo>
                  <a:pt x="9027432" y="183157"/>
                </a:lnTo>
                <a:lnTo>
                  <a:pt x="9040986" y="173109"/>
                </a:lnTo>
                <a:lnTo>
                  <a:pt x="9054541" y="173578"/>
                </a:lnTo>
                <a:lnTo>
                  <a:pt x="9068096" y="168998"/>
                </a:lnTo>
                <a:lnTo>
                  <a:pt x="9081650" y="176386"/>
                </a:lnTo>
                <a:lnTo>
                  <a:pt x="9095205" y="173600"/>
                </a:lnTo>
                <a:lnTo>
                  <a:pt x="9108760" y="169962"/>
                </a:lnTo>
                <a:lnTo>
                  <a:pt x="9122315" y="168185"/>
                </a:lnTo>
                <a:lnTo>
                  <a:pt x="9135869" y="171283"/>
                </a:lnTo>
                <a:lnTo>
                  <a:pt x="9149424" y="163317"/>
                </a:lnTo>
                <a:lnTo>
                  <a:pt x="9162979" y="158005"/>
                </a:lnTo>
                <a:lnTo>
                  <a:pt x="9176533" y="148450"/>
                </a:lnTo>
                <a:lnTo>
                  <a:pt x="9190088" y="153933"/>
                </a:lnTo>
                <a:lnTo>
                  <a:pt x="9203643" y="146829"/>
                </a:lnTo>
                <a:lnTo>
                  <a:pt x="9217197" y="149364"/>
                </a:lnTo>
                <a:lnTo>
                  <a:pt x="9230752" y="141601"/>
                </a:lnTo>
                <a:lnTo>
                  <a:pt x="9244307" y="139306"/>
                </a:lnTo>
                <a:lnTo>
                  <a:pt x="9257862" y="136871"/>
                </a:lnTo>
                <a:lnTo>
                  <a:pt x="9271416" y="141690"/>
                </a:lnTo>
                <a:lnTo>
                  <a:pt x="9284971" y="143478"/>
                </a:lnTo>
                <a:lnTo>
                  <a:pt x="9298526" y="149589"/>
                </a:lnTo>
                <a:lnTo>
                  <a:pt x="9312080" y="147192"/>
                </a:lnTo>
                <a:lnTo>
                  <a:pt x="9325635" y="142700"/>
                </a:lnTo>
                <a:lnTo>
                  <a:pt x="9339190" y="144945"/>
                </a:lnTo>
                <a:lnTo>
                  <a:pt x="9352744" y="146139"/>
                </a:lnTo>
                <a:lnTo>
                  <a:pt x="9366299" y="158121"/>
                </a:lnTo>
                <a:lnTo>
                  <a:pt x="9379854" y="161250"/>
                </a:lnTo>
                <a:lnTo>
                  <a:pt x="9393409" y="151897"/>
                </a:lnTo>
                <a:lnTo>
                  <a:pt x="9406963" y="150846"/>
                </a:lnTo>
                <a:lnTo>
                  <a:pt x="9420518" y="159758"/>
                </a:lnTo>
                <a:lnTo>
                  <a:pt x="9434073" y="163746"/>
                </a:lnTo>
                <a:lnTo>
                  <a:pt x="9447627" y="150202"/>
                </a:lnTo>
                <a:lnTo>
                  <a:pt x="9461182" y="141962"/>
                </a:lnTo>
                <a:lnTo>
                  <a:pt x="9474737" y="138851"/>
                </a:lnTo>
                <a:lnTo>
                  <a:pt x="9488291" y="137938"/>
                </a:lnTo>
                <a:lnTo>
                  <a:pt x="9501846" y="137836"/>
                </a:lnTo>
                <a:lnTo>
                  <a:pt x="9515401" y="127317"/>
                </a:lnTo>
                <a:lnTo>
                  <a:pt x="9528956" y="127541"/>
                </a:lnTo>
                <a:lnTo>
                  <a:pt x="9542510" y="122025"/>
                </a:lnTo>
                <a:lnTo>
                  <a:pt x="9556065" y="127765"/>
                </a:lnTo>
                <a:lnTo>
                  <a:pt x="9569620" y="122031"/>
                </a:lnTo>
                <a:lnTo>
                  <a:pt x="9583174" y="117671"/>
                </a:lnTo>
                <a:lnTo>
                  <a:pt x="9596729" y="112710"/>
                </a:lnTo>
                <a:lnTo>
                  <a:pt x="9610284" y="111906"/>
                </a:lnTo>
                <a:lnTo>
                  <a:pt x="9623838" y="106659"/>
                </a:lnTo>
                <a:lnTo>
                  <a:pt x="9637393" y="109274"/>
                </a:lnTo>
                <a:lnTo>
                  <a:pt x="9650948" y="103009"/>
                </a:lnTo>
                <a:lnTo>
                  <a:pt x="9664503" y="102857"/>
                </a:lnTo>
                <a:lnTo>
                  <a:pt x="9678057" y="97059"/>
                </a:lnTo>
                <a:lnTo>
                  <a:pt x="9691612" y="96741"/>
                </a:lnTo>
                <a:lnTo>
                  <a:pt x="9705167" y="94888"/>
                </a:lnTo>
                <a:lnTo>
                  <a:pt x="9718721" y="94531"/>
                </a:lnTo>
                <a:lnTo>
                  <a:pt x="9732276" y="97695"/>
                </a:lnTo>
                <a:lnTo>
                  <a:pt x="9745831" y="105965"/>
                </a:lnTo>
                <a:lnTo>
                  <a:pt x="9759386" y="102978"/>
                </a:lnTo>
                <a:lnTo>
                  <a:pt x="9772940" y="106089"/>
                </a:lnTo>
                <a:lnTo>
                  <a:pt x="9786495" y="95855"/>
                </a:lnTo>
                <a:lnTo>
                  <a:pt x="9800050" y="88419"/>
                </a:lnTo>
                <a:lnTo>
                  <a:pt x="9813604" y="88390"/>
                </a:lnTo>
                <a:lnTo>
                  <a:pt x="9827159" y="92632"/>
                </a:lnTo>
                <a:lnTo>
                  <a:pt x="9840714" y="85584"/>
                </a:lnTo>
                <a:lnTo>
                  <a:pt x="9854268" y="81113"/>
                </a:lnTo>
                <a:lnTo>
                  <a:pt x="9867823" y="78945"/>
                </a:lnTo>
                <a:lnTo>
                  <a:pt x="9881378" y="79110"/>
                </a:lnTo>
                <a:lnTo>
                  <a:pt x="9894933" y="72890"/>
                </a:lnTo>
                <a:lnTo>
                  <a:pt x="9908487" y="69429"/>
                </a:lnTo>
                <a:lnTo>
                  <a:pt x="9922042" y="73240"/>
                </a:lnTo>
                <a:lnTo>
                  <a:pt x="9935597" y="78803"/>
                </a:lnTo>
                <a:lnTo>
                  <a:pt x="9949151" y="94746"/>
                </a:lnTo>
                <a:lnTo>
                  <a:pt x="9962706" y="85394"/>
                </a:lnTo>
                <a:lnTo>
                  <a:pt x="9976261" y="70488"/>
                </a:lnTo>
                <a:lnTo>
                  <a:pt x="9989815" y="69837"/>
                </a:lnTo>
                <a:lnTo>
                  <a:pt x="10003370" y="74676"/>
                </a:lnTo>
                <a:lnTo>
                  <a:pt x="10016925" y="76524"/>
                </a:lnTo>
                <a:lnTo>
                  <a:pt x="10030480" y="68582"/>
                </a:lnTo>
                <a:lnTo>
                  <a:pt x="10044034" y="63150"/>
                </a:lnTo>
                <a:lnTo>
                  <a:pt x="10057589" y="64603"/>
                </a:lnTo>
                <a:lnTo>
                  <a:pt x="10071144" y="62139"/>
                </a:lnTo>
                <a:lnTo>
                  <a:pt x="10084698" y="58594"/>
                </a:lnTo>
                <a:lnTo>
                  <a:pt x="10098253" y="56712"/>
                </a:lnTo>
                <a:lnTo>
                  <a:pt x="10111808" y="57535"/>
                </a:lnTo>
                <a:lnTo>
                  <a:pt x="10125362" y="60241"/>
                </a:lnTo>
                <a:lnTo>
                  <a:pt x="10138917" y="49597"/>
                </a:lnTo>
                <a:lnTo>
                  <a:pt x="10152472" y="53035"/>
                </a:lnTo>
                <a:lnTo>
                  <a:pt x="10166027" y="47661"/>
                </a:lnTo>
                <a:lnTo>
                  <a:pt x="10179581" y="44074"/>
                </a:lnTo>
                <a:lnTo>
                  <a:pt x="10193136" y="44176"/>
                </a:lnTo>
                <a:lnTo>
                  <a:pt x="10206691" y="55148"/>
                </a:lnTo>
                <a:lnTo>
                  <a:pt x="10220245" y="46268"/>
                </a:lnTo>
                <a:lnTo>
                  <a:pt x="10233800" y="51133"/>
                </a:lnTo>
                <a:lnTo>
                  <a:pt x="10247355" y="56698"/>
                </a:lnTo>
                <a:lnTo>
                  <a:pt x="10260909" y="45390"/>
                </a:lnTo>
                <a:lnTo>
                  <a:pt x="10274464" y="44637"/>
                </a:lnTo>
                <a:lnTo>
                  <a:pt x="10288019" y="46041"/>
                </a:lnTo>
                <a:lnTo>
                  <a:pt x="10301574" y="44233"/>
                </a:lnTo>
                <a:lnTo>
                  <a:pt x="10315128" y="40366"/>
                </a:lnTo>
                <a:lnTo>
                  <a:pt x="10328683" y="49783"/>
                </a:lnTo>
                <a:lnTo>
                  <a:pt x="10342238" y="55812"/>
                </a:lnTo>
                <a:lnTo>
                  <a:pt x="10355792" y="68912"/>
                </a:lnTo>
                <a:lnTo>
                  <a:pt x="10369347" y="64376"/>
                </a:lnTo>
                <a:lnTo>
                  <a:pt x="10382902" y="62652"/>
                </a:lnTo>
                <a:lnTo>
                  <a:pt x="10396457" y="64873"/>
                </a:lnTo>
                <a:lnTo>
                  <a:pt x="10410011" y="73706"/>
                </a:lnTo>
                <a:lnTo>
                  <a:pt x="10423566" y="86923"/>
                </a:lnTo>
                <a:lnTo>
                  <a:pt x="10437121" y="74795"/>
                </a:lnTo>
                <a:lnTo>
                  <a:pt x="10450675" y="68204"/>
                </a:lnTo>
                <a:lnTo>
                  <a:pt x="10464230" y="64578"/>
                </a:lnTo>
                <a:lnTo>
                  <a:pt x="10477785" y="50984"/>
                </a:lnTo>
                <a:lnTo>
                  <a:pt x="10491339" y="54867"/>
                </a:lnTo>
                <a:lnTo>
                  <a:pt x="10504894" y="51545"/>
                </a:lnTo>
                <a:lnTo>
                  <a:pt x="10518449" y="46472"/>
                </a:lnTo>
                <a:lnTo>
                  <a:pt x="10532004" y="47578"/>
                </a:lnTo>
                <a:lnTo>
                  <a:pt x="10545558" y="45039"/>
                </a:lnTo>
                <a:lnTo>
                  <a:pt x="10559113" y="36053"/>
                </a:lnTo>
                <a:lnTo>
                  <a:pt x="10572668" y="34809"/>
                </a:lnTo>
                <a:lnTo>
                  <a:pt x="10586222" y="33913"/>
                </a:lnTo>
                <a:lnTo>
                  <a:pt x="10599777" y="30592"/>
                </a:lnTo>
                <a:lnTo>
                  <a:pt x="10613332" y="27461"/>
                </a:lnTo>
                <a:lnTo>
                  <a:pt x="10626886" y="31030"/>
                </a:lnTo>
                <a:lnTo>
                  <a:pt x="10640441" y="23866"/>
                </a:lnTo>
                <a:lnTo>
                  <a:pt x="10653996" y="25255"/>
                </a:lnTo>
                <a:lnTo>
                  <a:pt x="10667551" y="22680"/>
                </a:lnTo>
                <a:lnTo>
                  <a:pt x="10681105" y="23362"/>
                </a:lnTo>
                <a:lnTo>
                  <a:pt x="10694660" y="19320"/>
                </a:lnTo>
                <a:lnTo>
                  <a:pt x="10708215" y="16034"/>
                </a:lnTo>
                <a:lnTo>
                  <a:pt x="10721769" y="14279"/>
                </a:lnTo>
                <a:lnTo>
                  <a:pt x="10735324" y="10861"/>
                </a:lnTo>
                <a:lnTo>
                  <a:pt x="10748879" y="8713"/>
                </a:lnTo>
                <a:lnTo>
                  <a:pt x="10762433" y="12381"/>
                </a:lnTo>
                <a:lnTo>
                  <a:pt x="10775988" y="11161"/>
                </a:lnTo>
                <a:lnTo>
                  <a:pt x="10789543" y="2223"/>
                </a:lnTo>
                <a:lnTo>
                  <a:pt x="10803098" y="6667"/>
                </a:lnTo>
                <a:lnTo>
                  <a:pt x="10816652" y="4031"/>
                </a:lnTo>
                <a:lnTo>
                  <a:pt x="10830207" y="13564"/>
                </a:lnTo>
                <a:lnTo>
                  <a:pt x="10843762" y="5710"/>
                </a:lnTo>
                <a:lnTo>
                  <a:pt x="10857316" y="3575"/>
                </a:lnTo>
                <a:lnTo>
                  <a:pt x="10870871" y="1423"/>
                </a:lnTo>
                <a:lnTo>
                  <a:pt x="10884426" y="7174"/>
                </a:lnTo>
                <a:lnTo>
                  <a:pt x="10897980" y="0"/>
                </a:lnTo>
                <a:lnTo>
                  <a:pt x="10911535" y="3780"/>
                </a:lnTo>
              </a:path>
            </a:pathLst>
          </a:custGeom>
          <a:noFill/>
          <a:ln w="22225" cap="rnd">
            <a:solidFill>
              <a:srgbClr val="FFB547">
                <a:alpha val="55000"/>
              </a:srgbClr>
            </a:solidFill>
            <a:round/>
          </a:ln>
          <a:effectLst>
            <a:glow rad="76200">
              <a:srgbClr val="FFB547">
                <a:alpha val="28000"/>
              </a:srgbClr>
            </a:glow>
          </a:effectLst>
        </p:spPr>
        <p:txBody>
          <a:bodyPr rtlCol="0" anchor="ctr"/>
          <a:lstStyle/>
          <a:p>
            <a:pPr algn="ctr"/>
            <a:endParaRPr/>
          </a:p>
        </p:txBody>
      </p:sp>
      <p:sp>
        <p:nvSpPr>
          <p:cNvPr id="17" name="!!dot"/>
          <p:cNvSpPr/>
          <p:nvPr/>
        </p:nvSpPr>
        <p:spPr>
          <a:xfrm>
            <a:off x="11496751" y="5417028"/>
            <a:ext cx="109728" cy="109728"/>
          </a:xfrm>
          <a:prstGeom prst="ellipse">
            <a:avLst/>
          </a:prstGeom>
          <a:solidFill>
            <a:srgbClr val="FFB547">
              <a:alpha val="55000"/>
            </a:srgbClr>
          </a:solidFill>
          <a:ln>
            <a:noFill/>
          </a:ln>
          <a:effectLst>
            <a:glow rad="101600">
              <a:srgbClr val="FFB547">
                <a:alpha val="45000"/>
              </a:srgbClr>
            </a:glow>
          </a:effectLst>
        </p:spPr>
        <p:txBody>
          <a:bodyPr lIns="0" tIns="0" rIns="0" bIns="0" rtlCol="0" anchor="ctr"/>
          <a:lstStyle/>
          <a:p>
            <a:pPr algn="ctr"/>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fill="hold"/>
                                        <p:tgtEl>
                                          <p:spTgt spid="4"/>
                                        </p:tgtEl>
                                        <p:attrNameLst>
                                          <p:attrName>ppt_x</p:attrName>
                                        </p:attrNameLst>
                                      </p:cBhvr>
                                      <p:tavLst>
                                        <p:tav tm="0">
                                          <p:val>
                                            <p:strVal val="#ppt_x"/>
                                          </p:val>
                                        </p:tav>
                                        <p:tav tm="100000">
                                          <p:val>
                                            <p:strVal val="#ppt_x"/>
                                          </p:val>
                                        </p:tav>
                                      </p:tavLst>
                                    </p:anim>
                                    <p:anim calcmode="lin" valueType="num">
                                      <p:cBhvr>
                                        <p:cTn id="9" dur="5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3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50"/>
                                        <p:tgtEl>
                                          <p:spTgt spid="8"/>
                                        </p:tgtEl>
                                      </p:cBhvr>
                                    </p:animEffect>
                                    <p:anim calcmode="lin" valueType="num">
                                      <p:cBhvr>
                                        <p:cTn id="13" dur="550" fill="hold"/>
                                        <p:tgtEl>
                                          <p:spTgt spid="8"/>
                                        </p:tgtEl>
                                        <p:attrNameLst>
                                          <p:attrName>ppt_x</p:attrName>
                                        </p:attrNameLst>
                                      </p:cBhvr>
                                      <p:tavLst>
                                        <p:tav tm="0">
                                          <p:val>
                                            <p:strVal val="#ppt_x"/>
                                          </p:val>
                                        </p:tav>
                                        <p:tav tm="100000">
                                          <p:val>
                                            <p:strVal val="#ppt_x"/>
                                          </p:val>
                                        </p:tav>
                                      </p:tavLst>
                                    </p:anim>
                                    <p:anim calcmode="lin" valueType="num">
                                      <p:cBhvr>
                                        <p:cTn id="14" dur="55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60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50"/>
                                        <p:tgtEl>
                                          <p:spTgt spid="12"/>
                                        </p:tgtEl>
                                      </p:cBhvr>
                                    </p:animEffect>
                                    <p:anim calcmode="lin" valueType="num">
                                      <p:cBhvr>
                                        <p:cTn id="18" dur="550" fill="hold"/>
                                        <p:tgtEl>
                                          <p:spTgt spid="12"/>
                                        </p:tgtEl>
                                        <p:attrNameLst>
                                          <p:attrName>ppt_x</p:attrName>
                                        </p:attrNameLst>
                                      </p:cBhvr>
                                      <p:tavLst>
                                        <p:tav tm="0">
                                          <p:val>
                                            <p:strVal val="#ppt_x"/>
                                          </p:val>
                                        </p:tav>
                                        <p:tav tm="100000">
                                          <p:val>
                                            <p:strVal val="#ppt_x"/>
                                          </p:val>
                                        </p:tav>
                                      </p:tavLst>
                                    </p:anim>
                                    <p:anim calcmode="lin" valueType="num">
                                      <p:cBhvr>
                                        <p:cTn id="19" dur="55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ctrTitle"/>
          </p:nvPr>
        </p:nvSpPr>
        <p:spPr>
          <a:xfrm>
            <a:off x="640080" y="1325880"/>
            <a:ext cx="9144000" cy="1097280"/>
          </a:xfrm>
        </p:spPr>
        <p:txBody>
          <a:bodyPr lIns="0" tIns="0" anchor="t"/>
          <a:lstStyle/>
          <a:p>
            <a:pPr algn="l">
              <a:spcAft>
                <a:spcPts val="0"/>
              </a:spcAft>
            </a:pPr>
            <a:r>
              <a:rPr sz="6600" b="0" i="0">
                <a:solidFill>
                  <a:srgbClr val="EAF0F6"/>
                </a:solidFill>
                <a:latin typeface="Segoe UI Semibold"/>
              </a:rPr>
              <a:t>Thank you</a:t>
            </a:r>
          </a:p>
        </p:txBody>
      </p:sp>
      <p:sp>
        <p:nvSpPr>
          <p:cNvPr id="3" name="subtitle"/>
          <p:cNvSpPr>
            <a:spLocks noGrp="1"/>
          </p:cNvSpPr>
          <p:nvPr>
            <p:ph type="subTitle" idx="1"/>
          </p:nvPr>
        </p:nvSpPr>
        <p:spPr>
          <a:xfrm>
            <a:off x="640080" y="2487168"/>
            <a:ext cx="8686800" cy="548640"/>
          </a:xfrm>
        </p:spPr>
        <p:txBody>
          <a:bodyPr lIns="0" tIns="0"/>
          <a:lstStyle/>
          <a:p>
            <a:pPr algn="l">
              <a:spcAft>
                <a:spcPts val="0"/>
              </a:spcAft>
            </a:pPr>
            <a:r>
              <a:rPr sz="2400" b="0" i="0">
                <a:solidFill>
                  <a:srgbClr val="AAB6C3"/>
                </a:solidFill>
                <a:latin typeface="Segoe UI Light"/>
              </a:rPr>
              <a:t>Questions and discussion</a:t>
            </a:r>
          </a:p>
        </p:txBody>
      </p:sp>
      <p:sp>
        <p:nvSpPr>
          <p:cNvPr id="4" name="info"/>
          <p:cNvSpPr txBox="1"/>
          <p:nvPr/>
        </p:nvSpPr>
        <p:spPr>
          <a:xfrm>
            <a:off x="640080" y="3429000"/>
            <a:ext cx="7315200" cy="914400"/>
          </a:xfrm>
          <a:prstGeom prst="rect">
            <a:avLst/>
          </a:prstGeom>
          <a:noFill/>
        </p:spPr>
        <p:txBody>
          <a:bodyPr wrap="square" lIns="0" tIns="0" rIns="0" bIns="0" anchor="t">
            <a:noAutofit/>
          </a:bodyPr>
          <a:lstStyle/>
          <a:p>
            <a:pPr algn="l">
              <a:spcAft>
                <a:spcPts val="500"/>
              </a:spcAft>
            </a:pPr>
            <a:r>
              <a:rPr sz="1100" b="0" i="0">
                <a:solidFill>
                  <a:srgbClr val="FFB547"/>
                </a:solidFill>
                <a:latin typeface="Consolas"/>
              </a:rPr>
              <a:t>CODE   </a:t>
            </a:r>
            <a:r>
              <a:rPr sz="1300" b="0" i="0">
                <a:solidFill>
                  <a:srgbClr val="EAF0F6"/>
                </a:solidFill>
                <a:latin typeface="Consolas"/>
              </a:rPr>
              <a:t>github.com/KennethMartin06/ml-based-algorithmic-trading-signals</a:t>
            </a:r>
          </a:p>
          <a:p>
            <a:pPr algn="l">
              <a:spcAft>
                <a:spcPts val="500"/>
              </a:spcAft>
            </a:pPr>
            <a:r>
              <a:rPr sz="1100" b="0" i="0">
                <a:solidFill>
                  <a:srgbClr val="FFB547"/>
                </a:solidFill>
                <a:latin typeface="Consolas"/>
              </a:rPr>
              <a:t>DEMO   </a:t>
            </a:r>
            <a:r>
              <a:rPr sz="1300" b="0" i="0">
                <a:solidFill>
                  <a:srgbClr val="EAF0F6"/>
                </a:solidFill>
                <a:latin typeface="Consolas"/>
              </a:rPr>
              <a:t>streamlit run app/streamlit_app.py</a:t>
            </a:r>
          </a:p>
          <a:p>
            <a:pPr algn="l">
              <a:spcAft>
                <a:spcPts val="0"/>
              </a:spcAft>
            </a:pPr>
            <a:r>
              <a:rPr sz="1100" b="0" i="0">
                <a:solidFill>
                  <a:srgbClr val="FFB547"/>
                </a:solidFill>
                <a:latin typeface="Consolas"/>
              </a:rPr>
              <a:t>TEAM   </a:t>
            </a:r>
            <a:r>
              <a:rPr sz="1300" b="0" i="0">
                <a:solidFill>
                  <a:srgbClr val="AAB6C3"/>
                </a:solidFill>
                <a:latin typeface="Segoe UI"/>
              </a:rPr>
              <a:t>Ishan Singh · Kenneth Martin · MIT Manipal</a:t>
            </a:r>
          </a:p>
        </p:txBody>
      </p:sp>
      <p:sp>
        <p:nvSpPr>
          <p:cNvPr id="5" name="!!trace"/>
          <p:cNvSpPr/>
          <p:nvPr/>
        </p:nvSpPr>
        <p:spPr>
          <a:xfrm>
            <a:off x="640080" y="4343400"/>
            <a:ext cx="10911535" cy="1920240"/>
          </a:xfrm>
          <a:custGeom>
            <a:avLst/>
            <a:gdLst/>
            <a:ahLst/>
            <a:cxnLst/>
            <a:rect l="l" t="t" r="r" b="b"/>
            <a:pathLst>
              <a:path w="10911535" h="1920240">
                <a:moveTo>
                  <a:pt x="0" y="1837313"/>
                </a:moveTo>
                <a:lnTo>
                  <a:pt x="13555" y="1826544"/>
                </a:lnTo>
                <a:lnTo>
                  <a:pt x="27109" y="1824017"/>
                </a:lnTo>
                <a:lnTo>
                  <a:pt x="40664" y="1868998"/>
                </a:lnTo>
                <a:lnTo>
                  <a:pt x="54219" y="1860453"/>
                </a:lnTo>
                <a:lnTo>
                  <a:pt x="67774" y="1885934"/>
                </a:lnTo>
                <a:lnTo>
                  <a:pt x="81328" y="1861409"/>
                </a:lnTo>
                <a:lnTo>
                  <a:pt x="94883" y="1856965"/>
                </a:lnTo>
                <a:lnTo>
                  <a:pt x="108438" y="1845325"/>
                </a:lnTo>
                <a:lnTo>
                  <a:pt x="121992" y="1824709"/>
                </a:lnTo>
                <a:lnTo>
                  <a:pt x="135547" y="1808599"/>
                </a:lnTo>
                <a:lnTo>
                  <a:pt x="149102" y="1806945"/>
                </a:lnTo>
                <a:lnTo>
                  <a:pt x="162656" y="1805750"/>
                </a:lnTo>
                <a:lnTo>
                  <a:pt x="176211" y="1792571"/>
                </a:lnTo>
                <a:lnTo>
                  <a:pt x="189766" y="1774157"/>
                </a:lnTo>
                <a:lnTo>
                  <a:pt x="203321" y="1776110"/>
                </a:lnTo>
                <a:lnTo>
                  <a:pt x="216875" y="1777273"/>
                </a:lnTo>
                <a:lnTo>
                  <a:pt x="230430" y="1836734"/>
                </a:lnTo>
                <a:lnTo>
                  <a:pt x="243985" y="1813350"/>
                </a:lnTo>
                <a:lnTo>
                  <a:pt x="257539" y="1879715"/>
                </a:lnTo>
                <a:lnTo>
                  <a:pt x="271094" y="1853830"/>
                </a:lnTo>
                <a:lnTo>
                  <a:pt x="284649" y="1885609"/>
                </a:lnTo>
                <a:lnTo>
                  <a:pt x="298203" y="1862428"/>
                </a:lnTo>
                <a:lnTo>
                  <a:pt x="311758" y="1842020"/>
                </a:lnTo>
                <a:lnTo>
                  <a:pt x="325313" y="1872863"/>
                </a:lnTo>
                <a:lnTo>
                  <a:pt x="338868" y="1920240"/>
                </a:lnTo>
                <a:lnTo>
                  <a:pt x="352422" y="1871567"/>
                </a:lnTo>
                <a:lnTo>
                  <a:pt x="365977" y="1877591"/>
                </a:lnTo>
                <a:lnTo>
                  <a:pt x="379532" y="1843353"/>
                </a:lnTo>
                <a:lnTo>
                  <a:pt x="393086" y="1833968"/>
                </a:lnTo>
                <a:lnTo>
                  <a:pt x="406641" y="1832178"/>
                </a:lnTo>
                <a:lnTo>
                  <a:pt x="420196" y="1869699"/>
                </a:lnTo>
                <a:lnTo>
                  <a:pt x="433750" y="1878988"/>
                </a:lnTo>
                <a:lnTo>
                  <a:pt x="447305" y="1893936"/>
                </a:lnTo>
                <a:lnTo>
                  <a:pt x="460860" y="1858582"/>
                </a:lnTo>
                <a:lnTo>
                  <a:pt x="474415" y="1834825"/>
                </a:lnTo>
                <a:lnTo>
                  <a:pt x="487969" y="1819845"/>
                </a:lnTo>
                <a:lnTo>
                  <a:pt x="501524" y="1814546"/>
                </a:lnTo>
                <a:lnTo>
                  <a:pt x="515079" y="1804127"/>
                </a:lnTo>
                <a:lnTo>
                  <a:pt x="528633" y="1796825"/>
                </a:lnTo>
                <a:lnTo>
                  <a:pt x="542188" y="1798922"/>
                </a:lnTo>
                <a:lnTo>
                  <a:pt x="555743" y="1784091"/>
                </a:lnTo>
                <a:lnTo>
                  <a:pt x="569297" y="1778568"/>
                </a:lnTo>
                <a:lnTo>
                  <a:pt x="582852" y="1762994"/>
                </a:lnTo>
                <a:lnTo>
                  <a:pt x="596407" y="1788246"/>
                </a:lnTo>
                <a:lnTo>
                  <a:pt x="609962" y="1786092"/>
                </a:lnTo>
                <a:lnTo>
                  <a:pt x="623516" y="1767333"/>
                </a:lnTo>
                <a:lnTo>
                  <a:pt x="637071" y="1751025"/>
                </a:lnTo>
                <a:lnTo>
                  <a:pt x="650626" y="1745208"/>
                </a:lnTo>
                <a:lnTo>
                  <a:pt x="664180" y="1728813"/>
                </a:lnTo>
                <a:lnTo>
                  <a:pt x="677735" y="1729232"/>
                </a:lnTo>
                <a:lnTo>
                  <a:pt x="691290" y="1717650"/>
                </a:lnTo>
                <a:lnTo>
                  <a:pt x="704845" y="1710925"/>
                </a:lnTo>
                <a:lnTo>
                  <a:pt x="718399" y="1710925"/>
                </a:lnTo>
                <a:lnTo>
                  <a:pt x="731954" y="1715380"/>
                </a:lnTo>
                <a:lnTo>
                  <a:pt x="745509" y="1692129"/>
                </a:lnTo>
                <a:lnTo>
                  <a:pt x="759063" y="1679117"/>
                </a:lnTo>
                <a:lnTo>
                  <a:pt x="772618" y="1669804"/>
                </a:lnTo>
                <a:lnTo>
                  <a:pt x="786173" y="1678853"/>
                </a:lnTo>
                <a:lnTo>
                  <a:pt x="799727" y="1690257"/>
                </a:lnTo>
                <a:lnTo>
                  <a:pt x="813282" y="1699521"/>
                </a:lnTo>
                <a:lnTo>
                  <a:pt x="826837" y="1697813"/>
                </a:lnTo>
                <a:lnTo>
                  <a:pt x="840392" y="1689463"/>
                </a:lnTo>
                <a:lnTo>
                  <a:pt x="853946" y="1674324"/>
                </a:lnTo>
                <a:lnTo>
                  <a:pt x="867501" y="1679608"/>
                </a:lnTo>
                <a:lnTo>
                  <a:pt x="881056" y="1692285"/>
                </a:lnTo>
                <a:lnTo>
                  <a:pt x="894610" y="1664312"/>
                </a:lnTo>
                <a:lnTo>
                  <a:pt x="908165" y="1658211"/>
                </a:lnTo>
                <a:lnTo>
                  <a:pt x="921720" y="1657310"/>
                </a:lnTo>
                <a:lnTo>
                  <a:pt x="935274" y="1674915"/>
                </a:lnTo>
                <a:lnTo>
                  <a:pt x="948829" y="1682994"/>
                </a:lnTo>
                <a:lnTo>
                  <a:pt x="962384" y="1683524"/>
                </a:lnTo>
                <a:lnTo>
                  <a:pt x="975939" y="1706787"/>
                </a:lnTo>
                <a:lnTo>
                  <a:pt x="989493" y="1716404"/>
                </a:lnTo>
                <a:lnTo>
                  <a:pt x="1003048" y="1700736"/>
                </a:lnTo>
                <a:lnTo>
                  <a:pt x="1016603" y="1686873"/>
                </a:lnTo>
                <a:lnTo>
                  <a:pt x="1030157" y="1656267"/>
                </a:lnTo>
                <a:lnTo>
                  <a:pt x="1043712" y="1685462"/>
                </a:lnTo>
                <a:lnTo>
                  <a:pt x="1057267" y="1661924"/>
                </a:lnTo>
                <a:lnTo>
                  <a:pt x="1070821" y="1690235"/>
                </a:lnTo>
                <a:lnTo>
                  <a:pt x="1084376" y="1760041"/>
                </a:lnTo>
                <a:lnTo>
                  <a:pt x="1097931" y="1781683"/>
                </a:lnTo>
                <a:lnTo>
                  <a:pt x="1111486" y="1803029"/>
                </a:lnTo>
                <a:lnTo>
                  <a:pt x="1125040" y="1789566"/>
                </a:lnTo>
                <a:lnTo>
                  <a:pt x="1138595" y="1755098"/>
                </a:lnTo>
                <a:lnTo>
                  <a:pt x="1152150" y="1792287"/>
                </a:lnTo>
                <a:lnTo>
                  <a:pt x="1165704" y="1746370"/>
                </a:lnTo>
                <a:lnTo>
                  <a:pt x="1179259" y="1805962"/>
                </a:lnTo>
                <a:lnTo>
                  <a:pt x="1192814" y="1808981"/>
                </a:lnTo>
                <a:lnTo>
                  <a:pt x="1206368" y="1789350"/>
                </a:lnTo>
                <a:lnTo>
                  <a:pt x="1219923" y="1738825"/>
                </a:lnTo>
                <a:lnTo>
                  <a:pt x="1233478" y="1728860"/>
                </a:lnTo>
                <a:lnTo>
                  <a:pt x="1247033" y="1696691"/>
                </a:lnTo>
                <a:lnTo>
                  <a:pt x="1260587" y="1718232"/>
                </a:lnTo>
                <a:lnTo>
                  <a:pt x="1274142" y="1710021"/>
                </a:lnTo>
                <a:lnTo>
                  <a:pt x="1287697" y="1743054"/>
                </a:lnTo>
                <a:lnTo>
                  <a:pt x="1301251" y="1759535"/>
                </a:lnTo>
                <a:lnTo>
                  <a:pt x="1314806" y="1713077"/>
                </a:lnTo>
                <a:lnTo>
                  <a:pt x="1328361" y="1727163"/>
                </a:lnTo>
                <a:lnTo>
                  <a:pt x="1341916" y="1749746"/>
                </a:lnTo>
                <a:lnTo>
                  <a:pt x="1355470" y="1705653"/>
                </a:lnTo>
                <a:lnTo>
                  <a:pt x="1369025" y="1697304"/>
                </a:lnTo>
                <a:lnTo>
                  <a:pt x="1382580" y="1687058"/>
                </a:lnTo>
                <a:lnTo>
                  <a:pt x="1396134" y="1671843"/>
                </a:lnTo>
                <a:lnTo>
                  <a:pt x="1409689" y="1669043"/>
                </a:lnTo>
                <a:lnTo>
                  <a:pt x="1423244" y="1663736"/>
                </a:lnTo>
                <a:lnTo>
                  <a:pt x="1436798" y="1646197"/>
                </a:lnTo>
                <a:lnTo>
                  <a:pt x="1450353" y="1641735"/>
                </a:lnTo>
                <a:lnTo>
                  <a:pt x="1463908" y="1636073"/>
                </a:lnTo>
                <a:lnTo>
                  <a:pt x="1477463" y="1633642"/>
                </a:lnTo>
                <a:lnTo>
                  <a:pt x="1491017" y="1631982"/>
                </a:lnTo>
                <a:lnTo>
                  <a:pt x="1504572" y="1610908"/>
                </a:lnTo>
                <a:lnTo>
                  <a:pt x="1518127" y="1614985"/>
                </a:lnTo>
                <a:lnTo>
                  <a:pt x="1531681" y="1607722"/>
                </a:lnTo>
                <a:lnTo>
                  <a:pt x="1545236" y="1624013"/>
                </a:lnTo>
                <a:lnTo>
                  <a:pt x="1558791" y="1631468"/>
                </a:lnTo>
                <a:lnTo>
                  <a:pt x="1572345" y="1633135"/>
                </a:lnTo>
                <a:lnTo>
                  <a:pt x="1585900" y="1613603"/>
                </a:lnTo>
                <a:lnTo>
                  <a:pt x="1599455" y="1631149"/>
                </a:lnTo>
                <a:lnTo>
                  <a:pt x="1613010" y="1650498"/>
                </a:lnTo>
                <a:lnTo>
                  <a:pt x="1626564" y="1664608"/>
                </a:lnTo>
                <a:lnTo>
                  <a:pt x="1640119" y="1653182"/>
                </a:lnTo>
                <a:lnTo>
                  <a:pt x="1653674" y="1684106"/>
                </a:lnTo>
                <a:lnTo>
                  <a:pt x="1667228" y="1658318"/>
                </a:lnTo>
                <a:lnTo>
                  <a:pt x="1680783" y="1635620"/>
                </a:lnTo>
                <a:lnTo>
                  <a:pt x="1694338" y="1660008"/>
                </a:lnTo>
                <a:lnTo>
                  <a:pt x="1707892" y="1624632"/>
                </a:lnTo>
                <a:lnTo>
                  <a:pt x="1721447" y="1645633"/>
                </a:lnTo>
                <a:lnTo>
                  <a:pt x="1735002" y="1624894"/>
                </a:lnTo>
                <a:lnTo>
                  <a:pt x="1748557" y="1646945"/>
                </a:lnTo>
                <a:lnTo>
                  <a:pt x="1762111" y="1623490"/>
                </a:lnTo>
                <a:lnTo>
                  <a:pt x="1775666" y="1605186"/>
                </a:lnTo>
                <a:lnTo>
                  <a:pt x="1789221" y="1602316"/>
                </a:lnTo>
                <a:lnTo>
                  <a:pt x="1802775" y="1596922"/>
                </a:lnTo>
                <a:lnTo>
                  <a:pt x="1816330" y="1598839"/>
                </a:lnTo>
                <a:lnTo>
                  <a:pt x="1829885" y="1584937"/>
                </a:lnTo>
                <a:lnTo>
                  <a:pt x="1843439" y="1567896"/>
                </a:lnTo>
                <a:lnTo>
                  <a:pt x="1856994" y="1567180"/>
                </a:lnTo>
                <a:lnTo>
                  <a:pt x="1870549" y="1574972"/>
                </a:lnTo>
                <a:lnTo>
                  <a:pt x="1884104" y="1565981"/>
                </a:lnTo>
                <a:lnTo>
                  <a:pt x="1897658" y="1582775"/>
                </a:lnTo>
                <a:lnTo>
                  <a:pt x="1911213" y="1567845"/>
                </a:lnTo>
                <a:lnTo>
                  <a:pt x="1924768" y="1594664"/>
                </a:lnTo>
                <a:lnTo>
                  <a:pt x="1938322" y="1592066"/>
                </a:lnTo>
                <a:lnTo>
                  <a:pt x="1951877" y="1614488"/>
                </a:lnTo>
                <a:lnTo>
                  <a:pt x="1965432" y="1609053"/>
                </a:lnTo>
                <a:lnTo>
                  <a:pt x="1978987" y="1601517"/>
                </a:lnTo>
                <a:lnTo>
                  <a:pt x="1992541" y="1595782"/>
                </a:lnTo>
                <a:lnTo>
                  <a:pt x="2006096" y="1582283"/>
                </a:lnTo>
                <a:lnTo>
                  <a:pt x="2019651" y="1570559"/>
                </a:lnTo>
                <a:lnTo>
                  <a:pt x="2033205" y="1586485"/>
                </a:lnTo>
                <a:lnTo>
                  <a:pt x="2046760" y="1562184"/>
                </a:lnTo>
                <a:lnTo>
                  <a:pt x="2060315" y="1554097"/>
                </a:lnTo>
                <a:lnTo>
                  <a:pt x="2073869" y="1548626"/>
                </a:lnTo>
                <a:lnTo>
                  <a:pt x="2087424" y="1535392"/>
                </a:lnTo>
                <a:lnTo>
                  <a:pt x="2100979" y="1529627"/>
                </a:lnTo>
                <a:lnTo>
                  <a:pt x="2114534" y="1526383"/>
                </a:lnTo>
                <a:lnTo>
                  <a:pt x="2128088" y="1524594"/>
                </a:lnTo>
                <a:lnTo>
                  <a:pt x="2141643" y="1542717"/>
                </a:lnTo>
                <a:lnTo>
                  <a:pt x="2155198" y="1519932"/>
                </a:lnTo>
                <a:lnTo>
                  <a:pt x="2168752" y="1502268"/>
                </a:lnTo>
                <a:lnTo>
                  <a:pt x="2182307" y="1504355"/>
                </a:lnTo>
                <a:lnTo>
                  <a:pt x="2195862" y="1504469"/>
                </a:lnTo>
                <a:lnTo>
                  <a:pt x="2209416" y="1493948"/>
                </a:lnTo>
                <a:lnTo>
                  <a:pt x="2222971" y="1494339"/>
                </a:lnTo>
                <a:lnTo>
                  <a:pt x="2236526" y="1490650"/>
                </a:lnTo>
                <a:lnTo>
                  <a:pt x="2250081" y="1488590"/>
                </a:lnTo>
                <a:lnTo>
                  <a:pt x="2263635" y="1478087"/>
                </a:lnTo>
                <a:lnTo>
                  <a:pt x="2277190" y="1462188"/>
                </a:lnTo>
                <a:lnTo>
                  <a:pt x="2290745" y="1448113"/>
                </a:lnTo>
                <a:lnTo>
                  <a:pt x="2304299" y="1437870"/>
                </a:lnTo>
                <a:lnTo>
                  <a:pt x="2317854" y="1448169"/>
                </a:lnTo>
                <a:lnTo>
                  <a:pt x="2331409" y="1469398"/>
                </a:lnTo>
                <a:lnTo>
                  <a:pt x="2344963" y="1466788"/>
                </a:lnTo>
                <a:lnTo>
                  <a:pt x="2358518" y="1457617"/>
                </a:lnTo>
                <a:lnTo>
                  <a:pt x="2372073" y="1470933"/>
                </a:lnTo>
                <a:lnTo>
                  <a:pt x="2385628" y="1464715"/>
                </a:lnTo>
                <a:lnTo>
                  <a:pt x="2399182" y="1431825"/>
                </a:lnTo>
                <a:lnTo>
                  <a:pt x="2412737" y="1424363"/>
                </a:lnTo>
                <a:lnTo>
                  <a:pt x="2426292" y="1424056"/>
                </a:lnTo>
                <a:lnTo>
                  <a:pt x="2439846" y="1415113"/>
                </a:lnTo>
                <a:lnTo>
                  <a:pt x="2453401" y="1419549"/>
                </a:lnTo>
                <a:lnTo>
                  <a:pt x="2466956" y="1437397"/>
                </a:lnTo>
                <a:lnTo>
                  <a:pt x="2480510" y="1439090"/>
                </a:lnTo>
                <a:lnTo>
                  <a:pt x="2494065" y="1449127"/>
                </a:lnTo>
                <a:lnTo>
                  <a:pt x="2507620" y="1439195"/>
                </a:lnTo>
                <a:lnTo>
                  <a:pt x="2521175" y="1421977"/>
                </a:lnTo>
                <a:lnTo>
                  <a:pt x="2534729" y="1410538"/>
                </a:lnTo>
                <a:lnTo>
                  <a:pt x="2548284" y="1419892"/>
                </a:lnTo>
                <a:lnTo>
                  <a:pt x="2561839" y="1419996"/>
                </a:lnTo>
                <a:lnTo>
                  <a:pt x="2575393" y="1412909"/>
                </a:lnTo>
                <a:lnTo>
                  <a:pt x="2588948" y="1391880"/>
                </a:lnTo>
                <a:lnTo>
                  <a:pt x="2602503" y="1384068"/>
                </a:lnTo>
                <a:lnTo>
                  <a:pt x="2616058" y="1382771"/>
                </a:lnTo>
                <a:lnTo>
                  <a:pt x="2629612" y="1377410"/>
                </a:lnTo>
                <a:lnTo>
                  <a:pt x="2643167" y="1363854"/>
                </a:lnTo>
                <a:lnTo>
                  <a:pt x="2656722" y="1360159"/>
                </a:lnTo>
                <a:lnTo>
                  <a:pt x="2670276" y="1361520"/>
                </a:lnTo>
                <a:lnTo>
                  <a:pt x="2683831" y="1357301"/>
                </a:lnTo>
                <a:lnTo>
                  <a:pt x="2697386" y="1367909"/>
                </a:lnTo>
                <a:lnTo>
                  <a:pt x="2710940" y="1347106"/>
                </a:lnTo>
                <a:lnTo>
                  <a:pt x="2724495" y="1336780"/>
                </a:lnTo>
                <a:lnTo>
                  <a:pt x="2738050" y="1342357"/>
                </a:lnTo>
                <a:lnTo>
                  <a:pt x="2751605" y="1336924"/>
                </a:lnTo>
                <a:lnTo>
                  <a:pt x="2765159" y="1345858"/>
                </a:lnTo>
                <a:lnTo>
                  <a:pt x="2778714" y="1363113"/>
                </a:lnTo>
                <a:lnTo>
                  <a:pt x="2792269" y="1371720"/>
                </a:lnTo>
                <a:lnTo>
                  <a:pt x="2805823" y="1344801"/>
                </a:lnTo>
                <a:lnTo>
                  <a:pt x="2819378" y="1340592"/>
                </a:lnTo>
                <a:lnTo>
                  <a:pt x="2832933" y="1329216"/>
                </a:lnTo>
                <a:lnTo>
                  <a:pt x="2846487" y="1319987"/>
                </a:lnTo>
                <a:lnTo>
                  <a:pt x="2860042" y="1336924"/>
                </a:lnTo>
                <a:lnTo>
                  <a:pt x="2873597" y="1325776"/>
                </a:lnTo>
                <a:lnTo>
                  <a:pt x="2887152" y="1329127"/>
                </a:lnTo>
                <a:lnTo>
                  <a:pt x="2900706" y="1324831"/>
                </a:lnTo>
                <a:lnTo>
                  <a:pt x="2914261" y="1348156"/>
                </a:lnTo>
                <a:lnTo>
                  <a:pt x="2927816" y="1321828"/>
                </a:lnTo>
                <a:lnTo>
                  <a:pt x="2941370" y="1322579"/>
                </a:lnTo>
                <a:lnTo>
                  <a:pt x="2954925" y="1315377"/>
                </a:lnTo>
                <a:lnTo>
                  <a:pt x="2968480" y="1309022"/>
                </a:lnTo>
                <a:lnTo>
                  <a:pt x="2982034" y="1313888"/>
                </a:lnTo>
                <a:lnTo>
                  <a:pt x="2995589" y="1301058"/>
                </a:lnTo>
                <a:lnTo>
                  <a:pt x="3009144" y="1295216"/>
                </a:lnTo>
                <a:lnTo>
                  <a:pt x="3022699" y="1282566"/>
                </a:lnTo>
                <a:lnTo>
                  <a:pt x="3036253" y="1286028"/>
                </a:lnTo>
                <a:lnTo>
                  <a:pt x="3049808" y="1282417"/>
                </a:lnTo>
                <a:lnTo>
                  <a:pt x="3063363" y="1271982"/>
                </a:lnTo>
                <a:lnTo>
                  <a:pt x="3076917" y="1271582"/>
                </a:lnTo>
                <a:lnTo>
                  <a:pt x="3090472" y="1267847"/>
                </a:lnTo>
                <a:lnTo>
                  <a:pt x="3104027" y="1264840"/>
                </a:lnTo>
                <a:lnTo>
                  <a:pt x="3117581" y="1272203"/>
                </a:lnTo>
                <a:lnTo>
                  <a:pt x="3131136" y="1294351"/>
                </a:lnTo>
                <a:lnTo>
                  <a:pt x="3144691" y="1281788"/>
                </a:lnTo>
                <a:lnTo>
                  <a:pt x="3158246" y="1263603"/>
                </a:lnTo>
                <a:lnTo>
                  <a:pt x="3171800" y="1257760"/>
                </a:lnTo>
                <a:lnTo>
                  <a:pt x="3185355" y="1257932"/>
                </a:lnTo>
                <a:lnTo>
                  <a:pt x="3198910" y="1257537"/>
                </a:lnTo>
                <a:lnTo>
                  <a:pt x="3212464" y="1250907"/>
                </a:lnTo>
                <a:lnTo>
                  <a:pt x="3226019" y="1270965"/>
                </a:lnTo>
                <a:lnTo>
                  <a:pt x="3239574" y="1279769"/>
                </a:lnTo>
                <a:lnTo>
                  <a:pt x="3253129" y="1287203"/>
                </a:lnTo>
                <a:lnTo>
                  <a:pt x="3266683" y="1317160"/>
                </a:lnTo>
                <a:lnTo>
                  <a:pt x="3280238" y="1277291"/>
                </a:lnTo>
                <a:lnTo>
                  <a:pt x="3293793" y="1257488"/>
                </a:lnTo>
                <a:lnTo>
                  <a:pt x="3307347" y="1241052"/>
                </a:lnTo>
                <a:lnTo>
                  <a:pt x="3320902" y="1236572"/>
                </a:lnTo>
                <a:lnTo>
                  <a:pt x="3334457" y="1230620"/>
                </a:lnTo>
                <a:lnTo>
                  <a:pt x="3348011" y="1223731"/>
                </a:lnTo>
                <a:lnTo>
                  <a:pt x="3361566" y="1220350"/>
                </a:lnTo>
                <a:lnTo>
                  <a:pt x="3375121" y="1250866"/>
                </a:lnTo>
                <a:lnTo>
                  <a:pt x="3388676" y="1221789"/>
                </a:lnTo>
                <a:lnTo>
                  <a:pt x="3402230" y="1212490"/>
                </a:lnTo>
                <a:lnTo>
                  <a:pt x="3415785" y="1250722"/>
                </a:lnTo>
                <a:lnTo>
                  <a:pt x="3429340" y="1240856"/>
                </a:lnTo>
                <a:lnTo>
                  <a:pt x="3442894" y="1236523"/>
                </a:lnTo>
                <a:lnTo>
                  <a:pt x="3456449" y="1249321"/>
                </a:lnTo>
                <a:lnTo>
                  <a:pt x="3470004" y="1232300"/>
                </a:lnTo>
                <a:lnTo>
                  <a:pt x="3483558" y="1220046"/>
                </a:lnTo>
                <a:lnTo>
                  <a:pt x="3497113" y="1207212"/>
                </a:lnTo>
                <a:lnTo>
                  <a:pt x="3510668" y="1201379"/>
                </a:lnTo>
                <a:lnTo>
                  <a:pt x="3524223" y="1205208"/>
                </a:lnTo>
                <a:lnTo>
                  <a:pt x="3537777" y="1219326"/>
                </a:lnTo>
                <a:lnTo>
                  <a:pt x="3551332" y="1209217"/>
                </a:lnTo>
                <a:lnTo>
                  <a:pt x="3564887" y="1223208"/>
                </a:lnTo>
                <a:lnTo>
                  <a:pt x="3578441" y="1218220"/>
                </a:lnTo>
                <a:lnTo>
                  <a:pt x="3591996" y="1203055"/>
                </a:lnTo>
                <a:lnTo>
                  <a:pt x="3605551" y="1211828"/>
                </a:lnTo>
                <a:lnTo>
                  <a:pt x="3619105" y="1196353"/>
                </a:lnTo>
                <a:lnTo>
                  <a:pt x="3632660" y="1200215"/>
                </a:lnTo>
                <a:lnTo>
                  <a:pt x="3646215" y="1196480"/>
                </a:lnTo>
                <a:lnTo>
                  <a:pt x="3659770" y="1193084"/>
                </a:lnTo>
                <a:lnTo>
                  <a:pt x="3673324" y="1190818"/>
                </a:lnTo>
                <a:lnTo>
                  <a:pt x="3686879" y="1196682"/>
                </a:lnTo>
                <a:lnTo>
                  <a:pt x="3700434" y="1209594"/>
                </a:lnTo>
                <a:lnTo>
                  <a:pt x="3713988" y="1206947"/>
                </a:lnTo>
                <a:lnTo>
                  <a:pt x="3727543" y="1191103"/>
                </a:lnTo>
                <a:lnTo>
                  <a:pt x="3741098" y="1218307"/>
                </a:lnTo>
                <a:lnTo>
                  <a:pt x="3754652" y="1207272"/>
                </a:lnTo>
                <a:lnTo>
                  <a:pt x="3768207" y="1196125"/>
                </a:lnTo>
                <a:lnTo>
                  <a:pt x="3781762" y="1191683"/>
                </a:lnTo>
                <a:lnTo>
                  <a:pt x="3795317" y="1201766"/>
                </a:lnTo>
                <a:lnTo>
                  <a:pt x="3808871" y="1201557"/>
                </a:lnTo>
                <a:lnTo>
                  <a:pt x="3822426" y="1204538"/>
                </a:lnTo>
                <a:lnTo>
                  <a:pt x="3835981" y="1199044"/>
                </a:lnTo>
                <a:lnTo>
                  <a:pt x="3849535" y="1299469"/>
                </a:lnTo>
                <a:lnTo>
                  <a:pt x="3863090" y="1278636"/>
                </a:lnTo>
                <a:lnTo>
                  <a:pt x="3876645" y="1264927"/>
                </a:lnTo>
                <a:lnTo>
                  <a:pt x="3890200" y="1240980"/>
                </a:lnTo>
                <a:lnTo>
                  <a:pt x="3903754" y="1265754"/>
                </a:lnTo>
                <a:lnTo>
                  <a:pt x="3917309" y="1274727"/>
                </a:lnTo>
                <a:lnTo>
                  <a:pt x="3930864" y="1239812"/>
                </a:lnTo>
                <a:lnTo>
                  <a:pt x="3944418" y="1240340"/>
                </a:lnTo>
                <a:lnTo>
                  <a:pt x="3957973" y="1229140"/>
                </a:lnTo>
                <a:lnTo>
                  <a:pt x="3971528" y="1198811"/>
                </a:lnTo>
                <a:lnTo>
                  <a:pt x="3985082" y="1192911"/>
                </a:lnTo>
                <a:lnTo>
                  <a:pt x="3998637" y="1203907"/>
                </a:lnTo>
                <a:lnTo>
                  <a:pt x="4012192" y="1199736"/>
                </a:lnTo>
                <a:lnTo>
                  <a:pt x="4025747" y="1197258"/>
                </a:lnTo>
                <a:lnTo>
                  <a:pt x="4039301" y="1212947"/>
                </a:lnTo>
                <a:lnTo>
                  <a:pt x="4052856" y="1211841"/>
                </a:lnTo>
                <a:lnTo>
                  <a:pt x="4066411" y="1216156"/>
                </a:lnTo>
                <a:lnTo>
                  <a:pt x="4079965" y="1207443"/>
                </a:lnTo>
                <a:lnTo>
                  <a:pt x="4093520" y="1227550"/>
                </a:lnTo>
                <a:lnTo>
                  <a:pt x="4107075" y="1267324"/>
                </a:lnTo>
                <a:lnTo>
                  <a:pt x="4120629" y="1286018"/>
                </a:lnTo>
                <a:lnTo>
                  <a:pt x="4134184" y="1276091"/>
                </a:lnTo>
                <a:lnTo>
                  <a:pt x="4147739" y="1276276"/>
                </a:lnTo>
                <a:lnTo>
                  <a:pt x="4161294" y="1298377"/>
                </a:lnTo>
                <a:lnTo>
                  <a:pt x="4174848" y="1263817"/>
                </a:lnTo>
                <a:lnTo>
                  <a:pt x="4188403" y="1262363"/>
                </a:lnTo>
                <a:lnTo>
                  <a:pt x="4201958" y="1236413"/>
                </a:lnTo>
                <a:lnTo>
                  <a:pt x="4215512" y="1234738"/>
                </a:lnTo>
                <a:lnTo>
                  <a:pt x="4229067" y="1217484"/>
                </a:lnTo>
                <a:lnTo>
                  <a:pt x="4242622" y="1213528"/>
                </a:lnTo>
                <a:lnTo>
                  <a:pt x="4256176" y="1203613"/>
                </a:lnTo>
                <a:lnTo>
                  <a:pt x="4269731" y="1210341"/>
                </a:lnTo>
                <a:lnTo>
                  <a:pt x="4283286" y="1193046"/>
                </a:lnTo>
                <a:lnTo>
                  <a:pt x="4296841" y="1189006"/>
                </a:lnTo>
                <a:lnTo>
                  <a:pt x="4310395" y="1195411"/>
                </a:lnTo>
                <a:lnTo>
                  <a:pt x="4323950" y="1205964"/>
                </a:lnTo>
                <a:lnTo>
                  <a:pt x="4337505" y="1199184"/>
                </a:lnTo>
                <a:lnTo>
                  <a:pt x="4351059" y="1209268"/>
                </a:lnTo>
                <a:lnTo>
                  <a:pt x="4364614" y="1187457"/>
                </a:lnTo>
                <a:lnTo>
                  <a:pt x="4378169" y="1183525"/>
                </a:lnTo>
                <a:lnTo>
                  <a:pt x="4391723" y="1184400"/>
                </a:lnTo>
                <a:lnTo>
                  <a:pt x="4405278" y="1194803"/>
                </a:lnTo>
                <a:lnTo>
                  <a:pt x="4418833" y="1208848"/>
                </a:lnTo>
                <a:lnTo>
                  <a:pt x="4432388" y="1180478"/>
                </a:lnTo>
                <a:lnTo>
                  <a:pt x="4445942" y="1166052"/>
                </a:lnTo>
                <a:lnTo>
                  <a:pt x="4459497" y="1153765"/>
                </a:lnTo>
                <a:lnTo>
                  <a:pt x="4473052" y="1152791"/>
                </a:lnTo>
                <a:lnTo>
                  <a:pt x="4486606" y="1151618"/>
                </a:lnTo>
                <a:lnTo>
                  <a:pt x="4500161" y="1147140"/>
                </a:lnTo>
                <a:lnTo>
                  <a:pt x="4513716" y="1142963"/>
                </a:lnTo>
                <a:lnTo>
                  <a:pt x="4527271" y="1145209"/>
                </a:lnTo>
                <a:lnTo>
                  <a:pt x="4540825" y="1145895"/>
                </a:lnTo>
                <a:lnTo>
                  <a:pt x="4554380" y="1143206"/>
                </a:lnTo>
                <a:lnTo>
                  <a:pt x="4567935" y="1166750"/>
                </a:lnTo>
                <a:lnTo>
                  <a:pt x="4581489" y="1161548"/>
                </a:lnTo>
                <a:lnTo>
                  <a:pt x="4595044" y="1152755"/>
                </a:lnTo>
                <a:lnTo>
                  <a:pt x="4608599" y="1156386"/>
                </a:lnTo>
                <a:lnTo>
                  <a:pt x="4622153" y="1161508"/>
                </a:lnTo>
                <a:lnTo>
                  <a:pt x="4635708" y="1160359"/>
                </a:lnTo>
                <a:lnTo>
                  <a:pt x="4649263" y="1158471"/>
                </a:lnTo>
                <a:lnTo>
                  <a:pt x="4662818" y="1171514"/>
                </a:lnTo>
                <a:lnTo>
                  <a:pt x="4676372" y="1158718"/>
                </a:lnTo>
                <a:lnTo>
                  <a:pt x="4689927" y="1141795"/>
                </a:lnTo>
                <a:lnTo>
                  <a:pt x="4703482" y="1132599"/>
                </a:lnTo>
                <a:lnTo>
                  <a:pt x="4717036" y="1133393"/>
                </a:lnTo>
                <a:lnTo>
                  <a:pt x="4730591" y="1116750"/>
                </a:lnTo>
                <a:lnTo>
                  <a:pt x="4744146" y="1111767"/>
                </a:lnTo>
                <a:lnTo>
                  <a:pt x="4757700" y="1107037"/>
                </a:lnTo>
                <a:lnTo>
                  <a:pt x="4771255" y="1112573"/>
                </a:lnTo>
                <a:lnTo>
                  <a:pt x="4784810" y="1101459"/>
                </a:lnTo>
                <a:lnTo>
                  <a:pt x="4798365" y="1102078"/>
                </a:lnTo>
                <a:lnTo>
                  <a:pt x="4811919" y="1105561"/>
                </a:lnTo>
                <a:lnTo>
                  <a:pt x="4825474" y="1100148"/>
                </a:lnTo>
                <a:lnTo>
                  <a:pt x="4839029" y="1094844"/>
                </a:lnTo>
                <a:lnTo>
                  <a:pt x="4852583" y="1080249"/>
                </a:lnTo>
                <a:lnTo>
                  <a:pt x="4866138" y="1066337"/>
                </a:lnTo>
                <a:lnTo>
                  <a:pt x="4879693" y="1066413"/>
                </a:lnTo>
                <a:lnTo>
                  <a:pt x="4893247" y="1064448"/>
                </a:lnTo>
                <a:lnTo>
                  <a:pt x="4906802" y="1064819"/>
                </a:lnTo>
                <a:lnTo>
                  <a:pt x="4920357" y="1072828"/>
                </a:lnTo>
                <a:lnTo>
                  <a:pt x="4933912" y="1066880"/>
                </a:lnTo>
                <a:lnTo>
                  <a:pt x="4947466" y="1066286"/>
                </a:lnTo>
                <a:lnTo>
                  <a:pt x="4961021" y="1067850"/>
                </a:lnTo>
                <a:lnTo>
                  <a:pt x="4974576" y="1073919"/>
                </a:lnTo>
                <a:lnTo>
                  <a:pt x="4988130" y="1055473"/>
                </a:lnTo>
                <a:lnTo>
                  <a:pt x="5001685" y="1055178"/>
                </a:lnTo>
                <a:lnTo>
                  <a:pt x="5015240" y="1050077"/>
                </a:lnTo>
                <a:lnTo>
                  <a:pt x="5028794" y="1065019"/>
                </a:lnTo>
                <a:lnTo>
                  <a:pt x="5042349" y="1047378"/>
                </a:lnTo>
                <a:lnTo>
                  <a:pt x="5055904" y="1037408"/>
                </a:lnTo>
                <a:lnTo>
                  <a:pt x="5069459" y="1035893"/>
                </a:lnTo>
                <a:lnTo>
                  <a:pt x="5083013" y="1035928"/>
                </a:lnTo>
                <a:lnTo>
                  <a:pt x="5096568" y="1035014"/>
                </a:lnTo>
                <a:lnTo>
                  <a:pt x="5110123" y="1040413"/>
                </a:lnTo>
                <a:lnTo>
                  <a:pt x="5123677" y="1037654"/>
                </a:lnTo>
                <a:lnTo>
                  <a:pt x="5137232" y="1025241"/>
                </a:lnTo>
                <a:lnTo>
                  <a:pt x="5150787" y="1020539"/>
                </a:lnTo>
                <a:lnTo>
                  <a:pt x="5164342" y="1020432"/>
                </a:lnTo>
                <a:lnTo>
                  <a:pt x="5177896" y="1018657"/>
                </a:lnTo>
                <a:lnTo>
                  <a:pt x="5191451" y="1030402"/>
                </a:lnTo>
                <a:lnTo>
                  <a:pt x="5205006" y="1035485"/>
                </a:lnTo>
                <a:lnTo>
                  <a:pt x="5218560" y="1028823"/>
                </a:lnTo>
                <a:lnTo>
                  <a:pt x="5232115" y="1017133"/>
                </a:lnTo>
                <a:lnTo>
                  <a:pt x="5245670" y="1012296"/>
                </a:lnTo>
                <a:lnTo>
                  <a:pt x="5259224" y="1006161"/>
                </a:lnTo>
                <a:lnTo>
                  <a:pt x="5272779" y="1008941"/>
                </a:lnTo>
                <a:lnTo>
                  <a:pt x="5286334" y="997073"/>
                </a:lnTo>
                <a:lnTo>
                  <a:pt x="5299889" y="991425"/>
                </a:lnTo>
                <a:lnTo>
                  <a:pt x="5313443" y="986807"/>
                </a:lnTo>
                <a:lnTo>
                  <a:pt x="5326998" y="983993"/>
                </a:lnTo>
                <a:lnTo>
                  <a:pt x="5340553" y="981803"/>
                </a:lnTo>
                <a:lnTo>
                  <a:pt x="5354107" y="974655"/>
                </a:lnTo>
                <a:lnTo>
                  <a:pt x="5367662" y="976419"/>
                </a:lnTo>
                <a:lnTo>
                  <a:pt x="5381217" y="976521"/>
                </a:lnTo>
                <a:lnTo>
                  <a:pt x="5394771" y="961135"/>
                </a:lnTo>
                <a:lnTo>
                  <a:pt x="5408326" y="960066"/>
                </a:lnTo>
                <a:lnTo>
                  <a:pt x="5421881" y="948181"/>
                </a:lnTo>
                <a:lnTo>
                  <a:pt x="5435436" y="942426"/>
                </a:lnTo>
                <a:lnTo>
                  <a:pt x="5448990" y="941933"/>
                </a:lnTo>
                <a:lnTo>
                  <a:pt x="5462545" y="927968"/>
                </a:lnTo>
                <a:lnTo>
                  <a:pt x="5476100" y="913517"/>
                </a:lnTo>
                <a:lnTo>
                  <a:pt x="5489654" y="899990"/>
                </a:lnTo>
                <a:lnTo>
                  <a:pt x="5503209" y="880896"/>
                </a:lnTo>
                <a:lnTo>
                  <a:pt x="5516764" y="915650"/>
                </a:lnTo>
                <a:lnTo>
                  <a:pt x="5530318" y="961245"/>
                </a:lnTo>
                <a:lnTo>
                  <a:pt x="5543873" y="923136"/>
                </a:lnTo>
                <a:lnTo>
                  <a:pt x="5557428" y="907881"/>
                </a:lnTo>
                <a:lnTo>
                  <a:pt x="5570983" y="926093"/>
                </a:lnTo>
                <a:lnTo>
                  <a:pt x="5584537" y="905925"/>
                </a:lnTo>
                <a:lnTo>
                  <a:pt x="5598092" y="928083"/>
                </a:lnTo>
                <a:lnTo>
                  <a:pt x="5611647" y="945710"/>
                </a:lnTo>
                <a:lnTo>
                  <a:pt x="5625201" y="960192"/>
                </a:lnTo>
                <a:lnTo>
                  <a:pt x="5638756" y="945577"/>
                </a:lnTo>
                <a:lnTo>
                  <a:pt x="5652311" y="929058"/>
                </a:lnTo>
                <a:lnTo>
                  <a:pt x="5665865" y="952788"/>
                </a:lnTo>
                <a:lnTo>
                  <a:pt x="5679420" y="946142"/>
                </a:lnTo>
                <a:lnTo>
                  <a:pt x="5692975" y="939741"/>
                </a:lnTo>
                <a:lnTo>
                  <a:pt x="5706530" y="926109"/>
                </a:lnTo>
                <a:lnTo>
                  <a:pt x="5720084" y="921234"/>
                </a:lnTo>
                <a:lnTo>
                  <a:pt x="5733639" y="921234"/>
                </a:lnTo>
                <a:lnTo>
                  <a:pt x="5747194" y="905952"/>
                </a:lnTo>
                <a:lnTo>
                  <a:pt x="5760748" y="903963"/>
                </a:lnTo>
                <a:lnTo>
                  <a:pt x="5774303" y="906556"/>
                </a:lnTo>
                <a:lnTo>
                  <a:pt x="5787858" y="927859"/>
                </a:lnTo>
                <a:lnTo>
                  <a:pt x="5801413" y="915696"/>
                </a:lnTo>
                <a:lnTo>
                  <a:pt x="5814967" y="895813"/>
                </a:lnTo>
                <a:lnTo>
                  <a:pt x="5828522" y="893839"/>
                </a:lnTo>
                <a:lnTo>
                  <a:pt x="5842077" y="883433"/>
                </a:lnTo>
                <a:lnTo>
                  <a:pt x="5855631" y="886381"/>
                </a:lnTo>
                <a:lnTo>
                  <a:pt x="5869186" y="878092"/>
                </a:lnTo>
                <a:lnTo>
                  <a:pt x="5882741" y="881209"/>
                </a:lnTo>
                <a:lnTo>
                  <a:pt x="5896295" y="875881"/>
                </a:lnTo>
                <a:lnTo>
                  <a:pt x="5909850" y="862142"/>
                </a:lnTo>
                <a:lnTo>
                  <a:pt x="5923405" y="870342"/>
                </a:lnTo>
                <a:lnTo>
                  <a:pt x="5936960" y="860391"/>
                </a:lnTo>
                <a:lnTo>
                  <a:pt x="5950514" y="853088"/>
                </a:lnTo>
                <a:lnTo>
                  <a:pt x="5964069" y="856911"/>
                </a:lnTo>
                <a:lnTo>
                  <a:pt x="5977624" y="865706"/>
                </a:lnTo>
                <a:lnTo>
                  <a:pt x="5991178" y="902656"/>
                </a:lnTo>
                <a:lnTo>
                  <a:pt x="6004733" y="901704"/>
                </a:lnTo>
                <a:lnTo>
                  <a:pt x="6018288" y="937090"/>
                </a:lnTo>
                <a:lnTo>
                  <a:pt x="6031842" y="915662"/>
                </a:lnTo>
                <a:lnTo>
                  <a:pt x="6045397" y="896921"/>
                </a:lnTo>
                <a:lnTo>
                  <a:pt x="6058952" y="909745"/>
                </a:lnTo>
                <a:lnTo>
                  <a:pt x="6072507" y="929943"/>
                </a:lnTo>
                <a:lnTo>
                  <a:pt x="6086061" y="892071"/>
                </a:lnTo>
                <a:lnTo>
                  <a:pt x="6099616" y="941067"/>
                </a:lnTo>
                <a:lnTo>
                  <a:pt x="6113171" y="971653"/>
                </a:lnTo>
                <a:lnTo>
                  <a:pt x="6126725" y="997703"/>
                </a:lnTo>
                <a:lnTo>
                  <a:pt x="6140280" y="1004753"/>
                </a:lnTo>
                <a:lnTo>
                  <a:pt x="6153835" y="953573"/>
                </a:lnTo>
                <a:lnTo>
                  <a:pt x="6167389" y="939852"/>
                </a:lnTo>
                <a:lnTo>
                  <a:pt x="6180944" y="930495"/>
                </a:lnTo>
                <a:lnTo>
                  <a:pt x="6194499" y="916479"/>
                </a:lnTo>
                <a:lnTo>
                  <a:pt x="6208054" y="915147"/>
                </a:lnTo>
                <a:lnTo>
                  <a:pt x="6221608" y="893046"/>
                </a:lnTo>
                <a:lnTo>
                  <a:pt x="6235163" y="886271"/>
                </a:lnTo>
                <a:lnTo>
                  <a:pt x="6248718" y="886648"/>
                </a:lnTo>
                <a:lnTo>
                  <a:pt x="6262272" y="889667"/>
                </a:lnTo>
                <a:lnTo>
                  <a:pt x="6275827" y="873641"/>
                </a:lnTo>
                <a:lnTo>
                  <a:pt x="6289382" y="883924"/>
                </a:lnTo>
                <a:lnTo>
                  <a:pt x="6302936" y="862829"/>
                </a:lnTo>
                <a:lnTo>
                  <a:pt x="6316491" y="853792"/>
                </a:lnTo>
                <a:lnTo>
                  <a:pt x="6330046" y="850213"/>
                </a:lnTo>
                <a:lnTo>
                  <a:pt x="6343601" y="841453"/>
                </a:lnTo>
                <a:lnTo>
                  <a:pt x="6357155" y="838045"/>
                </a:lnTo>
                <a:lnTo>
                  <a:pt x="6370710" y="856406"/>
                </a:lnTo>
                <a:lnTo>
                  <a:pt x="6384265" y="870321"/>
                </a:lnTo>
                <a:lnTo>
                  <a:pt x="6397819" y="860745"/>
                </a:lnTo>
                <a:lnTo>
                  <a:pt x="6411374" y="886349"/>
                </a:lnTo>
                <a:lnTo>
                  <a:pt x="6424929" y="871683"/>
                </a:lnTo>
                <a:lnTo>
                  <a:pt x="6438484" y="855008"/>
                </a:lnTo>
                <a:lnTo>
                  <a:pt x="6452038" y="840912"/>
                </a:lnTo>
                <a:lnTo>
                  <a:pt x="6465593" y="844445"/>
                </a:lnTo>
                <a:lnTo>
                  <a:pt x="6479148" y="819639"/>
                </a:lnTo>
                <a:lnTo>
                  <a:pt x="6492702" y="818142"/>
                </a:lnTo>
                <a:lnTo>
                  <a:pt x="6506257" y="819551"/>
                </a:lnTo>
                <a:lnTo>
                  <a:pt x="6519812" y="816123"/>
                </a:lnTo>
                <a:lnTo>
                  <a:pt x="6533366" y="831344"/>
                </a:lnTo>
                <a:lnTo>
                  <a:pt x="6546921" y="834980"/>
                </a:lnTo>
                <a:lnTo>
                  <a:pt x="6560476" y="862202"/>
                </a:lnTo>
                <a:lnTo>
                  <a:pt x="6574031" y="838756"/>
                </a:lnTo>
                <a:lnTo>
                  <a:pt x="6587585" y="838096"/>
                </a:lnTo>
                <a:lnTo>
                  <a:pt x="6601140" y="821843"/>
                </a:lnTo>
                <a:lnTo>
                  <a:pt x="6614695" y="812940"/>
                </a:lnTo>
                <a:lnTo>
                  <a:pt x="6628249" y="817124"/>
                </a:lnTo>
                <a:lnTo>
                  <a:pt x="6641804" y="825637"/>
                </a:lnTo>
                <a:lnTo>
                  <a:pt x="6655359" y="828761"/>
                </a:lnTo>
                <a:lnTo>
                  <a:pt x="6668913" y="823026"/>
                </a:lnTo>
                <a:lnTo>
                  <a:pt x="6682468" y="818037"/>
                </a:lnTo>
                <a:lnTo>
                  <a:pt x="6696023" y="807414"/>
                </a:lnTo>
                <a:lnTo>
                  <a:pt x="6709578" y="794305"/>
                </a:lnTo>
                <a:lnTo>
                  <a:pt x="6723132" y="786317"/>
                </a:lnTo>
                <a:lnTo>
                  <a:pt x="6736687" y="778261"/>
                </a:lnTo>
                <a:lnTo>
                  <a:pt x="6750242" y="780600"/>
                </a:lnTo>
                <a:lnTo>
                  <a:pt x="6763796" y="778684"/>
                </a:lnTo>
                <a:lnTo>
                  <a:pt x="6777351" y="772398"/>
                </a:lnTo>
                <a:lnTo>
                  <a:pt x="6790906" y="756829"/>
                </a:lnTo>
                <a:lnTo>
                  <a:pt x="6804460" y="747816"/>
                </a:lnTo>
                <a:lnTo>
                  <a:pt x="6818015" y="746069"/>
                </a:lnTo>
                <a:lnTo>
                  <a:pt x="6831570" y="739038"/>
                </a:lnTo>
                <a:lnTo>
                  <a:pt x="6845125" y="728982"/>
                </a:lnTo>
                <a:lnTo>
                  <a:pt x="6858679" y="719596"/>
                </a:lnTo>
                <a:lnTo>
                  <a:pt x="6872234" y="730347"/>
                </a:lnTo>
                <a:lnTo>
                  <a:pt x="6885789" y="713638"/>
                </a:lnTo>
                <a:lnTo>
                  <a:pt x="6899343" y="705585"/>
                </a:lnTo>
                <a:lnTo>
                  <a:pt x="6912898" y="714953"/>
                </a:lnTo>
                <a:lnTo>
                  <a:pt x="6926453" y="818784"/>
                </a:lnTo>
                <a:lnTo>
                  <a:pt x="6940007" y="815236"/>
                </a:lnTo>
                <a:lnTo>
                  <a:pt x="6953562" y="902426"/>
                </a:lnTo>
                <a:lnTo>
                  <a:pt x="6967117" y="1040339"/>
                </a:lnTo>
                <a:lnTo>
                  <a:pt x="6980672" y="950672"/>
                </a:lnTo>
                <a:lnTo>
                  <a:pt x="6994226" y="968969"/>
                </a:lnTo>
                <a:lnTo>
                  <a:pt x="7007781" y="876870"/>
                </a:lnTo>
                <a:lnTo>
                  <a:pt x="7021336" y="858195"/>
                </a:lnTo>
                <a:lnTo>
                  <a:pt x="7034890" y="841346"/>
                </a:lnTo>
                <a:lnTo>
                  <a:pt x="7048445" y="852049"/>
                </a:lnTo>
                <a:lnTo>
                  <a:pt x="7062000" y="824845"/>
                </a:lnTo>
                <a:lnTo>
                  <a:pt x="7075555" y="817379"/>
                </a:lnTo>
                <a:lnTo>
                  <a:pt x="7089109" y="805327"/>
                </a:lnTo>
                <a:lnTo>
                  <a:pt x="7102664" y="779317"/>
                </a:lnTo>
                <a:lnTo>
                  <a:pt x="7116219" y="743846"/>
                </a:lnTo>
                <a:lnTo>
                  <a:pt x="7129773" y="765526"/>
                </a:lnTo>
                <a:lnTo>
                  <a:pt x="7143328" y="764229"/>
                </a:lnTo>
                <a:lnTo>
                  <a:pt x="7156883" y="774666"/>
                </a:lnTo>
                <a:lnTo>
                  <a:pt x="7170437" y="752693"/>
                </a:lnTo>
                <a:lnTo>
                  <a:pt x="7183992" y="737101"/>
                </a:lnTo>
                <a:lnTo>
                  <a:pt x="7197547" y="723549"/>
                </a:lnTo>
                <a:lnTo>
                  <a:pt x="7211102" y="728231"/>
                </a:lnTo>
                <a:lnTo>
                  <a:pt x="7224656" y="709567"/>
                </a:lnTo>
                <a:lnTo>
                  <a:pt x="7238211" y="695600"/>
                </a:lnTo>
                <a:lnTo>
                  <a:pt x="7251766" y="696147"/>
                </a:lnTo>
                <a:lnTo>
                  <a:pt x="7265320" y="669649"/>
                </a:lnTo>
                <a:lnTo>
                  <a:pt x="7278875" y="644443"/>
                </a:lnTo>
                <a:lnTo>
                  <a:pt x="7292430" y="704878"/>
                </a:lnTo>
                <a:lnTo>
                  <a:pt x="7305984" y="699769"/>
                </a:lnTo>
                <a:lnTo>
                  <a:pt x="7319539" y="729108"/>
                </a:lnTo>
                <a:lnTo>
                  <a:pt x="7333094" y="693134"/>
                </a:lnTo>
                <a:lnTo>
                  <a:pt x="7346649" y="675763"/>
                </a:lnTo>
                <a:lnTo>
                  <a:pt x="7360203" y="666321"/>
                </a:lnTo>
                <a:lnTo>
                  <a:pt x="7373758" y="673648"/>
                </a:lnTo>
                <a:lnTo>
                  <a:pt x="7387313" y="711708"/>
                </a:lnTo>
                <a:lnTo>
                  <a:pt x="7400867" y="659429"/>
                </a:lnTo>
                <a:lnTo>
                  <a:pt x="7414422" y="652022"/>
                </a:lnTo>
                <a:lnTo>
                  <a:pt x="7427977" y="640743"/>
                </a:lnTo>
                <a:lnTo>
                  <a:pt x="7441531" y="626417"/>
                </a:lnTo>
                <a:lnTo>
                  <a:pt x="7455086" y="611633"/>
                </a:lnTo>
                <a:lnTo>
                  <a:pt x="7468641" y="620095"/>
                </a:lnTo>
                <a:lnTo>
                  <a:pt x="7482196" y="609492"/>
                </a:lnTo>
                <a:lnTo>
                  <a:pt x="7495750" y="602416"/>
                </a:lnTo>
                <a:lnTo>
                  <a:pt x="7509305" y="604398"/>
                </a:lnTo>
                <a:lnTo>
                  <a:pt x="7522860" y="586993"/>
                </a:lnTo>
                <a:lnTo>
                  <a:pt x="7536414" y="575213"/>
                </a:lnTo>
                <a:lnTo>
                  <a:pt x="7549969" y="597149"/>
                </a:lnTo>
                <a:lnTo>
                  <a:pt x="7563524" y="579886"/>
                </a:lnTo>
                <a:lnTo>
                  <a:pt x="7577078" y="561178"/>
                </a:lnTo>
                <a:lnTo>
                  <a:pt x="7590633" y="559741"/>
                </a:lnTo>
                <a:lnTo>
                  <a:pt x="7604188" y="578784"/>
                </a:lnTo>
                <a:lnTo>
                  <a:pt x="7617743" y="591800"/>
                </a:lnTo>
                <a:lnTo>
                  <a:pt x="7631297" y="553452"/>
                </a:lnTo>
                <a:lnTo>
                  <a:pt x="7644852" y="558035"/>
                </a:lnTo>
                <a:lnTo>
                  <a:pt x="7658407" y="559164"/>
                </a:lnTo>
                <a:lnTo>
                  <a:pt x="7671961" y="534939"/>
                </a:lnTo>
                <a:lnTo>
                  <a:pt x="7685516" y="511431"/>
                </a:lnTo>
                <a:lnTo>
                  <a:pt x="7699071" y="499213"/>
                </a:lnTo>
                <a:lnTo>
                  <a:pt x="7712626" y="500307"/>
                </a:lnTo>
                <a:lnTo>
                  <a:pt x="7726180" y="499129"/>
                </a:lnTo>
                <a:lnTo>
                  <a:pt x="7739735" y="489053"/>
                </a:lnTo>
                <a:lnTo>
                  <a:pt x="7753290" y="500644"/>
                </a:lnTo>
                <a:lnTo>
                  <a:pt x="7766844" y="504106"/>
                </a:lnTo>
                <a:lnTo>
                  <a:pt x="7780399" y="493387"/>
                </a:lnTo>
                <a:lnTo>
                  <a:pt x="7793954" y="488908"/>
                </a:lnTo>
                <a:lnTo>
                  <a:pt x="7807508" y="482552"/>
                </a:lnTo>
                <a:lnTo>
                  <a:pt x="7821063" y="488811"/>
                </a:lnTo>
                <a:lnTo>
                  <a:pt x="7834618" y="475138"/>
                </a:lnTo>
                <a:lnTo>
                  <a:pt x="7848173" y="464003"/>
                </a:lnTo>
                <a:lnTo>
                  <a:pt x="7861727" y="458628"/>
                </a:lnTo>
                <a:lnTo>
                  <a:pt x="7875282" y="467800"/>
                </a:lnTo>
                <a:lnTo>
                  <a:pt x="7888837" y="451767"/>
                </a:lnTo>
                <a:lnTo>
                  <a:pt x="7902391" y="447500"/>
                </a:lnTo>
                <a:lnTo>
                  <a:pt x="7915946" y="444464"/>
                </a:lnTo>
                <a:lnTo>
                  <a:pt x="7929501" y="441773"/>
                </a:lnTo>
                <a:lnTo>
                  <a:pt x="7943055" y="434041"/>
                </a:lnTo>
                <a:lnTo>
                  <a:pt x="7956610" y="427039"/>
                </a:lnTo>
                <a:lnTo>
                  <a:pt x="7970165" y="428302"/>
                </a:lnTo>
                <a:lnTo>
                  <a:pt x="7983720" y="434217"/>
                </a:lnTo>
                <a:lnTo>
                  <a:pt x="7997274" y="451263"/>
                </a:lnTo>
                <a:lnTo>
                  <a:pt x="8010829" y="458122"/>
                </a:lnTo>
                <a:lnTo>
                  <a:pt x="8024384" y="457213"/>
                </a:lnTo>
                <a:lnTo>
                  <a:pt x="8037938" y="456649"/>
                </a:lnTo>
                <a:lnTo>
                  <a:pt x="8051493" y="422582"/>
                </a:lnTo>
                <a:lnTo>
                  <a:pt x="8065048" y="419620"/>
                </a:lnTo>
                <a:lnTo>
                  <a:pt x="8078602" y="399028"/>
                </a:lnTo>
                <a:lnTo>
                  <a:pt x="8092157" y="401108"/>
                </a:lnTo>
                <a:lnTo>
                  <a:pt x="8105712" y="392596"/>
                </a:lnTo>
                <a:lnTo>
                  <a:pt x="8119267" y="390163"/>
                </a:lnTo>
                <a:lnTo>
                  <a:pt x="8132821" y="412958"/>
                </a:lnTo>
                <a:lnTo>
                  <a:pt x="8146376" y="395956"/>
                </a:lnTo>
                <a:lnTo>
                  <a:pt x="8159931" y="395768"/>
                </a:lnTo>
                <a:lnTo>
                  <a:pt x="8173485" y="384920"/>
                </a:lnTo>
                <a:lnTo>
                  <a:pt x="8187040" y="376828"/>
                </a:lnTo>
                <a:lnTo>
                  <a:pt x="8200595" y="393369"/>
                </a:lnTo>
                <a:lnTo>
                  <a:pt x="8214149" y="395951"/>
                </a:lnTo>
                <a:lnTo>
                  <a:pt x="8227704" y="444227"/>
                </a:lnTo>
                <a:lnTo>
                  <a:pt x="8241259" y="424367"/>
                </a:lnTo>
                <a:lnTo>
                  <a:pt x="8254814" y="429549"/>
                </a:lnTo>
                <a:lnTo>
                  <a:pt x="8268368" y="445864"/>
                </a:lnTo>
                <a:lnTo>
                  <a:pt x="8281923" y="464956"/>
                </a:lnTo>
                <a:lnTo>
                  <a:pt x="8295478" y="464119"/>
                </a:lnTo>
                <a:lnTo>
                  <a:pt x="8309032" y="492591"/>
                </a:lnTo>
                <a:lnTo>
                  <a:pt x="8322587" y="471927"/>
                </a:lnTo>
                <a:lnTo>
                  <a:pt x="8336142" y="422269"/>
                </a:lnTo>
                <a:lnTo>
                  <a:pt x="8349697" y="399236"/>
                </a:lnTo>
                <a:lnTo>
                  <a:pt x="8363251" y="419463"/>
                </a:lnTo>
                <a:lnTo>
                  <a:pt x="8376806" y="444602"/>
                </a:lnTo>
                <a:lnTo>
                  <a:pt x="8390361" y="431845"/>
                </a:lnTo>
                <a:lnTo>
                  <a:pt x="8403915" y="487722"/>
                </a:lnTo>
                <a:lnTo>
                  <a:pt x="8417470" y="463276"/>
                </a:lnTo>
                <a:lnTo>
                  <a:pt x="8431025" y="540855"/>
                </a:lnTo>
                <a:lnTo>
                  <a:pt x="8444579" y="542845"/>
                </a:lnTo>
                <a:lnTo>
                  <a:pt x="8458134" y="530594"/>
                </a:lnTo>
                <a:lnTo>
                  <a:pt x="8471689" y="487469"/>
                </a:lnTo>
                <a:lnTo>
                  <a:pt x="8485244" y="521653"/>
                </a:lnTo>
                <a:lnTo>
                  <a:pt x="8498798" y="601186"/>
                </a:lnTo>
                <a:lnTo>
                  <a:pt x="8512353" y="543057"/>
                </a:lnTo>
                <a:lnTo>
                  <a:pt x="8525908" y="563170"/>
                </a:lnTo>
                <a:lnTo>
                  <a:pt x="8539462" y="556316"/>
                </a:lnTo>
                <a:lnTo>
                  <a:pt x="8553017" y="561537"/>
                </a:lnTo>
                <a:lnTo>
                  <a:pt x="8566572" y="530795"/>
                </a:lnTo>
                <a:lnTo>
                  <a:pt x="8580126" y="497715"/>
                </a:lnTo>
                <a:lnTo>
                  <a:pt x="8593681" y="492987"/>
                </a:lnTo>
                <a:lnTo>
                  <a:pt x="8607236" y="459903"/>
                </a:lnTo>
                <a:lnTo>
                  <a:pt x="8620791" y="492221"/>
                </a:lnTo>
                <a:lnTo>
                  <a:pt x="8634345" y="515276"/>
                </a:lnTo>
                <a:lnTo>
                  <a:pt x="8647900" y="541529"/>
                </a:lnTo>
                <a:lnTo>
                  <a:pt x="8661455" y="536290"/>
                </a:lnTo>
                <a:lnTo>
                  <a:pt x="8675009" y="553038"/>
                </a:lnTo>
                <a:lnTo>
                  <a:pt x="8688564" y="601667"/>
                </a:lnTo>
                <a:lnTo>
                  <a:pt x="8702119" y="567129"/>
                </a:lnTo>
                <a:lnTo>
                  <a:pt x="8715673" y="615391"/>
                </a:lnTo>
                <a:lnTo>
                  <a:pt x="8729228" y="583153"/>
                </a:lnTo>
                <a:lnTo>
                  <a:pt x="8742783" y="551144"/>
                </a:lnTo>
                <a:lnTo>
                  <a:pt x="8756338" y="552056"/>
                </a:lnTo>
                <a:lnTo>
                  <a:pt x="8769892" y="557825"/>
                </a:lnTo>
                <a:lnTo>
                  <a:pt x="8783447" y="520747"/>
                </a:lnTo>
                <a:lnTo>
                  <a:pt x="8797002" y="517647"/>
                </a:lnTo>
                <a:lnTo>
                  <a:pt x="8810556" y="500743"/>
                </a:lnTo>
                <a:lnTo>
                  <a:pt x="8824111" y="532560"/>
                </a:lnTo>
                <a:lnTo>
                  <a:pt x="8837666" y="518746"/>
                </a:lnTo>
                <a:lnTo>
                  <a:pt x="8851220" y="544144"/>
                </a:lnTo>
                <a:lnTo>
                  <a:pt x="8864775" y="550504"/>
                </a:lnTo>
                <a:lnTo>
                  <a:pt x="8878330" y="539952"/>
                </a:lnTo>
                <a:lnTo>
                  <a:pt x="8891885" y="516704"/>
                </a:lnTo>
                <a:lnTo>
                  <a:pt x="8905439" y="512027"/>
                </a:lnTo>
                <a:lnTo>
                  <a:pt x="8918994" y="512116"/>
                </a:lnTo>
                <a:lnTo>
                  <a:pt x="8932549" y="492109"/>
                </a:lnTo>
                <a:lnTo>
                  <a:pt x="8946103" y="485710"/>
                </a:lnTo>
                <a:lnTo>
                  <a:pt x="8959658" y="515406"/>
                </a:lnTo>
                <a:lnTo>
                  <a:pt x="8973213" y="521651"/>
                </a:lnTo>
                <a:lnTo>
                  <a:pt x="8986768" y="517211"/>
                </a:lnTo>
                <a:lnTo>
                  <a:pt x="9000322" y="531738"/>
                </a:lnTo>
                <a:lnTo>
                  <a:pt x="9013877" y="512461"/>
                </a:lnTo>
                <a:lnTo>
                  <a:pt x="9027432" y="519771"/>
                </a:lnTo>
                <a:lnTo>
                  <a:pt x="9040986" y="491254"/>
                </a:lnTo>
                <a:lnTo>
                  <a:pt x="9054541" y="492585"/>
                </a:lnTo>
                <a:lnTo>
                  <a:pt x="9068096" y="479588"/>
                </a:lnTo>
                <a:lnTo>
                  <a:pt x="9081650" y="500556"/>
                </a:lnTo>
                <a:lnTo>
                  <a:pt x="9095205" y="492649"/>
                </a:lnTo>
                <a:lnTo>
                  <a:pt x="9108760" y="482325"/>
                </a:lnTo>
                <a:lnTo>
                  <a:pt x="9122315" y="477282"/>
                </a:lnTo>
                <a:lnTo>
                  <a:pt x="9135869" y="486073"/>
                </a:lnTo>
                <a:lnTo>
                  <a:pt x="9149424" y="463466"/>
                </a:lnTo>
                <a:lnTo>
                  <a:pt x="9162979" y="448393"/>
                </a:lnTo>
                <a:lnTo>
                  <a:pt x="9176533" y="421276"/>
                </a:lnTo>
                <a:lnTo>
                  <a:pt x="9190088" y="436837"/>
                </a:lnTo>
                <a:lnTo>
                  <a:pt x="9203643" y="416677"/>
                </a:lnTo>
                <a:lnTo>
                  <a:pt x="9217197" y="423871"/>
                </a:lnTo>
                <a:lnTo>
                  <a:pt x="9230752" y="401841"/>
                </a:lnTo>
                <a:lnTo>
                  <a:pt x="9244307" y="395327"/>
                </a:lnTo>
                <a:lnTo>
                  <a:pt x="9257862" y="388418"/>
                </a:lnTo>
                <a:lnTo>
                  <a:pt x="9271416" y="402094"/>
                </a:lnTo>
                <a:lnTo>
                  <a:pt x="9284971" y="407169"/>
                </a:lnTo>
                <a:lnTo>
                  <a:pt x="9298526" y="424510"/>
                </a:lnTo>
                <a:lnTo>
                  <a:pt x="9312080" y="417706"/>
                </a:lnTo>
                <a:lnTo>
                  <a:pt x="9325635" y="404959"/>
                </a:lnTo>
                <a:lnTo>
                  <a:pt x="9339190" y="411329"/>
                </a:lnTo>
                <a:lnTo>
                  <a:pt x="9352744" y="414718"/>
                </a:lnTo>
                <a:lnTo>
                  <a:pt x="9366299" y="448721"/>
                </a:lnTo>
                <a:lnTo>
                  <a:pt x="9379854" y="457603"/>
                </a:lnTo>
                <a:lnTo>
                  <a:pt x="9393409" y="431060"/>
                </a:lnTo>
                <a:lnTo>
                  <a:pt x="9406963" y="428076"/>
                </a:lnTo>
                <a:lnTo>
                  <a:pt x="9420518" y="453367"/>
                </a:lnTo>
                <a:lnTo>
                  <a:pt x="9434073" y="464686"/>
                </a:lnTo>
                <a:lnTo>
                  <a:pt x="9447627" y="426248"/>
                </a:lnTo>
                <a:lnTo>
                  <a:pt x="9461182" y="402866"/>
                </a:lnTo>
                <a:lnTo>
                  <a:pt x="9474737" y="394036"/>
                </a:lnTo>
                <a:lnTo>
                  <a:pt x="9488291" y="391445"/>
                </a:lnTo>
                <a:lnTo>
                  <a:pt x="9501846" y="391155"/>
                </a:lnTo>
                <a:lnTo>
                  <a:pt x="9515401" y="361304"/>
                </a:lnTo>
                <a:lnTo>
                  <a:pt x="9528956" y="361940"/>
                </a:lnTo>
                <a:lnTo>
                  <a:pt x="9542510" y="346286"/>
                </a:lnTo>
                <a:lnTo>
                  <a:pt x="9556065" y="362577"/>
                </a:lnTo>
                <a:lnTo>
                  <a:pt x="9569620" y="346304"/>
                </a:lnTo>
                <a:lnTo>
                  <a:pt x="9583174" y="333931"/>
                </a:lnTo>
                <a:lnTo>
                  <a:pt x="9596729" y="319853"/>
                </a:lnTo>
                <a:lnTo>
                  <a:pt x="9610284" y="317570"/>
                </a:lnTo>
                <a:lnTo>
                  <a:pt x="9623838" y="302682"/>
                </a:lnTo>
                <a:lnTo>
                  <a:pt x="9637393" y="310103"/>
                </a:lnTo>
                <a:lnTo>
                  <a:pt x="9650948" y="292323"/>
                </a:lnTo>
                <a:lnTo>
                  <a:pt x="9664503" y="291890"/>
                </a:lnTo>
                <a:lnTo>
                  <a:pt x="9678057" y="275439"/>
                </a:lnTo>
                <a:lnTo>
                  <a:pt x="9691612" y="274535"/>
                </a:lnTo>
                <a:lnTo>
                  <a:pt x="9705167" y="269277"/>
                </a:lnTo>
                <a:lnTo>
                  <a:pt x="9718721" y="268263"/>
                </a:lnTo>
                <a:lnTo>
                  <a:pt x="9732276" y="277244"/>
                </a:lnTo>
                <a:lnTo>
                  <a:pt x="9745831" y="300713"/>
                </a:lnTo>
                <a:lnTo>
                  <a:pt x="9759386" y="292235"/>
                </a:lnTo>
                <a:lnTo>
                  <a:pt x="9772940" y="301064"/>
                </a:lnTo>
                <a:lnTo>
                  <a:pt x="9786495" y="272021"/>
                </a:lnTo>
                <a:lnTo>
                  <a:pt x="9800050" y="250919"/>
                </a:lnTo>
                <a:lnTo>
                  <a:pt x="9813604" y="250837"/>
                </a:lnTo>
                <a:lnTo>
                  <a:pt x="9827159" y="262874"/>
                </a:lnTo>
                <a:lnTo>
                  <a:pt x="9840714" y="242875"/>
                </a:lnTo>
                <a:lnTo>
                  <a:pt x="9854268" y="230184"/>
                </a:lnTo>
                <a:lnTo>
                  <a:pt x="9867823" y="224033"/>
                </a:lnTo>
                <a:lnTo>
                  <a:pt x="9881378" y="224501"/>
                </a:lnTo>
                <a:lnTo>
                  <a:pt x="9894933" y="206849"/>
                </a:lnTo>
                <a:lnTo>
                  <a:pt x="9908487" y="197029"/>
                </a:lnTo>
                <a:lnTo>
                  <a:pt x="9922042" y="207845"/>
                </a:lnTo>
                <a:lnTo>
                  <a:pt x="9935597" y="223630"/>
                </a:lnTo>
                <a:lnTo>
                  <a:pt x="9949151" y="268873"/>
                </a:lnTo>
                <a:lnTo>
                  <a:pt x="9962706" y="242333"/>
                </a:lnTo>
                <a:lnTo>
                  <a:pt x="9976261" y="200033"/>
                </a:lnTo>
                <a:lnTo>
                  <a:pt x="9989815" y="198186"/>
                </a:lnTo>
                <a:lnTo>
                  <a:pt x="10003370" y="211919"/>
                </a:lnTo>
                <a:lnTo>
                  <a:pt x="10016925" y="217163"/>
                </a:lnTo>
                <a:lnTo>
                  <a:pt x="10030480" y="194626"/>
                </a:lnTo>
                <a:lnTo>
                  <a:pt x="10044034" y="179209"/>
                </a:lnTo>
                <a:lnTo>
                  <a:pt x="10057589" y="183333"/>
                </a:lnTo>
                <a:lnTo>
                  <a:pt x="10071144" y="176341"/>
                </a:lnTo>
                <a:lnTo>
                  <a:pt x="10084698" y="166281"/>
                </a:lnTo>
                <a:lnTo>
                  <a:pt x="10098253" y="160940"/>
                </a:lnTo>
                <a:lnTo>
                  <a:pt x="10111808" y="163275"/>
                </a:lnTo>
                <a:lnTo>
                  <a:pt x="10125362" y="170954"/>
                </a:lnTo>
                <a:lnTo>
                  <a:pt x="10138917" y="140749"/>
                </a:lnTo>
                <a:lnTo>
                  <a:pt x="10152472" y="150504"/>
                </a:lnTo>
                <a:lnTo>
                  <a:pt x="10166027" y="135255"/>
                </a:lnTo>
                <a:lnTo>
                  <a:pt x="10179581" y="125074"/>
                </a:lnTo>
                <a:lnTo>
                  <a:pt x="10193136" y="125364"/>
                </a:lnTo>
                <a:lnTo>
                  <a:pt x="10206691" y="156500"/>
                </a:lnTo>
                <a:lnTo>
                  <a:pt x="10220245" y="131300"/>
                </a:lnTo>
                <a:lnTo>
                  <a:pt x="10233800" y="145108"/>
                </a:lnTo>
                <a:lnTo>
                  <a:pt x="10247355" y="160900"/>
                </a:lnTo>
                <a:lnTo>
                  <a:pt x="10260909" y="128809"/>
                </a:lnTo>
                <a:lnTo>
                  <a:pt x="10274464" y="126672"/>
                </a:lnTo>
                <a:lnTo>
                  <a:pt x="10288019" y="130658"/>
                </a:lnTo>
                <a:lnTo>
                  <a:pt x="10301574" y="125527"/>
                </a:lnTo>
                <a:lnTo>
                  <a:pt x="10315128" y="114551"/>
                </a:lnTo>
                <a:lnTo>
                  <a:pt x="10328683" y="141277"/>
                </a:lnTo>
                <a:lnTo>
                  <a:pt x="10342238" y="158384"/>
                </a:lnTo>
                <a:lnTo>
                  <a:pt x="10355792" y="195560"/>
                </a:lnTo>
                <a:lnTo>
                  <a:pt x="10369347" y="182687"/>
                </a:lnTo>
                <a:lnTo>
                  <a:pt x="10382902" y="177797"/>
                </a:lnTo>
                <a:lnTo>
                  <a:pt x="10396457" y="184099"/>
                </a:lnTo>
                <a:lnTo>
                  <a:pt x="10410011" y="209166"/>
                </a:lnTo>
                <a:lnTo>
                  <a:pt x="10423566" y="246673"/>
                </a:lnTo>
                <a:lnTo>
                  <a:pt x="10437121" y="212257"/>
                </a:lnTo>
                <a:lnTo>
                  <a:pt x="10450675" y="193553"/>
                </a:lnTo>
                <a:lnTo>
                  <a:pt x="10464230" y="183261"/>
                </a:lnTo>
                <a:lnTo>
                  <a:pt x="10477785" y="144683"/>
                </a:lnTo>
                <a:lnTo>
                  <a:pt x="10491339" y="155703"/>
                </a:lnTo>
                <a:lnTo>
                  <a:pt x="10504894" y="146275"/>
                </a:lnTo>
                <a:lnTo>
                  <a:pt x="10518449" y="131880"/>
                </a:lnTo>
                <a:lnTo>
                  <a:pt x="10532004" y="135019"/>
                </a:lnTo>
                <a:lnTo>
                  <a:pt x="10545558" y="127813"/>
                </a:lnTo>
                <a:lnTo>
                  <a:pt x="10559113" y="102312"/>
                </a:lnTo>
                <a:lnTo>
                  <a:pt x="10572668" y="98783"/>
                </a:lnTo>
                <a:lnTo>
                  <a:pt x="10586222" y="96240"/>
                </a:lnTo>
                <a:lnTo>
                  <a:pt x="10599777" y="86815"/>
                </a:lnTo>
                <a:lnTo>
                  <a:pt x="10613332" y="77931"/>
                </a:lnTo>
                <a:lnTo>
                  <a:pt x="10626886" y="88058"/>
                </a:lnTo>
                <a:lnTo>
                  <a:pt x="10640441" y="67729"/>
                </a:lnTo>
                <a:lnTo>
                  <a:pt x="10653996" y="71669"/>
                </a:lnTo>
                <a:lnTo>
                  <a:pt x="10667551" y="64364"/>
                </a:lnTo>
                <a:lnTo>
                  <a:pt x="10681105" y="66297"/>
                </a:lnTo>
                <a:lnTo>
                  <a:pt x="10694660" y="54828"/>
                </a:lnTo>
                <a:lnTo>
                  <a:pt x="10708215" y="45502"/>
                </a:lnTo>
                <a:lnTo>
                  <a:pt x="10721769" y="40521"/>
                </a:lnTo>
                <a:lnTo>
                  <a:pt x="10735324" y="30821"/>
                </a:lnTo>
                <a:lnTo>
                  <a:pt x="10748879" y="24726"/>
                </a:lnTo>
                <a:lnTo>
                  <a:pt x="10762433" y="35136"/>
                </a:lnTo>
                <a:lnTo>
                  <a:pt x="10775988" y="31674"/>
                </a:lnTo>
                <a:lnTo>
                  <a:pt x="10789543" y="6308"/>
                </a:lnTo>
                <a:lnTo>
                  <a:pt x="10803098" y="18919"/>
                </a:lnTo>
                <a:lnTo>
                  <a:pt x="10816652" y="11441"/>
                </a:lnTo>
                <a:lnTo>
                  <a:pt x="10830207" y="38493"/>
                </a:lnTo>
                <a:lnTo>
                  <a:pt x="10843762" y="16203"/>
                </a:lnTo>
                <a:lnTo>
                  <a:pt x="10857316" y="10144"/>
                </a:lnTo>
                <a:lnTo>
                  <a:pt x="10870871" y="4038"/>
                </a:lnTo>
                <a:lnTo>
                  <a:pt x="10884426" y="20357"/>
                </a:lnTo>
                <a:lnTo>
                  <a:pt x="10897980" y="0"/>
                </a:lnTo>
                <a:lnTo>
                  <a:pt x="10911535" y="10728"/>
                </a:lnTo>
              </a:path>
            </a:pathLst>
          </a:custGeom>
          <a:noFill/>
          <a:ln w="28575" cap="rnd">
            <a:solidFill>
              <a:srgbClr val="FFB547"/>
            </a:solidFill>
            <a:round/>
          </a:ln>
          <a:effectLst>
            <a:glow rad="76200">
              <a:srgbClr val="FFB547">
                <a:alpha val="40000"/>
              </a:srgbClr>
            </a:glow>
          </a:effectLst>
        </p:spPr>
        <p:txBody>
          <a:bodyPr rtlCol="0" anchor="ctr"/>
          <a:lstStyle/>
          <a:p>
            <a:pPr algn="ctr"/>
            <a:endParaRPr/>
          </a:p>
        </p:txBody>
      </p:sp>
      <p:sp>
        <p:nvSpPr>
          <p:cNvPr id="6" name="!!dot"/>
          <p:cNvSpPr/>
          <p:nvPr/>
        </p:nvSpPr>
        <p:spPr>
          <a:xfrm>
            <a:off x="11473891" y="4276404"/>
            <a:ext cx="155448" cy="155448"/>
          </a:xfrm>
          <a:prstGeom prst="ellipse">
            <a:avLst/>
          </a:prstGeom>
          <a:solidFill>
            <a:srgbClr val="FFB547"/>
          </a:solidFill>
          <a:ln>
            <a:noFill/>
          </a:ln>
          <a:effectLst>
            <a:glow rad="101600">
              <a:srgbClr val="FFB547">
                <a:alpha val="45000"/>
              </a:srgbClr>
            </a:glow>
          </a:effectLst>
        </p:spPr>
        <p:txBody>
          <a:bodyPr lIns="0" tIns="0" rIns="0" bIns="0" rtlCol="0" anchor="ctr"/>
          <a:lstStyle/>
          <a:p>
            <a:pPr algn="ct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p:cTn id="8" dur="600" fill="hold"/>
                                        <p:tgtEl>
                                          <p:spTgt spid="4"/>
                                        </p:tgtEl>
                                        <p:attrNameLst>
                                          <p:attrName>ppt_x</p:attrName>
                                        </p:attrNameLst>
                                      </p:cBhvr>
                                      <p:tavLst>
                                        <p:tav tm="0">
                                          <p:val>
                                            <p:strVal val="#ppt_x"/>
                                          </p:val>
                                        </p:tav>
                                        <p:tav tm="100000">
                                          <p:val>
                                            <p:strVal val="#ppt_x"/>
                                          </p:val>
                                        </p:tav>
                                      </p:tavLst>
                                    </p:anim>
                                    <p:anim calcmode="lin" valueType="num">
                                      <p:cBhvr>
                                        <p:cTn id="9" dur="6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ML Signals">
  <a:themeElements>
    <a:clrScheme name="ML Signals Dark">
      <a:dk1>
        <a:srgbClr val="0A0E14"/>
      </a:dk1>
      <a:lt1>
        <a:srgbClr val="EAF0F6"/>
      </a:lt1>
      <a:dk2>
        <a:srgbClr val="111823"/>
      </a:dk2>
      <a:lt2>
        <a:srgbClr val="AAB6C3"/>
      </a:lt2>
      <a:accent1>
        <a:srgbClr val="FFB547"/>
      </a:accent1>
      <a:accent2>
        <a:srgbClr val="4CC9F0"/>
      </a:accent2>
      <a:accent3>
        <a:srgbClr val="A78BFA"/>
      </a:accent3>
      <a:accent4>
        <a:srgbClr val="3DDBB4"/>
      </a:accent4>
      <a:accent5>
        <a:srgbClr val="FF6B6B"/>
      </a:accent5>
      <a:accent6>
        <a:srgbClr val="6E7D8C"/>
      </a:accent6>
      <a:hlink>
        <a:srgbClr val="4CC9F0"/>
      </a:hlink>
      <a:folHlink>
        <a:srgbClr val="A78BFA"/>
      </a:folHlink>
    </a:clrScheme>
    <a:fontScheme name="ML Signals">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5339</Words>
  <Application>Microsoft Office PowerPoint</Application>
  <PresentationFormat>Widescreen</PresentationFormat>
  <Paragraphs>477</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Segoe UI Light</vt:lpstr>
      <vt:lpstr>Consolas</vt:lpstr>
      <vt:lpstr>Segoe UI</vt:lpstr>
      <vt:lpstr>Arial</vt:lpstr>
      <vt:lpstr>Cambria</vt:lpstr>
      <vt:lpstr>Segoe UI Semibold</vt:lpstr>
      <vt:lpstr>ML Signals</vt:lpstr>
      <vt:lpstr>Machine-Learning Trading Signals</vt:lpstr>
      <vt:lpstr>Can a model learn when to be in the market?</vt:lpstr>
      <vt:lpstr>Four easy ways to fool yourself in a backtest</vt:lpstr>
      <vt:lpstr>Small evaluation choices flip the conclusion</vt:lpstr>
      <vt:lpstr>What we set out to do</vt:lpstr>
      <vt:lpstr>A leakage-safe, cost-aware comparison framework</vt:lpstr>
      <vt:lpstr>System architecture: from raw prices to decisions</vt:lpstr>
      <vt:lpstr>Built on the open-source Python stack</vt:lpstr>
      <vt:lpstr>Time only flows forward: chronological splits</vt:lpstr>
      <vt:lpstr>Walk-forward: retrain every year, trade the next</vt:lpstr>
      <vt:lpstr>42 point-in-time features, one executable target</vt:lpstr>
      <vt:lpstr>Five model families, tuned without peeking</vt:lpstr>
      <vt:lpstr>From probability to position, net of costs</vt:lpstr>
      <vt:lpstr>Engineered like research software</vt:lpstr>
      <vt:lpstr>The working system: an interactive dashboard</vt:lpstr>
      <vt:lpstr>Retrain live, with ten more months of data</vt:lpstr>
      <vt:lpstr>Accuracy: none reliably beat 'always predict Up'</vt:lpstr>
      <vt:lpstr>Trading: none of the 15 reliably beat buy-and-hold</vt:lpstr>
      <vt:lpstr>Walk-forward and robustness checks agree</vt:lpstr>
      <vt:lpstr>Challenges we handled, limitations we report</vt:lpstr>
      <vt:lpstr>Where this goes next</vt:lpstr>
      <vt:lpstr>What we can claim</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Machine-Learning Trading Signals: A Comparative Study Against Technical Baseline Strategies</dc:title>
  <dc:subject>B.Tech CSE (AI &amp; ML) mini-project presentation, Manipal Institute of Technology</dc:subject>
  <dc:creator>Ishan Singh; Kenneth Martin</dc:creator>
  <cp:keywords>machine learning; algorithmic trading; backtesting; XGBoost; LSTM</cp:keywords>
  <dc:description>Built by presentation/scripts (build_deck.py, apply_motion.py).</dc:description>
  <cp:lastModifiedBy>Ishan Singh; Kenneth Martin</cp:lastModifiedBy>
  <cp:revision>2</cp:revision>
  <dcterms:created xsi:type="dcterms:W3CDTF">2013-01-27T09:14:16Z</dcterms:created>
  <dcterms:modified xsi:type="dcterms:W3CDTF">2026-10-24T13:03:22Z</dcterms:modified>
  <cp:category/>
</cp:coreProperties>
</file>